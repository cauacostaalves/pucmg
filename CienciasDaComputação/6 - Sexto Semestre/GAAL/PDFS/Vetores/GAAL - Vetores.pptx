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23" r:id="rId3"/>
    <p:sldId id="324" r:id="rId4"/>
    <p:sldId id="349" r:id="rId5"/>
    <p:sldId id="348" r:id="rId6"/>
    <p:sldId id="313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8" r:id="rId15"/>
    <p:sldId id="369" r:id="rId16"/>
    <p:sldId id="363" r:id="rId17"/>
    <p:sldId id="361" r:id="rId18"/>
    <p:sldId id="359" r:id="rId19"/>
    <p:sldId id="362" r:id="rId20"/>
    <p:sldId id="364" r:id="rId21"/>
    <p:sldId id="365" r:id="rId22"/>
    <p:sldId id="366" r:id="rId23"/>
    <p:sldId id="367" r:id="rId24"/>
    <p:sldId id="368" r:id="rId25"/>
    <p:sldId id="370" r:id="rId26"/>
    <p:sldId id="319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65"/>
    <a:srgbClr val="FFFFFF"/>
    <a:srgbClr val="227ACB"/>
    <a:srgbClr val="CCC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56" autoAdjust="0"/>
    <p:restoredTop sz="94660"/>
  </p:normalViewPr>
  <p:slideViewPr>
    <p:cSldViewPr snapToGrid="0">
      <p:cViewPr varScale="1">
        <p:scale>
          <a:sx n="82" d="100"/>
          <a:sy n="82" d="100"/>
        </p:scale>
        <p:origin x="6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4300-70F3-495F-834E-B999285625AB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4B589-DADF-48FF-B7A0-B36B04D92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384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4300-70F3-495F-834E-B999285625AB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4B589-DADF-48FF-B7A0-B36B04D92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11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4300-70F3-495F-834E-B999285625AB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4B589-DADF-48FF-B7A0-B36B04D92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741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4300-70F3-495F-834E-B999285625AB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4B589-DADF-48FF-B7A0-B36B04D92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0354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4300-70F3-495F-834E-B999285625AB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4B589-DADF-48FF-B7A0-B36B04D92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05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4300-70F3-495F-834E-B999285625AB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4B589-DADF-48FF-B7A0-B36B04D92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72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4300-70F3-495F-834E-B999285625AB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4B589-DADF-48FF-B7A0-B36B04D92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978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4300-70F3-495F-834E-B999285625AB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4B589-DADF-48FF-B7A0-B36B04D92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905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4300-70F3-495F-834E-B999285625AB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4B589-DADF-48FF-B7A0-B36B04D92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667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4300-70F3-495F-834E-B999285625AB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4B589-DADF-48FF-B7A0-B36B04D92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03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4300-70F3-495F-834E-B999285625AB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4B589-DADF-48FF-B7A0-B36B04D92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59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84300-70F3-495F-834E-B999285625AB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4B589-DADF-48FF-B7A0-B36B04D927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386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.emf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3.jpe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.emf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3.jpeg"/><Relationship Id="rId7" Type="http://schemas.openxmlformats.org/officeDocument/2006/relationships/image" Target="../media/image22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11" Type="http://schemas.openxmlformats.org/officeDocument/2006/relationships/image" Target="../media/image37.png"/><Relationship Id="rId5" Type="http://schemas.openxmlformats.org/officeDocument/2006/relationships/image" Target="../media/image1.emf"/><Relationship Id="rId10" Type="http://schemas.openxmlformats.org/officeDocument/2006/relationships/image" Target="../media/image36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370.png"/><Relationship Id="rId12" Type="http://schemas.openxmlformats.org/officeDocument/2006/relationships/image" Target="../media/image4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0.png"/><Relationship Id="rId11" Type="http://schemas.openxmlformats.org/officeDocument/2006/relationships/image" Target="../media/image40.png"/><Relationship Id="rId5" Type="http://schemas.openxmlformats.org/officeDocument/2006/relationships/image" Target="../media/image350.png"/><Relationship Id="rId10" Type="http://schemas.openxmlformats.org/officeDocument/2006/relationships/image" Target="../media/image39.png"/><Relationship Id="rId4" Type="http://schemas.openxmlformats.org/officeDocument/2006/relationships/image" Target="../media/image1.emf"/><Relationship Id="rId9" Type="http://schemas.openxmlformats.org/officeDocument/2006/relationships/image" Target="../media/image38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1.emf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541.png"/><Relationship Id="rId18" Type="http://schemas.openxmlformats.org/officeDocument/2006/relationships/image" Target="../media/image60.png"/><Relationship Id="rId26" Type="http://schemas.openxmlformats.org/officeDocument/2006/relationships/image" Target="../media/image68.png"/><Relationship Id="rId3" Type="http://schemas.openxmlformats.org/officeDocument/2006/relationships/image" Target="../media/image52.png"/><Relationship Id="rId21" Type="http://schemas.openxmlformats.org/officeDocument/2006/relationships/image" Target="../media/image63.png"/><Relationship Id="rId7" Type="http://schemas.openxmlformats.org/officeDocument/2006/relationships/image" Target="../media/image3.jpeg"/><Relationship Id="rId12" Type="http://schemas.openxmlformats.org/officeDocument/2006/relationships/image" Target="../media/image531.png"/><Relationship Id="rId17" Type="http://schemas.openxmlformats.org/officeDocument/2006/relationships/image" Target="../media/image59.png"/><Relationship Id="rId25" Type="http://schemas.openxmlformats.org/officeDocument/2006/relationships/image" Target="../media/image67.png"/><Relationship Id="rId2" Type="http://schemas.openxmlformats.org/officeDocument/2006/relationships/image" Target="../media/image51.png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11" Type="http://schemas.openxmlformats.org/officeDocument/2006/relationships/image" Target="../media/image521.png"/><Relationship Id="rId24" Type="http://schemas.openxmlformats.org/officeDocument/2006/relationships/image" Target="../media/image66.png"/><Relationship Id="rId5" Type="http://schemas.openxmlformats.org/officeDocument/2006/relationships/image" Target="../media/image54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10" Type="http://schemas.openxmlformats.org/officeDocument/2006/relationships/image" Target="../media/image510.png"/><Relationship Id="rId19" Type="http://schemas.openxmlformats.org/officeDocument/2006/relationships/image" Target="../media/image61.png"/><Relationship Id="rId4" Type="http://schemas.openxmlformats.org/officeDocument/2006/relationships/image" Target="../media/image53.png"/><Relationship Id="rId9" Type="http://schemas.openxmlformats.org/officeDocument/2006/relationships/image" Target="../media/image1.emf"/><Relationship Id="rId14" Type="http://schemas.openxmlformats.org/officeDocument/2006/relationships/image" Target="../media/image56.png"/><Relationship Id="rId22" Type="http://schemas.openxmlformats.org/officeDocument/2006/relationships/image" Target="../media/image64.png"/><Relationship Id="rId27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13" Type="http://schemas.openxmlformats.org/officeDocument/2006/relationships/image" Target="../media/image78.png"/><Relationship Id="rId3" Type="http://schemas.openxmlformats.org/officeDocument/2006/relationships/image" Target="../media/image71.png"/><Relationship Id="rId7" Type="http://schemas.openxmlformats.org/officeDocument/2006/relationships/oleObject" Target="../embeddings/oleObject1.bin"/><Relationship Id="rId12" Type="http://schemas.openxmlformats.org/officeDocument/2006/relationships/image" Target="../media/image7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jpeg"/><Relationship Id="rId11" Type="http://schemas.openxmlformats.org/officeDocument/2006/relationships/image" Target="../media/image76.png"/><Relationship Id="rId5" Type="http://schemas.openxmlformats.org/officeDocument/2006/relationships/image" Target="../media/image73.png"/><Relationship Id="rId15" Type="http://schemas.openxmlformats.org/officeDocument/2006/relationships/image" Target="../media/image12.png"/><Relationship Id="rId10" Type="http://schemas.openxmlformats.org/officeDocument/2006/relationships/image" Target="../media/image75.png"/><Relationship Id="rId4" Type="http://schemas.openxmlformats.org/officeDocument/2006/relationships/image" Target="../media/image72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3.jpe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1.emf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3" Type="http://schemas.openxmlformats.org/officeDocument/2006/relationships/image" Target="../media/image94.png"/><Relationship Id="rId21" Type="http://schemas.openxmlformats.org/officeDocument/2006/relationships/image" Target="../media/image109.png"/><Relationship Id="rId7" Type="http://schemas.openxmlformats.org/officeDocument/2006/relationships/image" Target="../media/image1.emf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image" Target="../media/image93.png"/><Relationship Id="rId16" Type="http://schemas.openxmlformats.org/officeDocument/2006/relationships/image" Target="../media/image104.pn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99.png"/><Relationship Id="rId24" Type="http://schemas.openxmlformats.org/officeDocument/2006/relationships/image" Target="../media/image112.png"/><Relationship Id="rId5" Type="http://schemas.openxmlformats.org/officeDocument/2006/relationships/image" Target="../media/image3.jpeg"/><Relationship Id="rId15" Type="http://schemas.openxmlformats.org/officeDocument/2006/relationships/image" Target="../media/image103.png"/><Relationship Id="rId23" Type="http://schemas.openxmlformats.org/officeDocument/2006/relationships/image" Target="../media/image111.png"/><Relationship Id="rId10" Type="http://schemas.openxmlformats.org/officeDocument/2006/relationships/image" Target="../media/image98.png"/><Relationship Id="rId19" Type="http://schemas.openxmlformats.org/officeDocument/2006/relationships/image" Target="../media/image107.png"/><Relationship Id="rId4" Type="http://schemas.openxmlformats.org/officeDocument/2006/relationships/image" Target="../media/image95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" Type="http://schemas.openxmlformats.org/officeDocument/2006/relationships/image" Target="../media/image3.jpeg"/><Relationship Id="rId16" Type="http://schemas.openxmlformats.org/officeDocument/2006/relationships/image" Target="../media/image1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4" Type="http://schemas.openxmlformats.org/officeDocument/2006/relationships/image" Target="../media/image1.emf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26" Type="http://schemas.openxmlformats.org/officeDocument/2006/relationships/image" Target="../media/image147.png"/><Relationship Id="rId3" Type="http://schemas.openxmlformats.org/officeDocument/2006/relationships/image" Target="../media/image3.jpeg"/><Relationship Id="rId21" Type="http://schemas.openxmlformats.org/officeDocument/2006/relationships/image" Target="../media/image142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5" Type="http://schemas.openxmlformats.org/officeDocument/2006/relationships/image" Target="../media/image146.png"/><Relationship Id="rId2" Type="http://schemas.openxmlformats.org/officeDocument/2006/relationships/image" Target="../media/image126.png"/><Relationship Id="rId16" Type="http://schemas.openxmlformats.org/officeDocument/2006/relationships/image" Target="../media/image137.png"/><Relationship Id="rId20" Type="http://schemas.openxmlformats.org/officeDocument/2006/relationships/image" Target="../media/image1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24" Type="http://schemas.openxmlformats.org/officeDocument/2006/relationships/image" Target="../media/image145.png"/><Relationship Id="rId5" Type="http://schemas.openxmlformats.org/officeDocument/2006/relationships/image" Target="../media/image1.emf"/><Relationship Id="rId15" Type="http://schemas.openxmlformats.org/officeDocument/2006/relationships/image" Target="../media/image136.png"/><Relationship Id="rId23" Type="http://schemas.openxmlformats.org/officeDocument/2006/relationships/image" Target="../media/image144.png"/><Relationship Id="rId10" Type="http://schemas.openxmlformats.org/officeDocument/2006/relationships/image" Target="../media/image131.png"/><Relationship Id="rId19" Type="http://schemas.openxmlformats.org/officeDocument/2006/relationships/image" Target="../media/image140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0.png"/><Relationship Id="rId14" Type="http://schemas.openxmlformats.org/officeDocument/2006/relationships/image" Target="../media/image135.png"/><Relationship Id="rId22" Type="http://schemas.openxmlformats.org/officeDocument/2006/relationships/image" Target="../media/image143.png"/><Relationship Id="rId27" Type="http://schemas.openxmlformats.org/officeDocument/2006/relationships/image" Target="../media/image148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6.png"/><Relationship Id="rId18" Type="http://schemas.openxmlformats.org/officeDocument/2006/relationships/image" Target="../media/image161.png"/><Relationship Id="rId26" Type="http://schemas.openxmlformats.org/officeDocument/2006/relationships/image" Target="../media/image169.png"/><Relationship Id="rId3" Type="http://schemas.openxmlformats.org/officeDocument/2006/relationships/image" Target="../media/image150.png"/><Relationship Id="rId21" Type="http://schemas.openxmlformats.org/officeDocument/2006/relationships/image" Target="../media/image164.png"/><Relationship Id="rId34" Type="http://schemas.openxmlformats.org/officeDocument/2006/relationships/image" Target="../media/image177.png"/><Relationship Id="rId7" Type="http://schemas.openxmlformats.org/officeDocument/2006/relationships/image" Target="../media/image151.png"/><Relationship Id="rId12" Type="http://schemas.openxmlformats.org/officeDocument/2006/relationships/image" Target="../media/image155.png"/><Relationship Id="rId17" Type="http://schemas.openxmlformats.org/officeDocument/2006/relationships/image" Target="../media/image160.png"/><Relationship Id="rId25" Type="http://schemas.openxmlformats.org/officeDocument/2006/relationships/image" Target="../media/image168.png"/><Relationship Id="rId33" Type="http://schemas.openxmlformats.org/officeDocument/2006/relationships/image" Target="../media/image176.png"/><Relationship Id="rId2" Type="http://schemas.openxmlformats.org/officeDocument/2006/relationships/image" Target="../media/image149.png"/><Relationship Id="rId16" Type="http://schemas.openxmlformats.org/officeDocument/2006/relationships/image" Target="../media/image159.png"/><Relationship Id="rId20" Type="http://schemas.openxmlformats.org/officeDocument/2006/relationships/image" Target="../media/image163.png"/><Relationship Id="rId29" Type="http://schemas.openxmlformats.org/officeDocument/2006/relationships/image" Target="../media/image17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emf"/><Relationship Id="rId11" Type="http://schemas.openxmlformats.org/officeDocument/2006/relationships/image" Target="../media/image154.png"/><Relationship Id="rId24" Type="http://schemas.openxmlformats.org/officeDocument/2006/relationships/image" Target="../media/image167.png"/><Relationship Id="rId32" Type="http://schemas.openxmlformats.org/officeDocument/2006/relationships/image" Target="../media/image175.png"/><Relationship Id="rId5" Type="http://schemas.openxmlformats.org/officeDocument/2006/relationships/oleObject" Target="../embeddings/oleObject1.bin"/><Relationship Id="rId15" Type="http://schemas.openxmlformats.org/officeDocument/2006/relationships/image" Target="../media/image158.png"/><Relationship Id="rId23" Type="http://schemas.openxmlformats.org/officeDocument/2006/relationships/image" Target="../media/image166.png"/><Relationship Id="rId28" Type="http://schemas.openxmlformats.org/officeDocument/2006/relationships/image" Target="../media/image171.png"/><Relationship Id="rId10" Type="http://schemas.openxmlformats.org/officeDocument/2006/relationships/image" Target="../media/image153.png"/><Relationship Id="rId19" Type="http://schemas.openxmlformats.org/officeDocument/2006/relationships/image" Target="../media/image162.png"/><Relationship Id="rId31" Type="http://schemas.openxmlformats.org/officeDocument/2006/relationships/image" Target="../media/image174.png"/><Relationship Id="rId4" Type="http://schemas.openxmlformats.org/officeDocument/2006/relationships/image" Target="../media/image3.jpe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Relationship Id="rId22" Type="http://schemas.openxmlformats.org/officeDocument/2006/relationships/image" Target="../media/image165.png"/><Relationship Id="rId27" Type="http://schemas.openxmlformats.org/officeDocument/2006/relationships/image" Target="../media/image170.png"/><Relationship Id="rId30" Type="http://schemas.openxmlformats.org/officeDocument/2006/relationships/image" Target="../media/image173.png"/><Relationship Id="rId8" Type="http://schemas.openxmlformats.org/officeDocument/2006/relationships/image" Target="../media/image15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8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.emf"/><Relationship Id="rId9" Type="http://schemas.openxmlformats.org/officeDocument/2006/relationships/image" Target="../media/image18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0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8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0.png"/><Relationship Id="rId3" Type="http://schemas.openxmlformats.org/officeDocument/2006/relationships/slide" Target="slide4.xml"/><Relationship Id="rId7" Type="http://schemas.openxmlformats.org/officeDocument/2006/relationships/image" Target="../media/image1.emf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jpeg"/><Relationship Id="rId4" Type="http://schemas.openxmlformats.org/officeDocument/2006/relationships/image" Target="../media/image178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0.png"/><Relationship Id="rId13" Type="http://schemas.openxmlformats.org/officeDocument/2006/relationships/image" Target="../media/image1880.png"/><Relationship Id="rId18" Type="http://schemas.openxmlformats.org/officeDocument/2006/relationships/image" Target="../media/image195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96.png"/><Relationship Id="rId7" Type="http://schemas.openxmlformats.org/officeDocument/2006/relationships/image" Target="../media/image1820.png"/><Relationship Id="rId12" Type="http://schemas.openxmlformats.org/officeDocument/2006/relationships/image" Target="../media/image192.png"/><Relationship Id="rId17" Type="http://schemas.openxmlformats.org/officeDocument/2006/relationships/image" Target="../media/image194.png"/><Relationship Id="rId2" Type="http://schemas.openxmlformats.org/officeDocument/2006/relationships/image" Target="../media/image3.jpeg"/><Relationship Id="rId16" Type="http://schemas.openxmlformats.org/officeDocument/2006/relationships/image" Target="../media/image193.png"/><Relationship Id="rId20" Type="http://schemas.openxmlformats.org/officeDocument/2006/relationships/image" Target="../media/image19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8.png"/><Relationship Id="rId11" Type="http://schemas.openxmlformats.org/officeDocument/2006/relationships/image" Target="../media/image191.png"/><Relationship Id="rId5" Type="http://schemas.openxmlformats.org/officeDocument/2006/relationships/image" Target="../media/image187.png"/><Relationship Id="rId15" Type="http://schemas.openxmlformats.org/officeDocument/2006/relationships/image" Target="../media/image1900.png"/><Relationship Id="rId10" Type="http://schemas.openxmlformats.org/officeDocument/2006/relationships/image" Target="../media/image190.png"/><Relationship Id="rId19" Type="http://schemas.openxmlformats.org/officeDocument/2006/relationships/image" Target="../media/image1940.png"/><Relationship Id="rId4" Type="http://schemas.openxmlformats.org/officeDocument/2006/relationships/image" Target="../media/image1.emf"/><Relationship Id="rId9" Type="http://schemas.openxmlformats.org/officeDocument/2006/relationships/image" Target="../media/image189.png"/><Relationship Id="rId14" Type="http://schemas.openxmlformats.org/officeDocument/2006/relationships/image" Target="../media/image1890.png"/><Relationship Id="rId22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0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99.png"/><Relationship Id="rId12" Type="http://schemas.openxmlformats.org/officeDocument/2006/relationships/image" Target="../media/image20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8.png"/><Relationship Id="rId11" Type="http://schemas.openxmlformats.org/officeDocument/2006/relationships/image" Target="../media/image203.png"/><Relationship Id="rId5" Type="http://schemas.openxmlformats.org/officeDocument/2006/relationships/image" Target="../media/image197.png"/><Relationship Id="rId10" Type="http://schemas.openxmlformats.org/officeDocument/2006/relationships/image" Target="../media/image202.png"/><Relationship Id="rId4" Type="http://schemas.openxmlformats.org/officeDocument/2006/relationships/image" Target="../media/image1.emf"/><Relationship Id="rId9" Type="http://schemas.openxmlformats.org/officeDocument/2006/relationships/image" Target="../media/image20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20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7.png"/><Relationship Id="rId5" Type="http://schemas.openxmlformats.org/officeDocument/2006/relationships/image" Target="../media/image206.png"/><Relationship Id="rId4" Type="http://schemas.openxmlformats.org/officeDocument/2006/relationships/image" Target="../media/image1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2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0.png"/><Relationship Id="rId5" Type="http://schemas.openxmlformats.org/officeDocument/2006/relationships/image" Target="../media/image214.png"/><Relationship Id="rId4" Type="http://schemas.openxmlformats.org/officeDocument/2006/relationships/image" Target="../media/image1.emf"/><Relationship Id="rId9" Type="http://schemas.openxmlformats.org/officeDocument/2006/relationships/image" Target="../media/image21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4.png"/><Relationship Id="rId18" Type="http://schemas.openxmlformats.org/officeDocument/2006/relationships/image" Target="../media/image229.png"/><Relationship Id="rId26" Type="http://schemas.openxmlformats.org/officeDocument/2006/relationships/image" Target="../media/image238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233.png"/><Relationship Id="rId7" Type="http://schemas.openxmlformats.org/officeDocument/2006/relationships/image" Target="../media/image217.png"/><Relationship Id="rId12" Type="http://schemas.openxmlformats.org/officeDocument/2006/relationships/image" Target="../media/image223.png"/><Relationship Id="rId17" Type="http://schemas.openxmlformats.org/officeDocument/2006/relationships/image" Target="../media/image228.png"/><Relationship Id="rId25" Type="http://schemas.openxmlformats.org/officeDocument/2006/relationships/image" Target="../media/image237.png"/><Relationship Id="rId2" Type="http://schemas.openxmlformats.org/officeDocument/2006/relationships/image" Target="../media/image3.jpeg"/><Relationship Id="rId16" Type="http://schemas.openxmlformats.org/officeDocument/2006/relationships/image" Target="../media/image227.png"/><Relationship Id="rId20" Type="http://schemas.openxmlformats.org/officeDocument/2006/relationships/image" Target="../media/image2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6.png"/><Relationship Id="rId11" Type="http://schemas.openxmlformats.org/officeDocument/2006/relationships/image" Target="../media/image222.png"/><Relationship Id="rId24" Type="http://schemas.openxmlformats.org/officeDocument/2006/relationships/image" Target="../media/image236.png"/><Relationship Id="rId5" Type="http://schemas.openxmlformats.org/officeDocument/2006/relationships/image" Target="../media/image215.png"/><Relationship Id="rId15" Type="http://schemas.openxmlformats.org/officeDocument/2006/relationships/image" Target="../media/image226.png"/><Relationship Id="rId23" Type="http://schemas.openxmlformats.org/officeDocument/2006/relationships/image" Target="../media/image235.png"/><Relationship Id="rId10" Type="http://schemas.openxmlformats.org/officeDocument/2006/relationships/image" Target="../media/image220.png"/><Relationship Id="rId19" Type="http://schemas.openxmlformats.org/officeDocument/2006/relationships/image" Target="../media/image230.png"/><Relationship Id="rId4" Type="http://schemas.openxmlformats.org/officeDocument/2006/relationships/image" Target="../media/image1.emf"/><Relationship Id="rId9" Type="http://schemas.openxmlformats.org/officeDocument/2006/relationships/image" Target="../media/image219.png"/><Relationship Id="rId14" Type="http://schemas.openxmlformats.org/officeDocument/2006/relationships/image" Target="../media/image225.png"/><Relationship Id="rId22" Type="http://schemas.openxmlformats.org/officeDocument/2006/relationships/image" Target="../media/image234.png"/><Relationship Id="rId27" Type="http://schemas.openxmlformats.org/officeDocument/2006/relationships/image" Target="../media/image2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245.png"/><Relationship Id="rId18" Type="http://schemas.openxmlformats.org/officeDocument/2006/relationships/image" Target="../media/image248.png"/><Relationship Id="rId26" Type="http://schemas.openxmlformats.org/officeDocument/2006/relationships/image" Target="../media/image2410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250.png"/><Relationship Id="rId7" Type="http://schemas.openxmlformats.org/officeDocument/2006/relationships/image" Target="../media/image2200.png"/><Relationship Id="rId12" Type="http://schemas.openxmlformats.org/officeDocument/2006/relationships/image" Target="../media/image244.png"/><Relationship Id="rId17" Type="http://schemas.openxmlformats.org/officeDocument/2006/relationships/image" Target="../media/image2320.png"/><Relationship Id="rId25" Type="http://schemas.openxmlformats.org/officeDocument/2006/relationships/image" Target="../media/image2400.png"/><Relationship Id="rId2" Type="http://schemas.openxmlformats.org/officeDocument/2006/relationships/image" Target="../media/image3.jpeg"/><Relationship Id="rId16" Type="http://schemas.openxmlformats.org/officeDocument/2006/relationships/image" Target="../media/image247.png"/><Relationship Id="rId20" Type="http://schemas.openxmlformats.org/officeDocument/2006/relationships/image" Target="../media/image2350.png"/><Relationship Id="rId29" Type="http://schemas.openxmlformats.org/officeDocument/2006/relationships/image" Target="../media/image24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90.png"/><Relationship Id="rId11" Type="http://schemas.openxmlformats.org/officeDocument/2006/relationships/image" Target="../media/image243.png"/><Relationship Id="rId24" Type="http://schemas.openxmlformats.org/officeDocument/2006/relationships/image" Target="../media/image251.png"/><Relationship Id="rId5" Type="http://schemas.openxmlformats.org/officeDocument/2006/relationships/image" Target="../media/image2180.png"/><Relationship Id="rId15" Type="http://schemas.openxmlformats.org/officeDocument/2006/relationships/image" Target="../media/image2290.png"/><Relationship Id="rId23" Type="http://schemas.openxmlformats.org/officeDocument/2006/relationships/image" Target="../media/image2380.png"/><Relationship Id="rId28" Type="http://schemas.openxmlformats.org/officeDocument/2006/relationships/image" Target="../media/image2430.png"/><Relationship Id="rId10" Type="http://schemas.openxmlformats.org/officeDocument/2006/relationships/image" Target="../media/image242.png"/><Relationship Id="rId19" Type="http://schemas.openxmlformats.org/officeDocument/2006/relationships/image" Target="../media/image249.png"/><Relationship Id="rId31" Type="http://schemas.openxmlformats.org/officeDocument/2006/relationships/image" Target="../media/image2460.png"/><Relationship Id="rId4" Type="http://schemas.openxmlformats.org/officeDocument/2006/relationships/image" Target="../media/image1.emf"/><Relationship Id="rId9" Type="http://schemas.openxmlformats.org/officeDocument/2006/relationships/image" Target="../media/image241.png"/><Relationship Id="rId14" Type="http://schemas.openxmlformats.org/officeDocument/2006/relationships/image" Target="../media/image246.png"/><Relationship Id="rId22" Type="http://schemas.openxmlformats.org/officeDocument/2006/relationships/image" Target="../media/image2370.png"/><Relationship Id="rId27" Type="http://schemas.openxmlformats.org/officeDocument/2006/relationships/image" Target="../media/image252.png"/><Relationship Id="rId30" Type="http://schemas.openxmlformats.org/officeDocument/2006/relationships/image" Target="../media/image24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0.png"/><Relationship Id="rId13" Type="http://schemas.openxmlformats.org/officeDocument/2006/relationships/image" Target="../media/image255.png"/><Relationship Id="rId18" Type="http://schemas.openxmlformats.org/officeDocument/2006/relationships/image" Target="../media/image260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263.png"/><Relationship Id="rId7" Type="http://schemas.openxmlformats.org/officeDocument/2006/relationships/image" Target="../media/image2490.png"/><Relationship Id="rId12" Type="http://schemas.openxmlformats.org/officeDocument/2006/relationships/image" Target="../media/image254.png"/><Relationship Id="rId17" Type="http://schemas.openxmlformats.org/officeDocument/2006/relationships/image" Target="../media/image259.png"/><Relationship Id="rId25" Type="http://schemas.openxmlformats.org/officeDocument/2006/relationships/image" Target="../media/image267.png"/><Relationship Id="rId2" Type="http://schemas.openxmlformats.org/officeDocument/2006/relationships/image" Target="../media/image3.jpeg"/><Relationship Id="rId16" Type="http://schemas.openxmlformats.org/officeDocument/2006/relationships/image" Target="../media/image258.png"/><Relationship Id="rId20" Type="http://schemas.openxmlformats.org/officeDocument/2006/relationships/image" Target="../media/image2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80.png"/><Relationship Id="rId11" Type="http://schemas.openxmlformats.org/officeDocument/2006/relationships/image" Target="../media/image253.png"/><Relationship Id="rId24" Type="http://schemas.openxmlformats.org/officeDocument/2006/relationships/image" Target="../media/image266.png"/><Relationship Id="rId5" Type="http://schemas.openxmlformats.org/officeDocument/2006/relationships/image" Target="../media/image2470.png"/><Relationship Id="rId15" Type="http://schemas.openxmlformats.org/officeDocument/2006/relationships/image" Target="../media/image257.png"/><Relationship Id="rId23" Type="http://schemas.openxmlformats.org/officeDocument/2006/relationships/image" Target="../media/image265.png"/><Relationship Id="rId10" Type="http://schemas.openxmlformats.org/officeDocument/2006/relationships/image" Target="../media/image2520.png"/><Relationship Id="rId19" Type="http://schemas.openxmlformats.org/officeDocument/2006/relationships/image" Target="../media/image261.png"/><Relationship Id="rId4" Type="http://schemas.openxmlformats.org/officeDocument/2006/relationships/image" Target="../media/image1.emf"/><Relationship Id="rId9" Type="http://schemas.openxmlformats.org/officeDocument/2006/relationships/image" Target="../media/image2510.png"/><Relationship Id="rId14" Type="http://schemas.openxmlformats.org/officeDocument/2006/relationships/image" Target="../media/image256.png"/><Relationship Id="rId22" Type="http://schemas.openxmlformats.org/officeDocument/2006/relationships/image" Target="../media/image26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13" Type="http://schemas.openxmlformats.org/officeDocument/2006/relationships/image" Target="../media/image276.png"/><Relationship Id="rId18" Type="http://schemas.openxmlformats.org/officeDocument/2006/relationships/image" Target="../media/image281.png"/><Relationship Id="rId26" Type="http://schemas.openxmlformats.org/officeDocument/2006/relationships/image" Target="../media/image289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284.png"/><Relationship Id="rId7" Type="http://schemas.openxmlformats.org/officeDocument/2006/relationships/image" Target="../media/image270.png"/><Relationship Id="rId12" Type="http://schemas.openxmlformats.org/officeDocument/2006/relationships/image" Target="../media/image275.png"/><Relationship Id="rId17" Type="http://schemas.openxmlformats.org/officeDocument/2006/relationships/image" Target="../media/image280.png"/><Relationship Id="rId25" Type="http://schemas.openxmlformats.org/officeDocument/2006/relationships/image" Target="../media/image288.png"/><Relationship Id="rId2" Type="http://schemas.openxmlformats.org/officeDocument/2006/relationships/image" Target="../media/image3.jpeg"/><Relationship Id="rId16" Type="http://schemas.openxmlformats.org/officeDocument/2006/relationships/image" Target="../media/image279.png"/><Relationship Id="rId20" Type="http://schemas.openxmlformats.org/officeDocument/2006/relationships/image" Target="../media/image28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9.png"/><Relationship Id="rId11" Type="http://schemas.openxmlformats.org/officeDocument/2006/relationships/image" Target="../media/image274.png"/><Relationship Id="rId24" Type="http://schemas.openxmlformats.org/officeDocument/2006/relationships/image" Target="../media/image287.png"/><Relationship Id="rId5" Type="http://schemas.openxmlformats.org/officeDocument/2006/relationships/image" Target="../media/image268.png"/><Relationship Id="rId15" Type="http://schemas.openxmlformats.org/officeDocument/2006/relationships/image" Target="../media/image278.png"/><Relationship Id="rId23" Type="http://schemas.openxmlformats.org/officeDocument/2006/relationships/image" Target="../media/image286.png"/><Relationship Id="rId10" Type="http://schemas.openxmlformats.org/officeDocument/2006/relationships/image" Target="../media/image273.png"/><Relationship Id="rId19" Type="http://schemas.openxmlformats.org/officeDocument/2006/relationships/image" Target="../media/image282.png"/><Relationship Id="rId4" Type="http://schemas.openxmlformats.org/officeDocument/2006/relationships/image" Target="../media/image1.emf"/><Relationship Id="rId9" Type="http://schemas.openxmlformats.org/officeDocument/2006/relationships/image" Target="../media/image272.png"/><Relationship Id="rId14" Type="http://schemas.openxmlformats.org/officeDocument/2006/relationships/image" Target="../media/image277.png"/><Relationship Id="rId22" Type="http://schemas.openxmlformats.org/officeDocument/2006/relationships/image" Target="../media/image28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700349" y="242167"/>
            <a:ext cx="879130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400" b="1" cap="none" spc="50" dirty="0">
                <a:ln w="9525" cmpd="sng">
                  <a:solidFill>
                    <a:srgbClr val="FF0000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Geometria analítica e Álgebra linear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90175C3-7D04-41FC-A4C2-DDA536284628}"/>
              </a:ext>
            </a:extLst>
          </p:cNvPr>
          <p:cNvSpPr/>
          <p:nvPr/>
        </p:nvSpPr>
        <p:spPr>
          <a:xfrm>
            <a:off x="8355621" y="863038"/>
            <a:ext cx="3624138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2800" b="1" i="1" dirty="0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Júlio Corgozinho  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7753965-2697-C29C-5077-4C8AD4251090}"/>
              </a:ext>
            </a:extLst>
          </p:cNvPr>
          <p:cNvSpPr/>
          <p:nvPr/>
        </p:nvSpPr>
        <p:spPr>
          <a:xfrm>
            <a:off x="1700349" y="5288953"/>
            <a:ext cx="879130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VETORES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A61FE2D7-63C4-35B1-A0E0-93CDDD42A7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700896"/>
              </p:ext>
            </p:extLst>
          </p:nvPr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57562" imgH="316504" progId="Word.Picture.8">
                  <p:embed/>
                </p:oleObj>
              </mc:Choice>
              <mc:Fallback>
                <p:oleObj name="Picture" r:id="rId2" imgW="357562" imgH="316504" progId="Word.Picture.8">
                  <p:embed/>
                  <p:pic>
                    <p:nvPicPr>
                      <p:cNvPr id="35" name="Objeto 34">
                        <a:extLst>
                          <a:ext uri="{FF2B5EF4-FFF2-40B4-BE49-F238E27FC236}">
                            <a16:creationId xmlns:a16="http://schemas.microsoft.com/office/drawing/2014/main" id="{C67CC495-6D65-6CDF-606D-9ECE3ABB6F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8" name="Picture 4" descr="Animações com Vetores">
            <a:extLst>
              <a:ext uri="{FF2B5EF4-FFF2-40B4-BE49-F238E27FC236}">
                <a16:creationId xmlns:a16="http://schemas.microsoft.com/office/drawing/2014/main" id="{315DAD6D-EFA1-9AF3-A9A7-8A49F381B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8"/>
          <a:stretch>
            <a:fillRect/>
          </a:stretch>
        </p:blipFill>
        <p:spPr bwMode="auto">
          <a:xfrm>
            <a:off x="4277710" y="1685795"/>
            <a:ext cx="4631416" cy="330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42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aixaDeTexto 27">
            <a:extLst>
              <a:ext uri="{FF2B5EF4-FFF2-40B4-BE49-F238E27FC236}">
                <a16:creationId xmlns:a16="http://schemas.microsoft.com/office/drawing/2014/main" id="{48893522-6274-1900-E6EB-A7514ADA6965}"/>
              </a:ext>
            </a:extLst>
          </p:cNvPr>
          <p:cNvSpPr txBox="1"/>
          <p:nvPr/>
        </p:nvSpPr>
        <p:spPr>
          <a:xfrm>
            <a:off x="7853181" y="3033271"/>
            <a:ext cx="17310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Indicado por uma Flecha</a:t>
            </a:r>
            <a:endParaRPr lang="pt-BR" sz="12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FDC620-99F3-4E1D-8E77-4CE472075C12}"/>
              </a:ext>
            </a:extLst>
          </p:cNvPr>
          <p:cNvSpPr txBox="1"/>
          <p:nvPr/>
        </p:nvSpPr>
        <p:spPr>
          <a:xfrm>
            <a:off x="550117" y="464956"/>
            <a:ext cx="10857187" cy="2465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VETORES GEOMÉTRICOS.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Uma grandeza é dita </a:t>
            </a:r>
            <a:r>
              <a:rPr lang="pt-BR" sz="2000" b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escalar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quando necessitamos especificar apenas sua magnitude (comprimento) e uma unidade para sua determinação. Como exemplos podemos citar o comprimento, a massa e o tempo. Uma grandeza é dita </a:t>
            </a:r>
            <a:r>
              <a:rPr lang="pt-BR" sz="2000" b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vetorial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quando necessitamos especificar sua </a:t>
            </a:r>
            <a:r>
              <a:rPr lang="pt-BR" sz="20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magnitude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sua </a:t>
            </a:r>
            <a:r>
              <a:rPr lang="pt-BR" sz="20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direção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sentido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atuação e uma unidade para sua determinação. Como exemplos podemos citar a força, </a:t>
            </a:r>
            <a:r>
              <a:rPr lang="pt-BR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velocidade, a aceleração e o torque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651067A-BCD9-3F22-9CCB-9E260C4E0E87}"/>
              </a:ext>
            </a:extLst>
          </p:cNvPr>
          <p:cNvSpPr txBox="1"/>
          <p:nvPr/>
        </p:nvSpPr>
        <p:spPr>
          <a:xfrm>
            <a:off x="7422286" y="2572200"/>
            <a:ext cx="2840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Reta suporte que representa o vetor</a:t>
            </a:r>
            <a:endParaRPr lang="pt-BR" sz="1200" dirty="0"/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9ECB0074-1E1F-91A9-246B-A214586FD74C}"/>
              </a:ext>
            </a:extLst>
          </p:cNvPr>
          <p:cNvCxnSpPr/>
          <p:nvPr/>
        </p:nvCxnSpPr>
        <p:spPr>
          <a:xfrm>
            <a:off x="7345345" y="2833182"/>
            <a:ext cx="2813539" cy="0"/>
          </a:xfrm>
          <a:prstGeom prst="line">
            <a:avLst/>
          </a:prstGeom>
          <a:ln w="952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9408F0C-7190-9B39-5435-6920EE7C1E41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DBE69E0F-22B2-AB4D-13FB-223893199A1D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7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058936D5-15AB-4485-1EB6-8E4A19F4EA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8ACE645F-D682-ACB1-E081-7C84DE669A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700896"/>
              </p:ext>
            </p:extLst>
          </p:nvPr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35" name="Objeto 34">
                        <a:extLst>
                          <a:ext uri="{FF2B5EF4-FFF2-40B4-BE49-F238E27FC236}">
                            <a16:creationId xmlns:a16="http://schemas.microsoft.com/office/drawing/2014/main" id="{C67CC495-6D65-6CDF-606D-9ECE3ABB6F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1222A47F-3CAF-29AD-399A-F0AB31A841A7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0837" y="2987567"/>
            <a:ext cx="797549" cy="459242"/>
          </a:xfrm>
          <a:prstGeom prst="bentConnector3">
            <a:avLst>
              <a:gd name="adj1" fmla="val 53584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0094550-8D62-89F3-A2F3-93E7DBB1D833}"/>
              </a:ext>
            </a:extLst>
          </p:cNvPr>
          <p:cNvSpPr txBox="1"/>
          <p:nvPr/>
        </p:nvSpPr>
        <p:spPr>
          <a:xfrm>
            <a:off x="1205111" y="2486664"/>
            <a:ext cx="156604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velocidade,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5C89CBA-E113-C542-F2A1-5DA613583B12}"/>
              </a:ext>
            </a:extLst>
          </p:cNvPr>
          <p:cNvSpPr txBox="1"/>
          <p:nvPr/>
        </p:nvSpPr>
        <p:spPr>
          <a:xfrm>
            <a:off x="2643125" y="2485624"/>
            <a:ext cx="156604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aceleração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57C52E5-BA4F-C274-19E1-6DC854208308}"/>
              </a:ext>
            </a:extLst>
          </p:cNvPr>
          <p:cNvSpPr txBox="1"/>
          <p:nvPr/>
        </p:nvSpPr>
        <p:spPr>
          <a:xfrm>
            <a:off x="3961384" y="2485624"/>
            <a:ext cx="156604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o torque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C2D9E965-5B75-DEEA-12DD-AB4ECB7A61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68" y="3663223"/>
            <a:ext cx="671085" cy="671085"/>
          </a:xfrm>
          <a:prstGeom prst="rect">
            <a:avLst/>
          </a:prstGeom>
        </p:spPr>
      </p:pic>
      <p:pic>
        <p:nvPicPr>
          <p:cNvPr id="2061" name="Imagem 2060">
            <a:extLst>
              <a:ext uri="{FF2B5EF4-FFF2-40B4-BE49-F238E27FC236}">
                <a16:creationId xmlns:a16="http://schemas.microsoft.com/office/drawing/2014/main" id="{4258F22B-B9B7-90E4-0915-BEBB85985261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131" y="3665451"/>
            <a:ext cx="669600" cy="669600"/>
          </a:xfrm>
          <a:prstGeom prst="rect">
            <a:avLst/>
          </a:prstGeom>
        </p:spPr>
      </p:pic>
      <p:cxnSp>
        <p:nvCxnSpPr>
          <p:cNvPr id="2071" name="Conector: Angulado 2070">
            <a:extLst>
              <a:ext uri="{FF2B5EF4-FFF2-40B4-BE49-F238E27FC236}">
                <a16:creationId xmlns:a16="http://schemas.microsoft.com/office/drawing/2014/main" id="{4842E6C1-42BB-E8CD-86D8-C78B1A19D8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60130" y="2987568"/>
            <a:ext cx="797549" cy="459242"/>
          </a:xfrm>
          <a:prstGeom prst="bentConnector3">
            <a:avLst>
              <a:gd name="adj1" fmla="val 53584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Conector: Angulado 2071">
            <a:extLst>
              <a:ext uri="{FF2B5EF4-FFF2-40B4-BE49-F238E27FC236}">
                <a16:creationId xmlns:a16="http://schemas.microsoft.com/office/drawing/2014/main" id="{E8E75CC7-D14E-24B6-CF2E-0F126CB8E5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91384" y="3002336"/>
            <a:ext cx="797549" cy="459242"/>
          </a:xfrm>
          <a:prstGeom prst="bentConnector3">
            <a:avLst>
              <a:gd name="adj1" fmla="val 53584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4" name="Imagem 2073">
            <a:extLst>
              <a:ext uri="{FF2B5EF4-FFF2-40B4-BE49-F238E27FC236}">
                <a16:creationId xmlns:a16="http://schemas.microsoft.com/office/drawing/2014/main" id="{6985A7D2-B197-9605-0D55-02FC771A5691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80" y="3664708"/>
            <a:ext cx="669600" cy="669600"/>
          </a:xfrm>
          <a:prstGeom prst="rect">
            <a:avLst/>
          </a:prstGeom>
        </p:spPr>
      </p:pic>
      <p:cxnSp>
        <p:nvCxnSpPr>
          <p:cNvPr id="2075" name="Conector: Angulado 2074">
            <a:extLst>
              <a:ext uri="{FF2B5EF4-FFF2-40B4-BE49-F238E27FC236}">
                <a16:creationId xmlns:a16="http://schemas.microsoft.com/office/drawing/2014/main" id="{102DB925-2C27-5885-936B-377BF9E23D4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08843" y="2987567"/>
            <a:ext cx="797549" cy="459242"/>
          </a:xfrm>
          <a:prstGeom prst="bentConnector3">
            <a:avLst>
              <a:gd name="adj1" fmla="val 53584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7" name="Imagem 2076">
            <a:extLst>
              <a:ext uri="{FF2B5EF4-FFF2-40B4-BE49-F238E27FC236}">
                <a16:creationId xmlns:a16="http://schemas.microsoft.com/office/drawing/2014/main" id="{441FA1A9-8EF5-B013-B926-41FBEBE23B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424" y="3547613"/>
            <a:ext cx="720000" cy="720000"/>
          </a:xfrm>
          <a:prstGeom prst="rect">
            <a:avLst/>
          </a:prstGeom>
        </p:spPr>
      </p:pic>
      <p:sp>
        <p:nvSpPr>
          <p:cNvPr id="2081" name="CaixaDeTexto 2080">
            <a:extLst>
              <a:ext uri="{FF2B5EF4-FFF2-40B4-BE49-F238E27FC236}">
                <a16:creationId xmlns:a16="http://schemas.microsoft.com/office/drawing/2014/main" id="{E6F4CB1F-0F01-2BAC-4A38-14C12F3FE868}"/>
              </a:ext>
            </a:extLst>
          </p:cNvPr>
          <p:cNvSpPr txBox="1"/>
          <p:nvPr/>
        </p:nvSpPr>
        <p:spPr>
          <a:xfrm>
            <a:off x="518669" y="4421210"/>
            <a:ext cx="8120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Geometricamente, um vetor é 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representado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 um segmento orientado de reta. </a:t>
            </a:r>
            <a:endParaRPr lang="pt-BR" dirty="0"/>
          </a:p>
        </p:txBody>
      </p:sp>
      <p:sp>
        <p:nvSpPr>
          <p:cNvPr id="2083" name="CaixaDeTexto 2082">
            <a:extLst>
              <a:ext uri="{FF2B5EF4-FFF2-40B4-BE49-F238E27FC236}">
                <a16:creationId xmlns:a16="http://schemas.microsoft.com/office/drawing/2014/main" id="{0360BD63-23FA-4C80-69A5-F9AEE31AD1B2}"/>
              </a:ext>
            </a:extLst>
          </p:cNvPr>
          <p:cNvSpPr txBox="1"/>
          <p:nvPr/>
        </p:nvSpPr>
        <p:spPr>
          <a:xfrm>
            <a:off x="584257" y="5006755"/>
            <a:ext cx="4815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origem é o ponto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a extremidade o ponto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pt-BR" b="1" i="1" dirty="0"/>
          </a:p>
        </p:txBody>
      </p:sp>
      <p:grpSp>
        <p:nvGrpSpPr>
          <p:cNvPr id="2101" name="Agrupar 2100">
            <a:extLst>
              <a:ext uri="{FF2B5EF4-FFF2-40B4-BE49-F238E27FC236}">
                <a16:creationId xmlns:a16="http://schemas.microsoft.com/office/drawing/2014/main" id="{67DEC5F6-F654-CE4C-9E07-B2713881124A}"/>
              </a:ext>
            </a:extLst>
          </p:cNvPr>
          <p:cNvGrpSpPr/>
          <p:nvPr/>
        </p:nvGrpSpPr>
        <p:grpSpPr>
          <a:xfrm>
            <a:off x="7016849" y="4693542"/>
            <a:ext cx="4743555" cy="1077218"/>
            <a:chOff x="7213184" y="4376238"/>
            <a:chExt cx="4743555" cy="1077218"/>
          </a:xfrm>
        </p:grpSpPr>
        <p:sp>
          <p:nvSpPr>
            <p:cNvPr id="2090" name="CaixaDeTexto 2089">
              <a:extLst>
                <a:ext uri="{FF2B5EF4-FFF2-40B4-BE49-F238E27FC236}">
                  <a16:creationId xmlns:a16="http://schemas.microsoft.com/office/drawing/2014/main" id="{2B17B4B3-B063-922F-7A79-B3D417E75091}"/>
                </a:ext>
              </a:extLst>
            </p:cNvPr>
            <p:cNvSpPr txBox="1"/>
            <p:nvPr/>
          </p:nvSpPr>
          <p:spPr>
            <a:xfrm>
              <a:off x="8686857" y="4376238"/>
              <a:ext cx="3269882" cy="107721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pt-BR" sz="16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Geralmente a notação com flecha sobrescrita é utilizada em textos manuscritos e a notação em </a:t>
              </a:r>
              <a:r>
                <a:rPr lang="pt-BR" sz="1600" b="1" i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negrito</a:t>
              </a:r>
              <a:r>
                <a:rPr lang="pt-BR" sz="16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em textos impressos.</a:t>
              </a:r>
              <a:endParaRPr lang="pt-BR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092" name="Conector de Seta Reta 2091">
              <a:extLst>
                <a:ext uri="{FF2B5EF4-FFF2-40B4-BE49-F238E27FC236}">
                  <a16:creationId xmlns:a16="http://schemas.microsoft.com/office/drawing/2014/main" id="{9F13F2B1-C05C-C1D9-984A-FA8CD56F8F8A}"/>
                </a:ext>
              </a:extLst>
            </p:cNvPr>
            <p:cNvCxnSpPr>
              <a:cxnSpLocks/>
              <a:stCxn id="2090" idx="1"/>
            </p:cNvCxnSpPr>
            <p:nvPr/>
          </p:nvCxnSpPr>
          <p:spPr>
            <a:xfrm flipH="1">
              <a:off x="7213184" y="4914847"/>
              <a:ext cx="1473673" cy="40087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9861EBF0-A1B2-06DD-283C-0AD6D10287D3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015" t="2169" r="6731" b="56508"/>
          <a:stretch>
            <a:fillRect/>
          </a:stretch>
        </p:blipFill>
        <p:spPr>
          <a:xfrm rot="1428204">
            <a:off x="5632804" y="4539935"/>
            <a:ext cx="1666623" cy="15047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32EF740-C4F7-828F-3BE4-012F6558874F}"/>
                  </a:ext>
                </a:extLst>
              </p:cNvPr>
              <p:cNvSpPr txBox="1"/>
              <p:nvPr/>
            </p:nvSpPr>
            <p:spPr>
              <a:xfrm>
                <a:off x="5702497" y="4936736"/>
                <a:ext cx="1409566" cy="370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32EF740-C4F7-828F-3BE4-012F6558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497" y="4936736"/>
                <a:ext cx="1409566" cy="370101"/>
              </a:xfrm>
              <a:prstGeom prst="rect">
                <a:avLst/>
              </a:prstGeom>
              <a:blipFill>
                <a:blip r:embed="rId10"/>
                <a:stretch>
                  <a:fillRect t="-32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C1A686A-2B27-C6C2-8209-961AB7E513EB}"/>
                  </a:ext>
                </a:extLst>
              </p:cNvPr>
              <p:cNvSpPr txBox="1"/>
              <p:nvPr/>
            </p:nvSpPr>
            <p:spPr>
              <a:xfrm>
                <a:off x="5588834" y="5601483"/>
                <a:ext cx="3346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pt-BR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C1A686A-2B27-C6C2-8209-961AB7E51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834" y="5601483"/>
                <a:ext cx="33466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CF7C3BA-FAF6-56CA-6D75-5FF76C1642C5}"/>
                  </a:ext>
                </a:extLst>
              </p:cNvPr>
              <p:cNvSpPr txBox="1"/>
              <p:nvPr/>
            </p:nvSpPr>
            <p:spPr>
              <a:xfrm>
                <a:off x="7187494" y="5022144"/>
                <a:ext cx="3346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pt-BR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CF7C3BA-FAF6-56CA-6D75-5FF76C164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494" y="5022144"/>
                <a:ext cx="334667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97" name="Imagem 2096">
            <a:extLst>
              <a:ext uri="{FF2B5EF4-FFF2-40B4-BE49-F238E27FC236}">
                <a16:creationId xmlns:a16="http://schemas.microsoft.com/office/drawing/2014/main" id="{1A3951C7-8A2D-718F-818B-1C71D12584F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849" y="5481090"/>
            <a:ext cx="360000" cy="36000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FC02E70D-33F9-87C5-E4DF-E8BF1FA0410A}"/>
              </a:ext>
            </a:extLst>
          </p:cNvPr>
          <p:cNvSpPr txBox="1"/>
          <p:nvPr/>
        </p:nvSpPr>
        <p:spPr>
          <a:xfrm>
            <a:off x="6349912" y="2619465"/>
            <a:ext cx="995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Direção.</a:t>
            </a:r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A5020E6-29CF-8696-1BA1-E208607AE075}"/>
              </a:ext>
            </a:extLst>
          </p:cNvPr>
          <p:cNvSpPr txBox="1"/>
          <p:nvPr/>
        </p:nvSpPr>
        <p:spPr>
          <a:xfrm>
            <a:off x="6349912" y="3039228"/>
            <a:ext cx="995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Sentido.</a:t>
            </a:r>
            <a:endParaRPr lang="pt-BR" dirty="0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B20E287B-1347-C58C-8DE0-0EE028500B55}"/>
              </a:ext>
            </a:extLst>
          </p:cNvPr>
          <p:cNvCxnSpPr/>
          <p:nvPr/>
        </p:nvCxnSpPr>
        <p:spPr>
          <a:xfrm>
            <a:off x="7311924" y="3307576"/>
            <a:ext cx="2813539" cy="0"/>
          </a:xfrm>
          <a:prstGeom prst="line">
            <a:avLst/>
          </a:prstGeom>
          <a:ln w="952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0B79605C-BB1A-2688-D2B1-381F62A82E9C}"/>
              </a:ext>
            </a:extLst>
          </p:cNvPr>
          <p:cNvCxnSpPr>
            <a:cxnSpLocks/>
          </p:cNvCxnSpPr>
          <p:nvPr/>
        </p:nvCxnSpPr>
        <p:spPr>
          <a:xfrm>
            <a:off x="8098045" y="3303470"/>
            <a:ext cx="1241295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39AB5CA-0F75-C1E9-1387-29B6D33909BF}"/>
              </a:ext>
            </a:extLst>
          </p:cNvPr>
          <p:cNvSpPr txBox="1"/>
          <p:nvPr/>
        </p:nvSpPr>
        <p:spPr>
          <a:xfrm>
            <a:off x="6043410" y="3542673"/>
            <a:ext cx="1327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Magnitude.</a:t>
            </a:r>
            <a:endParaRPr lang="pt-BR" dirty="0"/>
          </a:p>
        </p:txBody>
      </p: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5F347A98-A761-966A-2C6A-F7C8C7737534}"/>
              </a:ext>
            </a:extLst>
          </p:cNvPr>
          <p:cNvGrpSpPr/>
          <p:nvPr/>
        </p:nvGrpSpPr>
        <p:grpSpPr>
          <a:xfrm>
            <a:off x="7345345" y="3760803"/>
            <a:ext cx="2813539" cy="4106"/>
            <a:chOff x="7345345" y="3760803"/>
            <a:chExt cx="2813539" cy="4106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33255CB3-C096-CB4D-6260-1A2B2D5C37BA}"/>
                </a:ext>
              </a:extLst>
            </p:cNvPr>
            <p:cNvCxnSpPr/>
            <p:nvPr/>
          </p:nvCxnSpPr>
          <p:spPr>
            <a:xfrm>
              <a:off x="7345345" y="3764909"/>
              <a:ext cx="2813539" cy="0"/>
            </a:xfrm>
            <a:prstGeom prst="line">
              <a:avLst/>
            </a:prstGeom>
            <a:ln w="9525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D82383DF-6B31-348F-59C1-1E62C65C6D21}"/>
                </a:ext>
              </a:extLst>
            </p:cNvPr>
            <p:cNvCxnSpPr>
              <a:cxnSpLocks/>
            </p:cNvCxnSpPr>
            <p:nvPr/>
          </p:nvCxnSpPr>
          <p:spPr>
            <a:xfrm>
              <a:off x="8131466" y="3760803"/>
              <a:ext cx="1241295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915D043-AB4B-F4D1-C091-C09701476264}"/>
              </a:ext>
            </a:extLst>
          </p:cNvPr>
          <p:cNvSpPr txBox="1"/>
          <p:nvPr/>
        </p:nvSpPr>
        <p:spPr>
          <a:xfrm>
            <a:off x="8047370" y="3490604"/>
            <a:ext cx="17310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Tamanho do vetor</a:t>
            </a:r>
            <a:endParaRPr lang="pt-BR" sz="1200" dirty="0"/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90EFF854-3E29-7250-E3EB-7F9FBE06411A}"/>
              </a:ext>
            </a:extLst>
          </p:cNvPr>
          <p:cNvGrpSpPr/>
          <p:nvPr/>
        </p:nvGrpSpPr>
        <p:grpSpPr>
          <a:xfrm>
            <a:off x="8131467" y="3817259"/>
            <a:ext cx="1217921" cy="191279"/>
            <a:chOff x="8127514" y="3899477"/>
            <a:chExt cx="1217921" cy="191279"/>
          </a:xfrm>
        </p:grpSpPr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DBE53EC2-4DFB-21E1-B6A2-310A4A657DEC}"/>
                </a:ext>
              </a:extLst>
            </p:cNvPr>
            <p:cNvCxnSpPr>
              <a:cxnSpLocks/>
            </p:cNvCxnSpPr>
            <p:nvPr/>
          </p:nvCxnSpPr>
          <p:spPr>
            <a:xfrm>
              <a:off x="8131466" y="3998765"/>
              <a:ext cx="1207874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to 34">
              <a:extLst>
                <a:ext uri="{FF2B5EF4-FFF2-40B4-BE49-F238E27FC236}">
                  <a16:creationId xmlns:a16="http://schemas.microsoft.com/office/drawing/2014/main" id="{A1B8843C-D067-5F53-E507-9B4A2AB2E1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7514" y="3907613"/>
              <a:ext cx="0" cy="183143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to 37">
              <a:extLst>
                <a:ext uri="{FF2B5EF4-FFF2-40B4-BE49-F238E27FC236}">
                  <a16:creationId xmlns:a16="http://schemas.microsoft.com/office/drawing/2014/main" id="{12FE91D5-F855-DFE7-138F-1C0EFAC51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5435" y="3899477"/>
              <a:ext cx="0" cy="183143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836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4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73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23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7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153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03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3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24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374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180"/>
                            </p:stCondLst>
                            <p:childTnLst>
                              <p:par>
                                <p:cTn id="1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680"/>
                            </p:stCondLst>
                            <p:childTnLst>
                              <p:par>
                                <p:cTn id="1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20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97"/>
                  </p:tgtEl>
                </p:cond>
              </p:nextCondLst>
            </p:seq>
          </p:childTnLst>
        </p:cTn>
      </p:par>
    </p:tnLst>
    <p:bldLst>
      <p:bldP spid="28" grpId="0"/>
      <p:bldP spid="9" grpId="0"/>
      <p:bldP spid="23" grpId="0"/>
      <p:bldP spid="19" grpId="0"/>
      <p:bldP spid="41" grpId="0"/>
      <p:bldP spid="42" grpId="0"/>
      <p:bldP spid="2081" grpId="0"/>
      <p:bldP spid="2083" grpId="0"/>
      <p:bldP spid="8" grpId="0"/>
      <p:bldP spid="10" grpId="0"/>
      <p:bldP spid="11" grpId="0"/>
      <p:bldP spid="20" grpId="0"/>
      <p:bldP spid="24" grpId="0"/>
      <p:bldP spid="29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E9408F0C-7190-9B39-5435-6920EE7C1E41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DBE69E0F-22B2-AB4D-13FB-223893199A1D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7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058936D5-15AB-4485-1EB6-8E4A19F4EA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71ACB638-F852-0B1E-877D-6638DB2A96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724842"/>
              </p:ext>
            </p:extLst>
          </p:nvPr>
        </p:nvGraphicFramePr>
        <p:xfrm>
          <a:off x="129151" y="124750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35" name="Objeto 34">
                        <a:extLst>
                          <a:ext uri="{FF2B5EF4-FFF2-40B4-BE49-F238E27FC236}">
                            <a16:creationId xmlns:a16="http://schemas.microsoft.com/office/drawing/2014/main" id="{C67CC495-6D65-6CDF-606D-9ECE3ABB6F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151" y="124750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aixaDeTexto 16">
            <a:extLst>
              <a:ext uri="{FF2B5EF4-FFF2-40B4-BE49-F238E27FC236}">
                <a16:creationId xmlns:a16="http://schemas.microsoft.com/office/drawing/2014/main" id="{837F0DB1-317B-AC56-D1BF-6DD12CD30A72}"/>
              </a:ext>
            </a:extLst>
          </p:cNvPr>
          <p:cNvSpPr txBox="1"/>
          <p:nvPr/>
        </p:nvSpPr>
        <p:spPr>
          <a:xfrm>
            <a:off x="111713" y="505886"/>
            <a:ext cx="115232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Segmentos orientados com o </a:t>
            </a: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mesmo comprimento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mesma direção 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mesmo sentido 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são ditos equivalentes.</a:t>
            </a:r>
            <a:endParaRPr lang="pt-BR" sz="200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2E2F64FC-0FB0-D7A2-7CB2-4C911297DC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9495" y="919242"/>
            <a:ext cx="360000" cy="360000"/>
          </a:xfrm>
          <a:prstGeom prst="rect">
            <a:avLst/>
          </a:prstGeom>
        </p:spPr>
      </p:pic>
      <p:grpSp>
        <p:nvGrpSpPr>
          <p:cNvPr id="20" name="Agrupar 19">
            <a:extLst>
              <a:ext uri="{FF2B5EF4-FFF2-40B4-BE49-F238E27FC236}">
                <a16:creationId xmlns:a16="http://schemas.microsoft.com/office/drawing/2014/main" id="{20F1554A-9070-7440-9708-79492547EF22}"/>
              </a:ext>
            </a:extLst>
          </p:cNvPr>
          <p:cNvGrpSpPr/>
          <p:nvPr/>
        </p:nvGrpSpPr>
        <p:grpSpPr>
          <a:xfrm>
            <a:off x="8868471" y="1166742"/>
            <a:ext cx="1976655" cy="1130462"/>
            <a:chOff x="8807669" y="2029579"/>
            <a:chExt cx="1976655" cy="1130462"/>
          </a:xfrm>
        </p:grpSpPr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850EDD92-1DDD-359B-C773-A943F5E56C1E}"/>
                </a:ext>
              </a:extLst>
            </p:cNvPr>
            <p:cNvSpPr txBox="1"/>
            <p:nvPr/>
          </p:nvSpPr>
          <p:spPr>
            <a:xfrm>
              <a:off x="8807669" y="2575266"/>
              <a:ext cx="1976655" cy="58477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pt-BR" sz="1600" b="1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É também ditos: </a:t>
              </a:r>
            </a:p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EQUIPOLENTES</a:t>
              </a:r>
              <a:endParaRPr lang="pt-BR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E5F92371-7258-C942-2E49-2990B289D3C6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V="1">
              <a:off x="9795997" y="2029579"/>
              <a:ext cx="683528" cy="5456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Imagem 14">
            <a:extLst>
              <a:ext uri="{FF2B5EF4-FFF2-40B4-BE49-F238E27FC236}">
                <a16:creationId xmlns:a16="http://schemas.microsoft.com/office/drawing/2014/main" id="{9350DAC5-3D10-6BAC-A2AC-CF638E7247DF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74861" y="379794"/>
            <a:ext cx="3960000" cy="396000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C01D88F4-CB4B-318B-7F2E-197854E8238A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74861" y="379794"/>
            <a:ext cx="3960000" cy="39600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2EE729FD-7F9D-FA06-3A1B-4B7F1F84F4CA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74861" y="379794"/>
            <a:ext cx="3960000" cy="3960000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FC89CA64-F3BE-A5E9-3613-EC20D3572788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74861" y="379794"/>
            <a:ext cx="3960000" cy="3960000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F480AADC-3530-8010-D990-478750455579}"/>
              </a:ext>
            </a:extLst>
          </p:cNvPr>
          <p:cNvSpPr txBox="1"/>
          <p:nvPr/>
        </p:nvSpPr>
        <p:spPr>
          <a:xfrm>
            <a:off x="111713" y="4098961"/>
            <a:ext cx="539192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MULTIPLICAÇÃO de um vetor por um escalar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13286806-5CF0-A288-9C52-DC1614EFB2ED}"/>
                  </a:ext>
                </a:extLst>
              </p:cNvPr>
              <p:cNvSpPr txBox="1"/>
              <p:nvPr/>
            </p:nvSpPr>
            <p:spPr>
              <a:xfrm>
                <a:off x="111713" y="4487160"/>
                <a:ext cx="11754468" cy="39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multiplicação de </a:t>
                </a:r>
                <a:r>
                  <a:rPr lang="pt-BR" sz="1800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pt-BR" sz="1800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ambos </a:t>
                </a:r>
                <a:r>
                  <a:rPr lang="pt-BR" sz="1800" b="1" u="sng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não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nulos, resulta o vetor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múltiplo escalar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determinado da seguinte maneira: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13286806-5CF0-A288-9C52-DC1614EFB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3" y="4487160"/>
                <a:ext cx="11754468" cy="391454"/>
              </a:xfrm>
              <a:prstGeom prst="rect">
                <a:avLst/>
              </a:prstGeom>
              <a:blipFill>
                <a:blip r:embed="rId10"/>
                <a:stretch>
                  <a:fillRect l="-415" t="-15625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CBB30AE4-CFE3-20AC-51A8-FB4C64CBD45C}"/>
                  </a:ext>
                </a:extLst>
              </p:cNvPr>
              <p:cNvSpPr txBox="1"/>
              <p:nvPr/>
            </p:nvSpPr>
            <p:spPr>
              <a:xfrm>
                <a:off x="158263" y="4875716"/>
                <a:ext cx="7946914" cy="1602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⇒</a:t>
                </a:r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acc>
                      <m:accPr>
                        <m:chr m:val="⃗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possui a mesma direção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pt-BR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⇒</a:t>
                </a:r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 k &gt; 0, então </a:t>
                </a:r>
                <a14:m>
                  <m:oMath xmlns:m="http://schemas.openxmlformats.org/officeDocument/2006/math"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acc>
                      <m:accPr>
                        <m:chr m:val="⃗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tem o mesmo sentido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se k &lt; 0, então </a:t>
                </a:r>
                <a14:m>
                  <m:oMath xmlns:m="http://schemas.openxmlformats.org/officeDocument/2006/math"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acc>
                      <m:accPr>
                        <m:chr m:val="⃗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tem sentido oposto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pt-BR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⇒</a:t>
                </a:r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 magnitude de </a:t>
                </a:r>
                <a14:m>
                  <m:oMath xmlns:m="http://schemas.openxmlformats.org/officeDocument/2006/math"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acc>
                      <m:accPr>
                        <m:chr m:val="⃗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vale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vezes a magnitude de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pt-BR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isto é,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acc>
                          <m:accPr>
                            <m:chr m:val="⃗"/>
                            <m:ctrlPr>
                              <a:rPr lang="pt-BR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pt-BR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BR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CBB30AE4-CFE3-20AC-51A8-FB4C64CBD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63" y="4875716"/>
                <a:ext cx="7946914" cy="1602490"/>
              </a:xfrm>
              <a:prstGeom prst="rect">
                <a:avLst/>
              </a:prstGeom>
              <a:blipFill>
                <a:blip r:embed="rId11"/>
                <a:stretch>
                  <a:fillRect l="-690" t="-3802" r="-537" b="-53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Imagem 32">
            <a:extLst>
              <a:ext uri="{FF2B5EF4-FFF2-40B4-BE49-F238E27FC236}">
                <a16:creationId xmlns:a16="http://schemas.microsoft.com/office/drawing/2014/main" id="{B1AC7AD9-0A05-DF81-196F-8BDCE53CA7CF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7" t="6924" r="4244" b="6250"/>
          <a:stretch/>
        </p:blipFill>
        <p:spPr bwMode="auto">
          <a:xfrm>
            <a:off x="8076813" y="4851673"/>
            <a:ext cx="2200208" cy="12019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C1CAEB01-4032-9D28-92E1-09BA6B3918C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7" y="4851673"/>
            <a:ext cx="1690571" cy="1127047"/>
          </a:xfrm>
          <a:prstGeom prst="rect">
            <a:avLst/>
          </a:prstGeom>
        </p:spPr>
      </p:pic>
      <p:sp>
        <p:nvSpPr>
          <p:cNvPr id="35" name="Seta: para Cima 34">
            <a:extLst>
              <a:ext uri="{FF2B5EF4-FFF2-40B4-BE49-F238E27FC236}">
                <a16:creationId xmlns:a16="http://schemas.microsoft.com/office/drawing/2014/main" id="{E57E038C-0A78-8EB6-33DD-A8D7A3DAC60A}"/>
              </a:ext>
            </a:extLst>
          </p:cNvPr>
          <p:cNvSpPr/>
          <p:nvPr/>
        </p:nvSpPr>
        <p:spPr>
          <a:xfrm>
            <a:off x="10458774" y="5570307"/>
            <a:ext cx="261442" cy="40841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Seta: para Cima 35">
            <a:extLst>
              <a:ext uri="{FF2B5EF4-FFF2-40B4-BE49-F238E27FC236}">
                <a16:creationId xmlns:a16="http://schemas.microsoft.com/office/drawing/2014/main" id="{F4ECE0C2-BB54-8008-DF1A-3F99EED9B2C9}"/>
              </a:ext>
            </a:extLst>
          </p:cNvPr>
          <p:cNvSpPr/>
          <p:nvPr/>
        </p:nvSpPr>
        <p:spPr>
          <a:xfrm rot="18542761">
            <a:off x="9733156" y="5592467"/>
            <a:ext cx="247286" cy="402057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D89FEE1-D505-27AE-FE94-BF095E12126F}"/>
              </a:ext>
            </a:extLst>
          </p:cNvPr>
          <p:cNvSpPr txBox="1"/>
          <p:nvPr/>
        </p:nvSpPr>
        <p:spPr>
          <a:xfrm>
            <a:off x="158263" y="3654631"/>
            <a:ext cx="3283129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OPERAÇÕES COM VETORES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6843F8D4-54A6-1D69-C742-572AF3970FBD}"/>
              </a:ext>
            </a:extLst>
          </p:cNvPr>
          <p:cNvGrpSpPr/>
          <p:nvPr/>
        </p:nvGrpSpPr>
        <p:grpSpPr>
          <a:xfrm>
            <a:off x="4773315" y="3828702"/>
            <a:ext cx="3062450" cy="584775"/>
            <a:chOff x="7396324" y="190153"/>
            <a:chExt cx="3062450" cy="584775"/>
          </a:xfrm>
        </p:grpSpPr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18E96EB0-D922-0BB7-6477-C2ADCEADC089}"/>
                </a:ext>
              </a:extLst>
            </p:cNvPr>
            <p:cNvSpPr txBox="1"/>
            <p:nvPr/>
          </p:nvSpPr>
          <p:spPr>
            <a:xfrm>
              <a:off x="7736792" y="190153"/>
              <a:ext cx="2721982" cy="584775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pt-BR" sz="16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Aqui entendemos “ESCALAR” como um número real.</a:t>
              </a:r>
              <a:endParaRPr lang="pt-BR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40" name="Conector de Seta Reta 39">
              <a:extLst>
                <a:ext uri="{FF2B5EF4-FFF2-40B4-BE49-F238E27FC236}">
                  <a16:creationId xmlns:a16="http://schemas.microsoft.com/office/drawing/2014/main" id="{A73314F8-43BC-F25B-50D1-41ECB23887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6324" y="396437"/>
              <a:ext cx="340468" cy="20530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Imagem 40">
            <a:extLst>
              <a:ext uri="{FF2B5EF4-FFF2-40B4-BE49-F238E27FC236}">
                <a16:creationId xmlns:a16="http://schemas.microsoft.com/office/drawing/2014/main" id="{050E19CA-1C03-450F-6480-C3806129FF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362361" y="3818132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0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repeatCount="400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repeatCount="4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17" grpId="0"/>
      <p:bldP spid="30" grpId="0"/>
      <p:bldP spid="31" grpId="0"/>
      <p:bldP spid="32" grpId="0"/>
      <p:bldP spid="35" grpId="0" animBg="1"/>
      <p:bldP spid="36" grpId="0" animBg="1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B7B8-8D28-5F87-BBEF-0F137DF74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A0D4E541-532E-8A9C-6F12-E5EB0FA95782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78B8DB66-4B2E-CC19-8196-853E2AD91E1D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7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1DC8B140-564E-9B94-9DC4-6983D9B901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C891874C-57DF-DABD-9973-6C03738384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71ACB638-F852-0B1E-877D-6638DB2A96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DA44E5C6-D5E0-0A1E-612B-F8F7CFB78F59}"/>
              </a:ext>
            </a:extLst>
          </p:cNvPr>
          <p:cNvSpPr txBox="1"/>
          <p:nvPr/>
        </p:nvSpPr>
        <p:spPr>
          <a:xfrm>
            <a:off x="218766" y="529702"/>
            <a:ext cx="246937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ADIÇÃO DE VETORES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7BC27B7-6AE0-CDE2-165A-B254C5C3290C}"/>
                  </a:ext>
                </a:extLst>
              </p:cNvPr>
              <p:cNvSpPr txBox="1"/>
              <p:nvPr/>
            </p:nvSpPr>
            <p:spPr>
              <a:xfrm>
                <a:off x="-12817" y="875753"/>
                <a:ext cx="1187547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Definimos a adição dos vetores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(não nulos) da seguinte maneira: </a:t>
                </a:r>
              </a:p>
              <a:p>
                <a:pPr algn="just"/>
                <a:r>
                  <a:rPr lang="pt-BR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osicionamos os vetores de modo que suas origens coincidam e formamos um paralelogramo. O vetor soma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acc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é o vetor com a mesma origem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com magnitude, direção e sentido dadas pela diagonal do paralelogramo. Esta regra para adição de vetores é conhecida como </a:t>
                </a:r>
                <a:r>
                  <a:rPr lang="pt-BR" sz="1800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regra do paralelogramo.</a:t>
                </a:r>
                <a:endParaRPr lang="pt-BR" b="1" i="1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7BC27B7-6AE0-CDE2-165A-B254C5C32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817" y="875753"/>
                <a:ext cx="11875474" cy="1200329"/>
              </a:xfrm>
              <a:prstGeom prst="rect">
                <a:avLst/>
              </a:prstGeom>
              <a:blipFill>
                <a:blip r:embed="rId5"/>
                <a:stretch>
                  <a:fillRect l="-462" t="-3046" r="-411" b="-71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Imagem 21">
            <a:extLst>
              <a:ext uri="{FF2B5EF4-FFF2-40B4-BE49-F238E27FC236}">
                <a16:creationId xmlns:a16="http://schemas.microsoft.com/office/drawing/2014/main" id="{EC9FE2A2-404E-BA0A-BF04-F2FA90B124DF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0000" y="2160000"/>
            <a:ext cx="3960000" cy="39600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7C5A0B6D-F092-67FA-3091-D4B606882526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0000" y="2160000"/>
            <a:ext cx="3960000" cy="39600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F304EC5E-C6E5-25DA-9028-90350C80BF17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0000" y="2160000"/>
            <a:ext cx="3960000" cy="3960000"/>
          </a:xfrm>
          <a:prstGeom prst="rect">
            <a:avLst/>
          </a:prstGeom>
        </p:spPr>
      </p:pic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76A2F677-24CE-BBB4-5CDB-B3CE8998D6D0}"/>
              </a:ext>
            </a:extLst>
          </p:cNvPr>
          <p:cNvCxnSpPr>
            <a:cxnSpLocks/>
          </p:cNvCxnSpPr>
          <p:nvPr/>
        </p:nvCxnSpPr>
        <p:spPr>
          <a:xfrm>
            <a:off x="2700000" y="2875722"/>
            <a:ext cx="198000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867ED31A-E3F8-4CAA-0CE6-A807345B5220}"/>
              </a:ext>
            </a:extLst>
          </p:cNvPr>
          <p:cNvCxnSpPr>
            <a:cxnSpLocks/>
          </p:cNvCxnSpPr>
          <p:nvPr/>
        </p:nvCxnSpPr>
        <p:spPr>
          <a:xfrm flipV="1">
            <a:off x="2700000" y="2663687"/>
            <a:ext cx="1885252" cy="3110287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7B32D5EE-FB58-1054-35FD-269329EBB379}"/>
              </a:ext>
            </a:extLst>
          </p:cNvPr>
          <p:cNvCxnSpPr>
            <a:cxnSpLocks/>
          </p:cNvCxnSpPr>
          <p:nvPr/>
        </p:nvCxnSpPr>
        <p:spPr>
          <a:xfrm flipV="1">
            <a:off x="940905" y="2875722"/>
            <a:ext cx="3498574" cy="289825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D213DBAC-E215-9578-4FDC-27F69091F515}"/>
                  </a:ext>
                </a:extLst>
              </p:cNvPr>
              <p:cNvSpPr txBox="1"/>
              <p:nvPr/>
            </p:nvSpPr>
            <p:spPr>
              <a:xfrm>
                <a:off x="1615602" y="3667373"/>
                <a:ext cx="4097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D213DBAC-E215-9578-4FDC-27F69091F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602" y="3667373"/>
                <a:ext cx="40970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BD9DABB1-A5AE-4998-62B9-91C06F48DDB8}"/>
                  </a:ext>
                </a:extLst>
              </p:cNvPr>
              <p:cNvSpPr txBox="1"/>
              <p:nvPr/>
            </p:nvSpPr>
            <p:spPr>
              <a:xfrm>
                <a:off x="2176812" y="3811217"/>
                <a:ext cx="10226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16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pt-BR" sz="16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pt-BR" sz="1600" b="1" dirty="0"/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BD9DABB1-A5AE-4998-62B9-91C06F48D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812" y="3811217"/>
                <a:ext cx="1022652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aixaDeTexto 45">
            <a:extLst>
              <a:ext uri="{FF2B5EF4-FFF2-40B4-BE49-F238E27FC236}">
                <a16:creationId xmlns:a16="http://schemas.microsoft.com/office/drawing/2014/main" id="{C0941C9D-643A-E550-700E-650245E91592}"/>
              </a:ext>
            </a:extLst>
          </p:cNvPr>
          <p:cNvSpPr txBox="1"/>
          <p:nvPr/>
        </p:nvSpPr>
        <p:spPr>
          <a:xfrm>
            <a:off x="6996661" y="1972992"/>
            <a:ext cx="2549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VEJA OUTRA MANEIRA:</a:t>
            </a:r>
            <a:endParaRPr lang="pt-BR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75210135-FC39-23FD-CA43-8B732B4CB726}"/>
                  </a:ext>
                </a:extLst>
              </p:cNvPr>
              <p:cNvSpPr txBox="1"/>
              <p:nvPr/>
            </p:nvSpPr>
            <p:spPr>
              <a:xfrm>
                <a:off x="5877559" y="2236850"/>
                <a:ext cx="53990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osicionamos a origem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sobre a extremidade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pt-BR" dirty="0"/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75210135-FC39-23FD-CA43-8B732B4CB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559" y="2236850"/>
                <a:ext cx="5399024" cy="369332"/>
              </a:xfrm>
              <a:prstGeom prst="rect">
                <a:avLst/>
              </a:prstGeom>
              <a:blipFill>
                <a:blip r:embed="rId11"/>
                <a:stretch>
                  <a:fillRect l="-903" t="-22951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FB28A399-68AC-CDA0-5362-5BD9214E9A89}"/>
                  </a:ext>
                </a:extLst>
              </p:cNvPr>
              <p:cNvSpPr txBox="1"/>
              <p:nvPr/>
            </p:nvSpPr>
            <p:spPr>
              <a:xfrm>
                <a:off x="8371022" y="3688106"/>
                <a:ext cx="373137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 vetor soma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será o vetor cuja origem será a origem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a extremidade será a extremidade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FB28A399-68AC-CDA0-5362-5BD9214E9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022" y="3688106"/>
                <a:ext cx="3731374" cy="923330"/>
              </a:xfrm>
              <a:prstGeom prst="rect">
                <a:avLst/>
              </a:prstGeom>
              <a:blipFill>
                <a:blip r:embed="rId12"/>
                <a:stretch>
                  <a:fillRect l="-1307" t="-9272" r="-5882" b="-99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2DFB4588-E56C-FA17-3E36-6EAA8DB1E515}"/>
                  </a:ext>
                </a:extLst>
              </p:cNvPr>
              <p:cNvSpPr txBox="1"/>
              <p:nvPr/>
            </p:nvSpPr>
            <p:spPr>
              <a:xfrm>
                <a:off x="7658751" y="2519707"/>
                <a:ext cx="4097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2DFB4588-E56C-FA17-3E36-6EAA8DB1E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751" y="2519707"/>
                <a:ext cx="409702" cy="400110"/>
              </a:xfrm>
              <a:prstGeom prst="rect">
                <a:avLst/>
              </a:prstGeom>
              <a:blipFill>
                <a:blip r:embed="rId13"/>
                <a:stretch>
                  <a:fillRect t="-18182" r="-279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440A01E1-CD39-6E60-CE0A-28126E39C4BA}"/>
              </a:ext>
            </a:extLst>
          </p:cNvPr>
          <p:cNvCxnSpPr>
            <a:cxnSpLocks/>
          </p:cNvCxnSpPr>
          <p:nvPr/>
        </p:nvCxnSpPr>
        <p:spPr>
          <a:xfrm flipV="1">
            <a:off x="6979030" y="2875722"/>
            <a:ext cx="176914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E3776532-8D57-EE19-FA16-E52E9EF632CC}"/>
              </a:ext>
            </a:extLst>
          </p:cNvPr>
          <p:cNvCxnSpPr>
            <a:cxnSpLocks/>
          </p:cNvCxnSpPr>
          <p:nvPr/>
        </p:nvCxnSpPr>
        <p:spPr>
          <a:xfrm flipV="1">
            <a:off x="5219935" y="2868578"/>
            <a:ext cx="1759095" cy="28749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A670454A-C06F-949A-88E5-FF8C724D535D}"/>
                  </a:ext>
                </a:extLst>
              </p:cNvPr>
              <p:cNvSpPr txBox="1"/>
              <p:nvPr/>
            </p:nvSpPr>
            <p:spPr>
              <a:xfrm>
                <a:off x="5877559" y="3665895"/>
                <a:ext cx="4097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A670454A-C06F-949A-88E5-FF8C724D5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559" y="3665895"/>
                <a:ext cx="409702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A386014A-7EEA-B139-955B-188B0D92C7E7}"/>
              </a:ext>
            </a:extLst>
          </p:cNvPr>
          <p:cNvCxnSpPr>
            <a:cxnSpLocks/>
          </p:cNvCxnSpPr>
          <p:nvPr/>
        </p:nvCxnSpPr>
        <p:spPr>
          <a:xfrm flipV="1">
            <a:off x="5219935" y="2882867"/>
            <a:ext cx="3498574" cy="289825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C24F82E8-E2E0-4CB5-F126-72B22462ABDD}"/>
                  </a:ext>
                </a:extLst>
              </p:cNvPr>
              <p:cNvSpPr txBox="1"/>
              <p:nvPr/>
            </p:nvSpPr>
            <p:spPr>
              <a:xfrm>
                <a:off x="6905328" y="4231185"/>
                <a:ext cx="10226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16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pt-BR" sz="16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pt-BR" sz="1600" b="1" dirty="0"/>
              </a:p>
            </p:txBody>
          </p:sp>
        </mc:Choice>
        <mc:Fallback xmlns="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C24F82E8-E2E0-4CB5-F126-72B22462A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328" y="4231185"/>
                <a:ext cx="1022652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Seta: para a Esquerda 72">
            <a:extLst>
              <a:ext uri="{FF2B5EF4-FFF2-40B4-BE49-F238E27FC236}">
                <a16:creationId xmlns:a16="http://schemas.microsoft.com/office/drawing/2014/main" id="{608F9EA0-9846-9E26-0570-8732B834382B}"/>
              </a:ext>
            </a:extLst>
          </p:cNvPr>
          <p:cNvSpPr/>
          <p:nvPr/>
        </p:nvSpPr>
        <p:spPr>
          <a:xfrm>
            <a:off x="7892057" y="3705176"/>
            <a:ext cx="492369" cy="3215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DF7E1419-C123-2FC0-A449-77AF261CFC0E}"/>
                  </a:ext>
                </a:extLst>
              </p:cNvPr>
              <p:cNvSpPr txBox="1"/>
              <p:nvPr/>
            </p:nvSpPr>
            <p:spPr>
              <a:xfrm>
                <a:off x="1655422" y="5773974"/>
                <a:ext cx="4097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DF7E1419-C123-2FC0-A449-77AF261CF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422" y="5773974"/>
                <a:ext cx="409702" cy="400110"/>
              </a:xfrm>
              <a:prstGeom prst="rect">
                <a:avLst/>
              </a:prstGeom>
              <a:blipFill>
                <a:blip r:embed="rId16"/>
                <a:stretch>
                  <a:fillRect t="-18182" r="-283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CaixaDeTexto 75">
            <a:extLst>
              <a:ext uri="{FF2B5EF4-FFF2-40B4-BE49-F238E27FC236}">
                <a16:creationId xmlns:a16="http://schemas.microsoft.com/office/drawing/2014/main" id="{7563D581-A816-9B62-CA88-E74B70FB3D6B}"/>
              </a:ext>
            </a:extLst>
          </p:cNvPr>
          <p:cNvSpPr txBox="1"/>
          <p:nvPr/>
        </p:nvSpPr>
        <p:spPr>
          <a:xfrm>
            <a:off x="6505940" y="5495566"/>
            <a:ext cx="4030638" cy="107721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pt-BR" sz="1600" b="0" u="none" strike="noStrike" dirty="0">
                <a:effectLst/>
                <a:latin typeface="Google Sans"/>
              </a:rPr>
              <a:t>Mais adiante veremos como somar dois vetores </a:t>
            </a:r>
            <a:r>
              <a:rPr lang="pt-BR" sz="1600" b="1" u="none" strike="noStrike" dirty="0">
                <a:effectLst/>
                <a:latin typeface="Google Sans"/>
              </a:rPr>
              <a:t>não perpendiculares</a:t>
            </a:r>
            <a:r>
              <a:rPr lang="pt-BR" sz="1600" dirty="0">
                <a:latin typeface="Google Sans"/>
              </a:rPr>
              <a:t>, usando método algébrico por componentes ou </a:t>
            </a:r>
            <a:r>
              <a:rPr lang="pt-BR" sz="1600" b="0" u="none" strike="noStrike" dirty="0">
                <a:effectLst/>
                <a:latin typeface="Google Sans"/>
              </a:rPr>
              <a:t>o método </a:t>
            </a:r>
            <a:r>
              <a:rPr lang="pt-BR" sz="1600" b="1" u="none" strike="noStrike" dirty="0">
                <a:effectLst/>
                <a:latin typeface="Google Sans"/>
              </a:rPr>
              <a:t>trigonométrico</a:t>
            </a:r>
            <a:r>
              <a:rPr lang="pt-BR" sz="1600" b="0" u="none" strike="noStrike" dirty="0">
                <a:effectLst/>
                <a:latin typeface="Google Sans"/>
              </a:rPr>
              <a:t> usando a Lei dos Cossenos.</a:t>
            </a:r>
          </a:p>
        </p:txBody>
      </p:sp>
    </p:spTree>
    <p:extLst>
      <p:ext uri="{BB962C8B-B14F-4D97-AF65-F5344CB8AC3E}">
        <p14:creationId xmlns:p14="http://schemas.microsoft.com/office/powerpoint/2010/main" val="343893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43" grpId="0"/>
      <p:bldP spid="45" grpId="0"/>
      <p:bldP spid="46" grpId="0"/>
      <p:bldP spid="48" grpId="0"/>
      <p:bldP spid="50" grpId="0"/>
      <p:bldP spid="44" grpId="0"/>
      <p:bldP spid="67" grpId="0"/>
      <p:bldP spid="71" grpId="0"/>
      <p:bldP spid="73" grpId="0" animBg="1"/>
      <p:bldP spid="74" grpId="0"/>
      <p:bldP spid="7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ECF9B-6B76-6B73-195C-9891491A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C9B8E43B-055C-A286-31A9-B2A89AF26F7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60000" y="3600000"/>
            <a:ext cx="3240000" cy="3240000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A54E5E61-A23A-D9D7-9422-9788C3B6E346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0151EA30-5D5E-3B07-A8B8-892A711B0781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7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6AB9400F-E5C2-FCBA-C2E6-B39E2B7F32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8C6CDFFC-8179-5887-FA78-0CFFEBCDC7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357562" imgH="316504" progId="Word.Picture.8">
                  <p:embed/>
                </p:oleObj>
              </mc:Choice>
              <mc:Fallback>
                <p:oleObj name="Picture" r:id="rId4" imgW="357562" imgH="316504" progId="Word.Picture.8">
                  <p:embed/>
                  <p:pic>
                    <p:nvPicPr>
                      <p:cNvPr id="12" name="Objeto 11">
                        <a:extLst>
                          <a:ext uri="{FF2B5EF4-FFF2-40B4-BE49-F238E27FC236}">
                            <a16:creationId xmlns:a16="http://schemas.microsoft.com/office/drawing/2014/main" id="{A15F3841-09BE-206F-E4E7-76996745C1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to 45">
            <a:extLst>
              <a:ext uri="{FF2B5EF4-FFF2-40B4-BE49-F238E27FC236}">
                <a16:creationId xmlns:a16="http://schemas.microsoft.com/office/drawing/2014/main" id="{1D405611-0918-0388-E5F6-3C6441C9EE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111668" y="-105251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357562" imgH="316504" progId="Word.Picture.8">
                  <p:embed/>
                </p:oleObj>
              </mc:Choice>
              <mc:Fallback>
                <p:oleObj name="Picture" r:id="rId4" imgW="357562" imgH="316504" progId="Word.Picture.8">
                  <p:embed/>
                  <p:pic>
                    <p:nvPicPr>
                      <p:cNvPr id="46" name="Objeto 45">
                        <a:extLst>
                          <a:ext uri="{FF2B5EF4-FFF2-40B4-BE49-F238E27FC236}">
                            <a16:creationId xmlns:a16="http://schemas.microsoft.com/office/drawing/2014/main" id="{E4803BCD-F746-40C9-E96E-8449700FCA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11668" y="-105251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C458CD53-2C1B-0D74-94E5-42A65CF96A36}"/>
              </a:ext>
            </a:extLst>
          </p:cNvPr>
          <p:cNvSpPr txBox="1"/>
          <p:nvPr/>
        </p:nvSpPr>
        <p:spPr>
          <a:xfrm>
            <a:off x="111713" y="464956"/>
            <a:ext cx="11822140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Ressaltamos que a subtração de vetores não é definida. A expressão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 – u 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 ser entendida como a adição do vetor v com o oposto de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u, 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isto é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 – u = v + (- u)</a:t>
            </a:r>
            <a:r>
              <a:rPr lang="pt-BR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5D25C6C-5B4B-38EF-F429-9519591769B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5501"/>
          <a:stretch>
            <a:fillRect/>
          </a:stretch>
        </p:blipFill>
        <p:spPr>
          <a:xfrm>
            <a:off x="3956662" y="965007"/>
            <a:ext cx="4589400" cy="19305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C461B1B6-14B9-831E-FAE0-19B9B4A060A1}"/>
                  </a:ext>
                </a:extLst>
              </p:cNvPr>
              <p:cNvSpPr txBox="1"/>
              <p:nvPr/>
            </p:nvSpPr>
            <p:spPr>
              <a:xfrm>
                <a:off x="315191" y="2629646"/>
                <a:ext cx="1774866" cy="39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VETORES NO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C461B1B6-14B9-831E-FAE0-19B9B4A06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91" y="2629646"/>
                <a:ext cx="1774866" cy="395558"/>
              </a:xfrm>
              <a:prstGeom prst="rect">
                <a:avLst/>
              </a:prstGeom>
              <a:blipFill>
                <a:blip r:embed="rId7"/>
                <a:stretch>
                  <a:fillRect l="-3093" b="-246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5854257-02F0-F51D-47A6-C020E4E28421}"/>
                  </a:ext>
                </a:extLst>
              </p:cNvPr>
              <p:cNvSpPr txBox="1"/>
              <p:nvPr/>
            </p:nvSpPr>
            <p:spPr>
              <a:xfrm>
                <a:off x="315191" y="2995639"/>
                <a:ext cx="11618662" cy="929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Um 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definido por um par ordenado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(x, y)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 números reais. Na representação desse vetor no sistema de coordenadas cartesianas no plano fica subentendido que sua origem é a própria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origem do sistema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e sua extremidade é o ponto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(x, y)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Os números reais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são chamados de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componentes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ou coordenadas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BR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5854257-02F0-F51D-47A6-C020E4E28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91" y="2995639"/>
                <a:ext cx="11618662" cy="929550"/>
              </a:xfrm>
              <a:prstGeom prst="rect">
                <a:avLst/>
              </a:prstGeom>
              <a:blipFill>
                <a:blip r:embed="rId8"/>
                <a:stretch>
                  <a:fillRect l="-472" t="-2614" r="-420" b="-91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31B4BED-5555-A4F8-C582-76615682583E}"/>
              </a:ext>
            </a:extLst>
          </p:cNvPr>
          <p:cNvCxnSpPr/>
          <p:nvPr/>
        </p:nvCxnSpPr>
        <p:spPr>
          <a:xfrm flipV="1">
            <a:off x="6571488" y="4206240"/>
            <a:ext cx="0" cy="195838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8E0EF365-516F-E7A7-DA3D-5D3E77E28142}"/>
              </a:ext>
            </a:extLst>
          </p:cNvPr>
          <p:cNvCxnSpPr/>
          <p:nvPr/>
        </p:nvCxnSpPr>
        <p:spPr>
          <a:xfrm>
            <a:off x="4608576" y="4206240"/>
            <a:ext cx="1962912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15216E3C-9A84-DBC0-B3C3-9053686D77BC}"/>
              </a:ext>
            </a:extLst>
          </p:cNvPr>
          <p:cNvCxnSpPr/>
          <p:nvPr/>
        </p:nvCxnSpPr>
        <p:spPr>
          <a:xfrm flipV="1">
            <a:off x="4608576" y="4206240"/>
            <a:ext cx="1962912" cy="19583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85780412-18AB-6CB7-119F-F39A5C037FD2}"/>
                  </a:ext>
                </a:extLst>
              </p:cNvPr>
              <p:cNvSpPr txBox="1"/>
              <p:nvPr/>
            </p:nvSpPr>
            <p:spPr>
              <a:xfrm>
                <a:off x="5375149" y="4785320"/>
                <a:ext cx="4097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85780412-18AB-6CB7-119F-F39A5C03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149" y="4785320"/>
                <a:ext cx="409702" cy="400110"/>
              </a:xfrm>
              <a:prstGeom prst="rect">
                <a:avLst/>
              </a:prstGeom>
              <a:blipFill>
                <a:blip r:embed="rId9"/>
                <a:stretch>
                  <a:fillRect t="-18182" r="-283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9E5E463B-FF07-ED80-0D6E-7ADB24F4F66E}"/>
                  </a:ext>
                </a:extLst>
              </p:cNvPr>
              <p:cNvSpPr txBox="1"/>
              <p:nvPr/>
            </p:nvSpPr>
            <p:spPr>
              <a:xfrm>
                <a:off x="3818541" y="6164620"/>
                <a:ext cx="62036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𝑶𝒓𝒊𝒈𝒆𝒎</m:t>
                      </m:r>
                    </m:oMath>
                  </m:oMathPara>
                </a14:m>
                <a:endParaRPr lang="pt-BR" sz="1200" b="1" dirty="0"/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9E5E463B-FF07-ED80-0D6E-7ADB24F4F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541" y="6164620"/>
                <a:ext cx="620362" cy="184666"/>
              </a:xfrm>
              <a:prstGeom prst="rect">
                <a:avLst/>
              </a:prstGeom>
              <a:blipFill>
                <a:blip r:embed="rId10"/>
                <a:stretch>
                  <a:fillRect l="-7843" r="-6863" b="-290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E8649C40-5756-817F-4E52-87FCBB6360D7}"/>
              </a:ext>
            </a:extLst>
          </p:cNvPr>
          <p:cNvCxnSpPr>
            <a:cxnSpLocks/>
          </p:cNvCxnSpPr>
          <p:nvPr/>
        </p:nvCxnSpPr>
        <p:spPr>
          <a:xfrm>
            <a:off x="3818541" y="6164620"/>
            <a:ext cx="722955" cy="0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BE383D22-9B28-062A-A360-19A58DCAA6EB}"/>
                  </a:ext>
                </a:extLst>
              </p:cNvPr>
              <p:cNvSpPr txBox="1"/>
              <p:nvPr/>
            </p:nvSpPr>
            <p:spPr>
              <a:xfrm>
                <a:off x="6638568" y="4260603"/>
                <a:ext cx="103714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𝑬𝒙𝒕𝒓𝒆𝒎𝒊𝒅𝒂𝒅𝒆</m:t>
                      </m:r>
                    </m:oMath>
                  </m:oMathPara>
                </a14:m>
                <a:endParaRPr lang="pt-BR" sz="1200" b="1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BE383D22-9B28-062A-A360-19A58DCAA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568" y="4260603"/>
                <a:ext cx="1037142" cy="184666"/>
              </a:xfrm>
              <a:prstGeom prst="rect">
                <a:avLst/>
              </a:prstGeom>
              <a:blipFill>
                <a:blip r:embed="rId11"/>
                <a:stretch>
                  <a:fillRect l="-3529" t="-3333" r="-3529" b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1AF9EF6F-DB4F-50AD-F065-35F2217CF86A}"/>
              </a:ext>
            </a:extLst>
          </p:cNvPr>
          <p:cNvCxnSpPr>
            <a:cxnSpLocks/>
          </p:cNvCxnSpPr>
          <p:nvPr/>
        </p:nvCxnSpPr>
        <p:spPr>
          <a:xfrm flipH="1">
            <a:off x="6638568" y="4248016"/>
            <a:ext cx="1043622" cy="0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04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7" grpId="0"/>
      <p:bldP spid="26" grpId="0"/>
      <p:bldP spid="30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BF2E33FE-E6B5-91EB-3A52-352774E955BE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67188034-D9E1-DE5C-EFB6-B939B2F355BE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AD9AE8A6-2F4F-D941-25D4-948D06629D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868AE77A-49FC-332E-1C5F-C9BE154C0A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700896"/>
              </p:ext>
            </p:extLst>
          </p:nvPr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35" name="Objeto 34">
                        <a:extLst>
                          <a:ext uri="{FF2B5EF4-FFF2-40B4-BE49-F238E27FC236}">
                            <a16:creationId xmlns:a16="http://schemas.microsoft.com/office/drawing/2014/main" id="{C67CC495-6D65-6CDF-606D-9ECE3ABB6F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2C081D47-B1BD-4A18-6BC8-F88DB78AEA78}"/>
              </a:ext>
            </a:extLst>
          </p:cNvPr>
          <p:cNvSpPr txBox="1"/>
          <p:nvPr/>
        </p:nvSpPr>
        <p:spPr>
          <a:xfrm>
            <a:off x="809296" y="284956"/>
            <a:ext cx="79983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MAGNITUDE</a:t>
            </a:r>
            <a:r>
              <a:rPr lang="pt-B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COMPRIMENTO</a:t>
            </a:r>
            <a:r>
              <a:rPr lang="pt-B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MÓDULO</a:t>
            </a:r>
            <a:r>
              <a:rPr lang="pt-B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DE UM VETOR</a:t>
            </a:r>
            <a:endParaRPr lang="pt-B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DF625A2-3580-8DDD-B502-4E952F0D7A3D}"/>
                  </a:ext>
                </a:extLst>
              </p:cNvPr>
              <p:cNvSpPr txBox="1"/>
              <p:nvPr/>
            </p:nvSpPr>
            <p:spPr>
              <a:xfrm>
                <a:off x="111713" y="746621"/>
                <a:ext cx="11754466" cy="77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Dado um 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denotaremos sua magnitude (comprimento ou módulo) por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pt-BR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</m:oMath>
                </a14:m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Em particular, 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0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pt-BR" sz="2000" b="1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sz="2000" b="1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pt-BR" sz="2000" b="1" i="1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BR" sz="2000" b="1" i="1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pt-BR" sz="2000" b="1" dirty="0">
                    <a:solidFill>
                      <a:schemeClr val="accent5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dizemos que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é um </a:t>
                </a:r>
                <a:r>
                  <a:rPr lang="pt-BR" sz="2000" b="1" dirty="0">
                    <a:solidFill>
                      <a:schemeClr val="accent5">
                        <a:lumMod val="50000"/>
                      </a:schemeClr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vetor unitário </a:t>
                </a:r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 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0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pt-BR" sz="20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sz="20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pt-BR" sz="20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BR" sz="20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dizemos que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é o </a:t>
                </a:r>
                <a:r>
                  <a:rPr lang="pt-BR" sz="2000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vetor nulo</a:t>
                </a:r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denotado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  <m:r>
                      <a:rPr lang="pt-BR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DF625A2-3580-8DDD-B502-4E952F0D7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3" y="746621"/>
                <a:ext cx="11754466" cy="778675"/>
              </a:xfrm>
              <a:prstGeom prst="rect">
                <a:avLst/>
              </a:prstGeom>
              <a:blipFill>
                <a:blip r:embed="rId5"/>
                <a:stretch>
                  <a:fillRect l="-518" t="-781" b="-132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21C54BA-0B89-9EF5-CE79-83F72BE5FB7B}"/>
                  </a:ext>
                </a:extLst>
              </p:cNvPr>
              <p:cNvSpPr txBox="1"/>
              <p:nvPr/>
            </p:nvSpPr>
            <p:spPr>
              <a:xfrm>
                <a:off x="2397500" y="1641335"/>
                <a:ext cx="3106407" cy="1208279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magnitude ou módulo do 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denotado |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|, é o </a:t>
                </a:r>
                <a:r>
                  <a:rPr lang="pt-BR" sz="16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comprimento</a:t>
                </a:r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do segmento orientado. Logo, pelo Teorema de Pitágoras:	</a:t>
                </a:r>
                <a:endParaRPr lang="pt-BR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21C54BA-0B89-9EF5-CE79-83F72BE5F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500" y="1641335"/>
                <a:ext cx="3106407" cy="1208279"/>
              </a:xfrm>
              <a:prstGeom prst="rect">
                <a:avLst/>
              </a:prstGeom>
              <a:blipFill>
                <a:blip r:embed="rId6"/>
                <a:stretch>
                  <a:fillRect l="-781" r="-781" b="-5500"/>
                </a:stretch>
              </a:blipFill>
              <a:ln w="952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C994A1DF-FA23-E927-AA38-91E2E0DD4D51}"/>
              </a:ext>
            </a:extLst>
          </p:cNvPr>
          <p:cNvSpPr/>
          <p:nvPr/>
        </p:nvSpPr>
        <p:spPr>
          <a:xfrm>
            <a:off x="5690863" y="1990653"/>
            <a:ext cx="830424" cy="3733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525F98D-7EA2-1E03-4196-A17971567E2F}"/>
                  </a:ext>
                </a:extLst>
              </p:cNvPr>
              <p:cNvSpPr txBox="1"/>
              <p:nvPr/>
            </p:nvSpPr>
            <p:spPr>
              <a:xfrm>
                <a:off x="6521287" y="1915426"/>
                <a:ext cx="1740159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</m:d>
                      <m:r>
                        <a:rPr lang="pt-BR" b="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525F98D-7EA2-1E03-4196-A17971567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287" y="1915426"/>
                <a:ext cx="1740159" cy="427746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m 10">
            <a:extLst>
              <a:ext uri="{FF2B5EF4-FFF2-40B4-BE49-F238E27FC236}">
                <a16:creationId xmlns:a16="http://schemas.microsoft.com/office/drawing/2014/main" id="{F630AFEA-0FBB-F85B-27BA-61E3AA096E6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21" y="1469709"/>
            <a:ext cx="2071679" cy="18166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BFBFA38-781B-97C5-74F9-DAC67E193A23}"/>
                  </a:ext>
                </a:extLst>
              </p:cNvPr>
              <p:cNvSpPr txBox="1"/>
              <p:nvPr/>
            </p:nvSpPr>
            <p:spPr>
              <a:xfrm>
                <a:off x="111713" y="3256796"/>
                <a:ext cx="4641157" cy="39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Exemplo 1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O vetor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=(−4,3)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tem módulo: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BFBFA38-781B-97C5-74F9-DAC67E193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3" y="3256796"/>
                <a:ext cx="4641157" cy="391454"/>
              </a:xfrm>
              <a:prstGeom prst="rect">
                <a:avLst/>
              </a:prstGeom>
              <a:blipFill>
                <a:blip r:embed="rId9"/>
                <a:stretch>
                  <a:fillRect l="-1050" t="-1563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9E7A295A-8BC7-9AB3-B34E-3D256B456515}"/>
                  </a:ext>
                </a:extLst>
              </p:cNvPr>
              <p:cNvSpPr txBox="1"/>
              <p:nvPr/>
            </p:nvSpPr>
            <p:spPr>
              <a:xfrm>
                <a:off x="2330009" y="4447498"/>
                <a:ext cx="3391210" cy="390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pt-BR" sz="1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</m:d>
                      <m:r>
                        <a:rPr lang="pt-BR" sz="1600" b="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1600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sz="1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16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600" b="0" i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16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600" b="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16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600" b="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pt-BR" sz="16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pt-BR" sz="1600" b="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1600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600" b="0" i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pt-BR" sz="16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6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pt-BR" sz="1600" b="1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9E7A295A-8BC7-9AB3-B34E-3D256B456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009" y="4447498"/>
                <a:ext cx="3391210" cy="39049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m 15">
            <a:extLst>
              <a:ext uri="{FF2B5EF4-FFF2-40B4-BE49-F238E27FC236}">
                <a16:creationId xmlns:a16="http://schemas.microsoft.com/office/drawing/2014/main" id="{DF3C7F86-965A-D24D-445B-A3BEC3321EC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144"/>
          <a:stretch>
            <a:fillRect/>
          </a:stretch>
        </p:blipFill>
        <p:spPr>
          <a:xfrm>
            <a:off x="25002" y="3735722"/>
            <a:ext cx="2771314" cy="2050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7D716EB2-EE52-2A0A-58E0-9D4636C0A65B}"/>
                  </a:ext>
                </a:extLst>
              </p:cNvPr>
              <p:cNvSpPr txBox="1"/>
              <p:nvPr/>
            </p:nvSpPr>
            <p:spPr>
              <a:xfrm>
                <a:off x="5997991" y="3065142"/>
                <a:ext cx="5125963" cy="583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Exemplo 2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pt-BR" dirty="0"/>
                  <a:t>O vetor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rad>
                          </m:num>
                          <m:den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pt-BR" b="1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rad>
                          </m:num>
                          <m:den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é unitário, pois:</a:t>
                </a:r>
                <a:endParaRPr lang="pt-BR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7D716EB2-EE52-2A0A-58E0-9D4636C0A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991" y="3065142"/>
                <a:ext cx="5125963" cy="583108"/>
              </a:xfrm>
              <a:prstGeom prst="rect">
                <a:avLst/>
              </a:prstGeom>
              <a:blipFill>
                <a:blip r:embed="rId12"/>
                <a:stretch>
                  <a:fillRect l="-10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Imagem 18">
            <a:extLst>
              <a:ext uri="{FF2B5EF4-FFF2-40B4-BE49-F238E27FC236}">
                <a16:creationId xmlns:a16="http://schemas.microsoft.com/office/drawing/2014/main" id="{F2709AA0-A047-8BAF-467E-9E1151FAEE6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39"/>
          <a:stretch>
            <a:fillRect/>
          </a:stretch>
        </p:blipFill>
        <p:spPr>
          <a:xfrm>
            <a:off x="9357991" y="3562754"/>
            <a:ext cx="2602991" cy="24298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83019355-4C80-8616-BAEE-CD204D4142DC}"/>
                  </a:ext>
                </a:extLst>
              </p:cNvPr>
              <p:cNvSpPr txBox="1"/>
              <p:nvPr/>
            </p:nvSpPr>
            <p:spPr>
              <a:xfrm>
                <a:off x="6433088" y="4245907"/>
                <a:ext cx="3006992" cy="819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pt-BR" sz="16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pt-BR" sz="16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pt-BR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pt-BR" sz="16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pt-BR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pt-BR" sz="1600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83019355-4C80-8616-BAEE-CD204D414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088" y="4245907"/>
                <a:ext cx="3006992" cy="8198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DCCBA5B6-17B2-5037-B0AF-5DCE6A751B3A}"/>
              </a:ext>
            </a:extLst>
          </p:cNvPr>
          <p:cNvSpPr/>
          <p:nvPr/>
        </p:nvSpPr>
        <p:spPr>
          <a:xfrm>
            <a:off x="2088103" y="4469140"/>
            <a:ext cx="483813" cy="3733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a Direita 22">
            <a:extLst>
              <a:ext uri="{FF2B5EF4-FFF2-40B4-BE49-F238E27FC236}">
                <a16:creationId xmlns:a16="http://schemas.microsoft.com/office/drawing/2014/main" id="{F4440849-2C54-653F-16F1-A3998EECA6A2}"/>
              </a:ext>
            </a:extLst>
          </p:cNvPr>
          <p:cNvSpPr/>
          <p:nvPr/>
        </p:nvSpPr>
        <p:spPr>
          <a:xfrm rot="10800000">
            <a:off x="9357991" y="4447498"/>
            <a:ext cx="504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5A3D0368-B9EB-1BAE-2A19-82A0B0569681}"/>
              </a:ext>
            </a:extLst>
          </p:cNvPr>
          <p:cNvCxnSpPr/>
          <p:nvPr/>
        </p:nvCxnSpPr>
        <p:spPr>
          <a:xfrm>
            <a:off x="5757709" y="3316521"/>
            <a:ext cx="0" cy="24996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95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 animBg="1"/>
      <p:bldP spid="9" grpId="0" animBg="1"/>
      <p:bldP spid="10" grpId="0"/>
      <p:bldP spid="13" grpId="0"/>
      <p:bldP spid="15" grpId="0"/>
      <p:bldP spid="18" grpId="0"/>
      <p:bldP spid="21" grpId="0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71DF7-2D03-F218-D8F9-CDFF556DB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67E03344-26C1-AA73-A399-6B89A64E4E34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A6D423F4-9FB1-BAE6-5FB5-53E532AF336E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4CE6CA7E-19CA-A4C3-0235-B68900207B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BCC8F61-F95B-3223-EDCA-6EEBE7FED5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868AE77A-49FC-332E-1C5F-C9BE154C0A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25054E85-8762-6E1F-9E2D-39CDC2C0E1CE}"/>
                  </a:ext>
                </a:extLst>
              </p:cNvPr>
              <p:cNvSpPr txBox="1"/>
              <p:nvPr/>
            </p:nvSpPr>
            <p:spPr>
              <a:xfrm>
                <a:off x="111713" y="574498"/>
                <a:ext cx="11443891" cy="7100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Dois vetores são iguais se suas respectivas componentes são iguais, isto é, dados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acc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temos que: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</m:t>
                    </m:r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se e somente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25054E85-8762-6E1F-9E2D-39CDC2C0E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3" y="574498"/>
                <a:ext cx="11443891" cy="710003"/>
              </a:xfrm>
              <a:prstGeom prst="rect">
                <a:avLst/>
              </a:prstGeom>
              <a:blipFill>
                <a:blip r:embed="rId5"/>
                <a:stretch>
                  <a:fillRect l="-426" t="-8547" r="-426" b="-128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aixaDeTexto 19">
            <a:extLst>
              <a:ext uri="{FF2B5EF4-FFF2-40B4-BE49-F238E27FC236}">
                <a16:creationId xmlns:a16="http://schemas.microsoft.com/office/drawing/2014/main" id="{F85C1512-835F-7DAB-74FA-92F3E32F984B}"/>
              </a:ext>
            </a:extLst>
          </p:cNvPr>
          <p:cNvSpPr txBox="1"/>
          <p:nvPr/>
        </p:nvSpPr>
        <p:spPr>
          <a:xfrm>
            <a:off x="4685044" y="53048"/>
            <a:ext cx="320291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IGUALDADE DE VETORES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C756D0A4-C202-E2FF-40DA-4BF366EF593C}"/>
                  </a:ext>
                </a:extLst>
              </p:cNvPr>
              <p:cNvSpPr txBox="1"/>
              <p:nvPr/>
            </p:nvSpPr>
            <p:spPr>
              <a:xfrm>
                <a:off x="111713" y="1661878"/>
                <a:ext cx="7526216" cy="39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Dados os vetores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acc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o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escalar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real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definem-se: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C756D0A4-C202-E2FF-40DA-4BF366EF5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3" y="1661878"/>
                <a:ext cx="7526216" cy="391454"/>
              </a:xfrm>
              <a:prstGeom prst="rect">
                <a:avLst/>
              </a:prstGeom>
              <a:blipFill>
                <a:blip r:embed="rId6"/>
                <a:stretch>
                  <a:fillRect l="-648" t="-15625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aixaDeTexto 27">
            <a:extLst>
              <a:ext uri="{FF2B5EF4-FFF2-40B4-BE49-F238E27FC236}">
                <a16:creationId xmlns:a16="http://schemas.microsoft.com/office/drawing/2014/main" id="{0818170E-FE96-ED28-EB93-A805494961FA}"/>
              </a:ext>
            </a:extLst>
          </p:cNvPr>
          <p:cNvSpPr txBox="1"/>
          <p:nvPr/>
        </p:nvSpPr>
        <p:spPr>
          <a:xfrm>
            <a:off x="3989195" y="1296243"/>
            <a:ext cx="4594609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ADIÇÃO E MULTIPLICAÇÃO POR ESCALAR.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6F18B1C2-C3ED-FEF2-481D-48B21A1CAACC}"/>
                  </a:ext>
                </a:extLst>
              </p:cNvPr>
              <p:cNvSpPr txBox="1"/>
              <p:nvPr/>
            </p:nvSpPr>
            <p:spPr>
              <a:xfrm>
                <a:off x="315191" y="2099121"/>
                <a:ext cx="3763107" cy="39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pt-BR" sz="18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⇒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Adição: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6F18B1C2-C3ED-FEF2-481D-48B21A1CA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91" y="2099121"/>
                <a:ext cx="3763107" cy="391454"/>
              </a:xfrm>
              <a:prstGeom prst="rect">
                <a:avLst/>
              </a:prstGeom>
              <a:blipFill>
                <a:blip r:embed="rId7"/>
                <a:stretch>
                  <a:fillRect l="-1459" t="-15385" r="-972" b="-230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218FF224-C341-E283-936D-080CF7DB5AFA}"/>
                  </a:ext>
                </a:extLst>
              </p:cNvPr>
              <p:cNvSpPr txBox="1"/>
              <p:nvPr/>
            </p:nvSpPr>
            <p:spPr>
              <a:xfrm>
                <a:off x="315191" y="2603734"/>
                <a:ext cx="4534395" cy="39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pt-BR" sz="18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⇒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Multiplicação por escalar: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𝛼</m:t>
                    </m:r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218FF224-C341-E283-936D-080CF7DB5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91" y="2603734"/>
                <a:ext cx="4534395" cy="391454"/>
              </a:xfrm>
              <a:prstGeom prst="rect">
                <a:avLst/>
              </a:prstGeom>
              <a:blipFill>
                <a:blip r:embed="rId8"/>
                <a:stretch>
                  <a:fillRect l="-1210" t="-15625" r="-269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386266FC-D062-AFE3-5815-3AF24450183D}"/>
                  </a:ext>
                </a:extLst>
              </p:cNvPr>
              <p:cNvSpPr txBox="1"/>
              <p:nvPr/>
            </p:nvSpPr>
            <p:spPr>
              <a:xfrm>
                <a:off x="285045" y="3545590"/>
                <a:ext cx="11682541" cy="1074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Dado um 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não nulo, isto é,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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0, o seu versor, denotado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𝒖</m:t>
                            </m:r>
                          </m:sub>
                        </m:sSub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é um </a:t>
                </a:r>
                <a:r>
                  <a:rPr lang="pt-BR" sz="1800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vetor unitário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que tem a mesma direção e sentido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O versor de um 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(x, y)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𝐑</m:t>
                        </m:r>
                      </m:e>
                      <m:sup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obtido multiplicando-se cada componente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pelo inverso de seu módulo |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|, isto é: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386266FC-D062-AFE3-5815-3AF244501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45" y="3545590"/>
                <a:ext cx="11682541" cy="1074397"/>
              </a:xfrm>
              <a:prstGeom prst="rect">
                <a:avLst/>
              </a:prstGeom>
              <a:blipFill>
                <a:blip r:embed="rId9"/>
                <a:stretch>
                  <a:fillRect l="-470" t="-2841" r="-418" b="-85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CaixaDeTexto 38">
            <a:extLst>
              <a:ext uri="{FF2B5EF4-FFF2-40B4-BE49-F238E27FC236}">
                <a16:creationId xmlns:a16="http://schemas.microsoft.com/office/drawing/2014/main" id="{8F886149-E3E9-BF11-B497-D692E7992403}"/>
              </a:ext>
            </a:extLst>
          </p:cNvPr>
          <p:cNvSpPr txBox="1"/>
          <p:nvPr/>
        </p:nvSpPr>
        <p:spPr>
          <a:xfrm>
            <a:off x="4366009" y="3003499"/>
            <a:ext cx="2306097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VERSOR DE VETOR.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49FED6D3-BB07-E734-09EA-59B164EF1020}"/>
                  </a:ext>
                </a:extLst>
              </p:cNvPr>
              <p:cNvSpPr txBox="1"/>
              <p:nvPr/>
            </p:nvSpPr>
            <p:spPr>
              <a:xfrm>
                <a:off x="1914211" y="4360053"/>
                <a:ext cx="6219930" cy="748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pt-BR" i="0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BR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pt-BR" i="0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pt-BR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pt-BR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49FED6D3-BB07-E734-09EA-59B164EF1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211" y="4360053"/>
                <a:ext cx="6219930" cy="74828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8BF3C7E-3D62-561F-1A0B-5880AD09010B}"/>
                  </a:ext>
                </a:extLst>
              </p:cNvPr>
              <p:cNvSpPr txBox="1"/>
              <p:nvPr/>
            </p:nvSpPr>
            <p:spPr>
              <a:xfrm>
                <a:off x="315190" y="5209810"/>
                <a:ext cx="11582057" cy="796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Observamos que o versor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obtido desta forma tem a mesma direção e o mesmo sentido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uma vez que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pt-BR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acc>
                              <m:accPr>
                                <m:chr m:val="⃗"/>
                                <m:ctrlPr>
                                  <a:rPr lang="pt-BR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1800" b="1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</m:acc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d>
                      </m:den>
                    </m:f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e também é unitário, pois:</a:t>
                </a:r>
                <a:endParaRPr lang="pt-BR" dirty="0"/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8BF3C7E-3D62-561F-1A0B-5880AD090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90" y="5209810"/>
                <a:ext cx="11582057" cy="796693"/>
              </a:xfrm>
              <a:prstGeom prst="rect">
                <a:avLst/>
              </a:prstGeom>
              <a:blipFill>
                <a:blip r:embed="rId11"/>
                <a:stretch>
                  <a:fillRect l="-474" t="-2308" b="-123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5FA9E580-38CA-1FE1-9BF5-45982EE6CA53}"/>
                  </a:ext>
                </a:extLst>
              </p:cNvPr>
              <p:cNvSpPr txBox="1"/>
              <p:nvPr/>
            </p:nvSpPr>
            <p:spPr>
              <a:xfrm>
                <a:off x="3376835" y="5720385"/>
                <a:ext cx="4284443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p>
                                            <m:sSup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pt-BR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p>
                                            <m:sSup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pt-BR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pt-BR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5FA9E580-38CA-1FE1-9BF5-45982EE6C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835" y="5720385"/>
                <a:ext cx="4284443" cy="9106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177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26" grpId="0"/>
      <p:bldP spid="28" grpId="0"/>
      <p:bldP spid="31" grpId="0"/>
      <p:bldP spid="33" grpId="0"/>
      <p:bldP spid="37" grpId="0"/>
      <p:bldP spid="39" grpId="0"/>
      <p:bldP spid="41" grpId="0"/>
      <p:bldP spid="43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A955-129A-98A5-3B46-0686D50F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m 48">
            <a:extLst>
              <a:ext uri="{FF2B5EF4-FFF2-40B4-BE49-F238E27FC236}">
                <a16:creationId xmlns:a16="http://schemas.microsoft.com/office/drawing/2014/main" id="{9A425DFC-86E2-E6D8-DAA5-030EC5ABA56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0000" y="2880000"/>
            <a:ext cx="3600000" cy="3600000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BDBFE7C6-35EE-7E80-DBBD-C0A2AFEF267F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0000" y="2880000"/>
            <a:ext cx="3600000" cy="3600000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0C3828A9-48D2-0EFA-01A1-7ABC28DA827D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0000" y="2880000"/>
            <a:ext cx="3600000" cy="3600000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885D2D39-B79F-5924-82BE-16BDD2A60A38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0000" y="2880000"/>
            <a:ext cx="3600000" cy="360000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92D337BD-F2D9-61D8-C122-26D212ECB770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0000" y="2880000"/>
            <a:ext cx="3600000" cy="360000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B1A818E-893A-139D-D5D7-342018E1BD37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0639B862-1359-D9FE-1C9F-E19934F74223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0CF30C4A-AE3C-7F06-9771-6293DC687D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AB9E383A-FD9C-4DC2-28BC-40C39A6C39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8" imgW="357562" imgH="316504" progId="Word.Picture.8">
                  <p:embed/>
                </p:oleObj>
              </mc:Choice>
              <mc:Fallback>
                <p:oleObj name="Picture" r:id="rId8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BCC8F61-F95B-3223-EDCA-6EEBE7FED5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3BFFAD22-1407-A82C-3492-6F3FC2752FA8}"/>
                  </a:ext>
                </a:extLst>
              </p:cNvPr>
              <p:cNvSpPr txBox="1"/>
              <p:nvPr/>
            </p:nvSpPr>
            <p:spPr>
              <a:xfrm>
                <a:off x="1047540" y="269229"/>
                <a:ext cx="7272495" cy="39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Além disso, qualquer 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(x, y) pode ser escrito na forma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|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3BFFAD22-1407-A82C-3492-6F3FC2752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540" y="269229"/>
                <a:ext cx="7272495" cy="391454"/>
              </a:xfrm>
              <a:prstGeom prst="rect">
                <a:avLst/>
              </a:prstGeom>
              <a:blipFill>
                <a:blip r:embed="rId10"/>
                <a:stretch>
                  <a:fillRect l="-754" t="-15625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095CD82F-EBFC-6C7C-4AC5-6CEA82D97FA7}"/>
                  </a:ext>
                </a:extLst>
              </p:cNvPr>
              <p:cNvSpPr txBox="1"/>
              <p:nvPr/>
            </p:nvSpPr>
            <p:spPr>
              <a:xfrm>
                <a:off x="2484455" y="823339"/>
                <a:ext cx="6094324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acc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pt-BR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pt-BR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095CD82F-EBFC-6C7C-4AC5-6CEA82D97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455" y="823339"/>
                <a:ext cx="6094324" cy="7146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AB28AF26-32FA-AEAF-F167-08582C40C9FC}"/>
                  </a:ext>
                </a:extLst>
              </p:cNvPr>
              <p:cNvSpPr txBox="1"/>
              <p:nvPr/>
            </p:nvSpPr>
            <p:spPr>
              <a:xfrm>
                <a:off x="111713" y="1583295"/>
                <a:ext cx="7173342" cy="410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Exemplo 3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Dado o vetor v = (3, 4) seu módulo vale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</m:d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9+16</m:t>
                        </m:r>
                      </m:e>
                    </m:rad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AB28AF26-32FA-AEAF-F167-08582C40C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3" y="1583295"/>
                <a:ext cx="7173342" cy="410882"/>
              </a:xfrm>
              <a:prstGeom prst="rect">
                <a:avLst/>
              </a:prstGeom>
              <a:blipFill>
                <a:blip r:embed="rId12"/>
                <a:stretch>
                  <a:fillRect l="-680" b="-238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7E91B074-9D4C-BF3A-7F2C-674DFF5AE022}"/>
                  </a:ext>
                </a:extLst>
              </p:cNvPr>
              <p:cNvSpPr txBox="1"/>
              <p:nvPr/>
            </p:nvSpPr>
            <p:spPr>
              <a:xfrm>
                <a:off x="3961563" y="2149491"/>
                <a:ext cx="4358472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Seu versor é o vetor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𝟓</m:t>
                        </m:r>
                      </m:den>
                    </m:f>
                    <m:d>
                      <m:d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</m:e>
                    </m:d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den>
                        </m:f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num>
                          <m:den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den>
                        </m:f>
                      </m:e>
                    </m:d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7E91B074-9D4C-BF3A-7F2C-674DFF5AE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563" y="2149491"/>
                <a:ext cx="4358472" cy="506870"/>
              </a:xfrm>
              <a:prstGeom prst="rect">
                <a:avLst/>
              </a:prstGeom>
              <a:blipFill>
                <a:blip r:embed="rId13"/>
                <a:stretch>
                  <a:fillRect l="-1259" b="-60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9A530E-9BD0-A158-A5D8-D7CF25B8D170}"/>
              </a:ext>
            </a:extLst>
          </p:cNvPr>
          <p:cNvSpPr txBox="1"/>
          <p:nvPr/>
        </p:nvSpPr>
        <p:spPr>
          <a:xfrm>
            <a:off x="203480" y="2720709"/>
            <a:ext cx="3758083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VETOR DEFINIDO POR DOIS PONTOS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BE7EC7C8-E49D-86EA-188E-626790887286}"/>
                  </a:ext>
                </a:extLst>
              </p:cNvPr>
              <p:cNvSpPr txBox="1"/>
              <p:nvPr/>
            </p:nvSpPr>
            <p:spPr>
              <a:xfrm>
                <a:off x="203480" y="3073646"/>
                <a:ext cx="7463412" cy="39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Dois pontos  </a:t>
                </a:r>
                <a14:m>
                  <m:oMath xmlns:m="http://schemas.openxmlformats.org/officeDocument/2006/math"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do plano cartesiano definem dois vetores: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BE7EC7C8-E49D-86EA-188E-626790887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80" y="3073646"/>
                <a:ext cx="7463412" cy="391454"/>
              </a:xfrm>
              <a:prstGeom prst="rect">
                <a:avLst/>
              </a:prstGeom>
              <a:blipFill>
                <a:blip r:embed="rId14"/>
                <a:stretch>
                  <a:fillRect l="-653" t="-1563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5DEEE51-264B-E35E-52B2-DE883D48153A}"/>
                  </a:ext>
                </a:extLst>
              </p:cNvPr>
              <p:cNvSpPr txBox="1"/>
              <p:nvPr/>
            </p:nvSpPr>
            <p:spPr>
              <a:xfrm>
                <a:off x="315192" y="3530153"/>
                <a:ext cx="4659932" cy="11101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pt-BR" sz="18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⇒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cuja origem é o ponto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a extremidade é o ponto </a:t>
                </a:r>
                <a:r>
                  <a:rPr lang="pt-BR" sz="1800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também denotado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dado por: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𝑨𝑩</m:t>
                        </m:r>
                      </m:e>
                    </m:acc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pt-BR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5DEEE51-264B-E35E-52B2-DE883D481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92" y="3530153"/>
                <a:ext cx="4659932" cy="1110112"/>
              </a:xfrm>
              <a:prstGeom prst="rect">
                <a:avLst/>
              </a:prstGeom>
              <a:blipFill>
                <a:blip r:embed="rId15"/>
                <a:stretch>
                  <a:fillRect l="-1178" r="-1047" b="-71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9136F71-0A41-5684-1AAF-E357075CF913}"/>
                  </a:ext>
                </a:extLst>
              </p:cNvPr>
              <p:cNvSpPr txBox="1"/>
              <p:nvPr/>
            </p:nvSpPr>
            <p:spPr>
              <a:xfrm>
                <a:off x="390849" y="4884983"/>
                <a:ext cx="4659932" cy="1098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pt-BR" sz="18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⇒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𝑩𝑨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cuja origem é o ponto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a extremidade é o ponto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também denotado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𝑩𝑨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dado por: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𝑩𝑨</m:t>
                        </m:r>
                      </m:e>
                    </m:acc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pt-BR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pt-BR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9136F71-0A41-5684-1AAF-E357075CF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49" y="4884983"/>
                <a:ext cx="4659932" cy="1098827"/>
              </a:xfrm>
              <a:prstGeom prst="rect">
                <a:avLst/>
              </a:prstGeom>
              <a:blipFill>
                <a:blip r:embed="rId16"/>
                <a:stretch>
                  <a:fillRect l="-1046" r="-1046" b="-77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m 11">
            <a:extLst>
              <a:ext uri="{FF2B5EF4-FFF2-40B4-BE49-F238E27FC236}">
                <a16:creationId xmlns:a16="http://schemas.microsoft.com/office/drawing/2014/main" id="{20A42D6C-3552-A605-8928-C638C975539E}"/>
              </a:ext>
            </a:extLst>
          </p:cNvPr>
          <p:cNvPicPr preferRelativeResize="0">
            <a:picLocks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0000" y="2880000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3C08146-0212-B49F-6469-A5CE99EEBA38}"/>
                  </a:ext>
                </a:extLst>
              </p:cNvPr>
              <p:cNvSpPr txBox="1"/>
              <p:nvPr/>
            </p:nvSpPr>
            <p:spPr>
              <a:xfrm>
                <a:off x="8889739" y="5340875"/>
                <a:ext cx="7421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3C08146-0212-B49F-6469-A5CE99EEB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739" y="5340875"/>
                <a:ext cx="74215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DB36CF82-38EA-4D38-69E9-70A90FC24F5B}"/>
                  </a:ext>
                </a:extLst>
              </p:cNvPr>
              <p:cNvSpPr txBox="1"/>
              <p:nvPr/>
            </p:nvSpPr>
            <p:spPr>
              <a:xfrm>
                <a:off x="8166130" y="4200441"/>
                <a:ext cx="5239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DB36CF82-38EA-4D38-69E9-70A90FC24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130" y="4200441"/>
                <a:ext cx="523946" cy="369332"/>
              </a:xfrm>
              <a:prstGeom prst="rect">
                <a:avLst/>
              </a:prstGeom>
              <a:blipFill>
                <a:blip r:embed="rId1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DED65FE-0DC5-E3B5-297D-8946D734E1C7}"/>
                  </a:ext>
                </a:extLst>
              </p:cNvPr>
              <p:cNvSpPr txBox="1"/>
              <p:nvPr/>
            </p:nvSpPr>
            <p:spPr>
              <a:xfrm>
                <a:off x="8952770" y="4085209"/>
                <a:ext cx="3080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DED65FE-0DC5-E3B5-297D-8946D734E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770" y="4085209"/>
                <a:ext cx="308046" cy="369332"/>
              </a:xfrm>
              <a:prstGeom prst="rect">
                <a:avLst/>
              </a:prstGeom>
              <a:blipFill>
                <a:blip r:embed="rId20"/>
                <a:stretch>
                  <a:fillRect r="-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Seta: para Baixo 30">
            <a:extLst>
              <a:ext uri="{FF2B5EF4-FFF2-40B4-BE49-F238E27FC236}">
                <a16:creationId xmlns:a16="http://schemas.microsoft.com/office/drawing/2014/main" id="{E39E5DB2-D0F9-F307-56D9-5FD90669E87A}"/>
              </a:ext>
            </a:extLst>
          </p:cNvPr>
          <p:cNvSpPr/>
          <p:nvPr/>
        </p:nvSpPr>
        <p:spPr>
          <a:xfrm rot="19433785">
            <a:off x="7652999" y="3286019"/>
            <a:ext cx="308046" cy="6826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86310048-E3D7-4B4C-3DF8-2343CB361BE3}"/>
                  </a:ext>
                </a:extLst>
              </p:cNvPr>
              <p:cNvSpPr txBox="1"/>
              <p:nvPr/>
            </p:nvSpPr>
            <p:spPr>
              <a:xfrm>
                <a:off x="8057026" y="4670430"/>
                <a:ext cx="7421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86310048-E3D7-4B4C-3DF8-2343CB361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026" y="4670430"/>
                <a:ext cx="742154" cy="369332"/>
              </a:xfrm>
              <a:prstGeom prst="rect">
                <a:avLst/>
              </a:prstGeom>
              <a:blipFill>
                <a:blip r:embed="rId2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224B52C4-57BE-411B-8338-225ABD3BFC9D}"/>
                  </a:ext>
                </a:extLst>
              </p:cNvPr>
              <p:cNvSpPr txBox="1"/>
              <p:nvPr/>
            </p:nvSpPr>
            <p:spPr>
              <a:xfrm>
                <a:off x="9384468" y="5340875"/>
                <a:ext cx="7421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224B52C4-57BE-411B-8338-225ABD3BF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468" y="5340875"/>
                <a:ext cx="742154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A93757F9-9817-E3E1-D87A-96464F0CC676}"/>
                  </a:ext>
                </a:extLst>
              </p:cNvPr>
              <p:cNvSpPr txBox="1"/>
              <p:nvPr/>
            </p:nvSpPr>
            <p:spPr>
              <a:xfrm>
                <a:off x="9601522" y="4640265"/>
                <a:ext cx="3080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A93757F9-9817-E3E1-D87A-96464F0CC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522" y="4640265"/>
                <a:ext cx="308046" cy="369332"/>
              </a:xfrm>
              <a:prstGeom prst="rect">
                <a:avLst/>
              </a:prstGeom>
              <a:blipFill>
                <a:blip r:embed="rId23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eta: para a Direita 37">
            <a:extLst>
              <a:ext uri="{FF2B5EF4-FFF2-40B4-BE49-F238E27FC236}">
                <a16:creationId xmlns:a16="http://schemas.microsoft.com/office/drawing/2014/main" id="{0D972BA3-8DC6-968E-BDFB-EF312AE5346A}"/>
              </a:ext>
            </a:extLst>
          </p:cNvPr>
          <p:cNvSpPr/>
          <p:nvPr/>
        </p:nvSpPr>
        <p:spPr>
          <a:xfrm>
            <a:off x="5007240" y="4043756"/>
            <a:ext cx="2166097" cy="391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797E9D5D-8247-9F82-4C24-FE291F6841D6}"/>
                  </a:ext>
                </a:extLst>
              </p:cNvPr>
              <p:cNvSpPr txBox="1"/>
              <p:nvPr/>
            </p:nvSpPr>
            <p:spPr>
              <a:xfrm>
                <a:off x="9078977" y="5731963"/>
                <a:ext cx="308046" cy="403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797E9D5D-8247-9F82-4C24-FE291F684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8977" y="5731963"/>
                <a:ext cx="308046" cy="403765"/>
              </a:xfrm>
              <a:prstGeom prst="rect">
                <a:avLst/>
              </a:prstGeom>
              <a:blipFill>
                <a:blip r:embed="rId24"/>
                <a:stretch>
                  <a:fillRect r="-588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Seta: para a Direita 43">
            <a:extLst>
              <a:ext uri="{FF2B5EF4-FFF2-40B4-BE49-F238E27FC236}">
                <a16:creationId xmlns:a16="http://schemas.microsoft.com/office/drawing/2014/main" id="{F4C06881-179B-D12A-3516-0C7165605BAE}"/>
              </a:ext>
            </a:extLst>
          </p:cNvPr>
          <p:cNvSpPr/>
          <p:nvPr/>
        </p:nvSpPr>
        <p:spPr>
          <a:xfrm>
            <a:off x="5050781" y="5238669"/>
            <a:ext cx="2166097" cy="391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57498A6E-82C0-09C9-2119-4C85721654B0}"/>
                  </a:ext>
                </a:extLst>
              </p:cNvPr>
              <p:cNvSpPr txBox="1"/>
              <p:nvPr/>
            </p:nvSpPr>
            <p:spPr>
              <a:xfrm>
                <a:off x="7820143" y="4538858"/>
                <a:ext cx="395223" cy="403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𝑩𝑨</m:t>
                        </m:r>
                      </m:e>
                    </m:acc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57498A6E-82C0-09C9-2119-4C8572165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143" y="4538858"/>
                <a:ext cx="395223" cy="403765"/>
              </a:xfrm>
              <a:prstGeom prst="rect">
                <a:avLst/>
              </a:prstGeom>
              <a:blipFill>
                <a:blip r:embed="rId25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Imagem 46">
            <a:extLst>
              <a:ext uri="{FF2B5EF4-FFF2-40B4-BE49-F238E27FC236}">
                <a16:creationId xmlns:a16="http://schemas.microsoft.com/office/drawing/2014/main" id="{50F297BE-AF9D-2891-0ED4-85D83EAC31E0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0000" y="2880000"/>
            <a:ext cx="3600000" cy="3600000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538B3BE3-2E55-F3A2-BE03-56D92B97FB5E}"/>
              </a:ext>
            </a:extLst>
          </p:cNvPr>
          <p:cNvPicPr preferRelativeResize="0">
            <a:picLocks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60000" y="2880000"/>
            <a:ext cx="3600000" cy="3600000"/>
          </a:xfrm>
          <a:prstGeom prst="rect">
            <a:avLst/>
          </a:prstGeom>
        </p:spPr>
      </p:pic>
      <p:sp>
        <p:nvSpPr>
          <p:cNvPr id="52" name="Retângulo 51">
            <a:extLst>
              <a:ext uri="{FF2B5EF4-FFF2-40B4-BE49-F238E27FC236}">
                <a16:creationId xmlns:a16="http://schemas.microsoft.com/office/drawing/2014/main" id="{9B8A0FB1-0B9F-B93E-A50C-B3E9E8405930}"/>
              </a:ext>
            </a:extLst>
          </p:cNvPr>
          <p:cNvSpPr/>
          <p:nvPr/>
        </p:nvSpPr>
        <p:spPr>
          <a:xfrm>
            <a:off x="5050781" y="6159967"/>
            <a:ext cx="1882247" cy="46166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>
            <a:spAutoFit/>
          </a:bodyPr>
          <a:lstStyle/>
          <a:p>
            <a:r>
              <a:rPr lang="pt-BR" sz="2400" b="1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Exemplo...</a:t>
            </a:r>
            <a:endParaRPr lang="pt-BR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95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6" grpId="0"/>
      <p:bldP spid="18" grpId="0"/>
      <p:bldP spid="21" grpId="0"/>
      <p:bldP spid="8" grpId="0"/>
      <p:bldP spid="25" grpId="0"/>
      <p:bldP spid="27" grpId="0"/>
      <p:bldP spid="28" grpId="0"/>
      <p:bldP spid="31" grpId="0" animBg="1"/>
      <p:bldP spid="31" grpId="1" animBg="1"/>
      <p:bldP spid="34" grpId="0"/>
      <p:bldP spid="35" grpId="0"/>
      <p:bldP spid="37" grpId="0"/>
      <p:bldP spid="38" grpId="0" animBg="1"/>
      <p:bldP spid="38" grpId="1" animBg="1"/>
      <p:bldP spid="39" grpId="0"/>
      <p:bldP spid="44" grpId="0" animBg="1"/>
      <p:bldP spid="44" grpId="1" animBg="1"/>
      <p:bldP spid="45" grpId="0"/>
      <p:bldP spid="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05E4B-50E5-81D6-CA30-06E52072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m 45">
            <a:extLst>
              <a:ext uri="{FF2B5EF4-FFF2-40B4-BE49-F238E27FC236}">
                <a16:creationId xmlns:a16="http://schemas.microsoft.com/office/drawing/2014/main" id="{EAEBA7B3-0401-ECEB-57E6-E44CED4F800D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3546" y="1027045"/>
            <a:ext cx="5040000" cy="5040000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9DAD386C-7A42-F497-DB7E-F1C42B96E466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3546" y="1027045"/>
            <a:ext cx="5040000" cy="5040000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0612A42B-D212-9DF0-3709-4CF026326EE1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3546" y="1027045"/>
            <a:ext cx="5040000" cy="50400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CDCB1A1-787F-DFA6-CCC0-4F70DB371347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3546" y="1027045"/>
            <a:ext cx="5040000" cy="504000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0BA2FD3-CEF7-3245-6767-EDEF1FBF07CE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50E29489-2F90-CA22-B98E-12C7F7F70739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A63ADC03-0CF7-53E8-5042-65F6C5A08BB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92635D3E-5A13-8FD1-384B-9084B6C574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7" imgW="357562" imgH="316504" progId="Word.Picture.8">
                  <p:embed/>
                </p:oleObj>
              </mc:Choice>
              <mc:Fallback>
                <p:oleObj name="Picture" r:id="rId7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AB9E383A-FD9C-4DC2-28BC-40C39A6C39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74B99A34-47D6-526E-8673-74CDD01777B7}"/>
              </a:ext>
            </a:extLst>
          </p:cNvPr>
          <p:cNvSpPr txBox="1"/>
          <p:nvPr/>
        </p:nvSpPr>
        <p:spPr>
          <a:xfrm>
            <a:off x="865238" y="197212"/>
            <a:ext cx="60960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 4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Os pontos A (-2, 1) e B (2, 4) definem o vetor: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0E0CAAAB-CAA5-7930-F984-EDC619421A3D}"/>
                  </a:ext>
                </a:extLst>
              </p:cNvPr>
              <p:cNvSpPr txBox="1"/>
              <p:nvPr/>
            </p:nvSpPr>
            <p:spPr>
              <a:xfrm>
                <a:off x="6165821" y="913549"/>
                <a:ext cx="3460955" cy="404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acc>
                      <m:r>
                        <a:rPr lang="pt-BR" b="1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pt-BR" b="1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pt-BR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pt-BR" b="1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0E0CAAAB-CAA5-7930-F984-EDC619421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821" y="913549"/>
                <a:ext cx="3460955" cy="40479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Imagem 18">
            <a:extLst>
              <a:ext uri="{FF2B5EF4-FFF2-40B4-BE49-F238E27FC236}">
                <a16:creationId xmlns:a16="http://schemas.microsoft.com/office/drawing/2014/main" id="{0FD7CB5A-6737-16FA-37CF-2784DBAF2546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3546" y="1027045"/>
            <a:ext cx="5040000" cy="50400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AE3C98A8-537C-E1FF-C7FC-F1C47FB81897}"/>
              </a:ext>
            </a:extLst>
          </p:cNvPr>
          <p:cNvPicPr preferRelativeResize="0">
            <a:picLocks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3546" y="1027045"/>
            <a:ext cx="5040000" cy="50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DEFFEA02-E30D-10BD-6D0C-5C19AA6D0B78}"/>
                  </a:ext>
                </a:extLst>
              </p:cNvPr>
              <p:cNvSpPr txBox="1"/>
              <p:nvPr/>
            </p:nvSpPr>
            <p:spPr>
              <a:xfrm>
                <a:off x="1611699" y="3833610"/>
                <a:ext cx="3080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DEFFEA02-E30D-10BD-6D0C-5C19AA6D0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699" y="3833610"/>
                <a:ext cx="308046" cy="369332"/>
              </a:xfrm>
              <a:prstGeom prst="rect">
                <a:avLst/>
              </a:prstGeom>
              <a:blipFill>
                <a:blip r:embed="rId12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E06E353-7A1C-295E-4DAB-0ED98A98AC78}"/>
                  </a:ext>
                </a:extLst>
              </p:cNvPr>
              <p:cNvSpPr txBox="1"/>
              <p:nvPr/>
            </p:nvSpPr>
            <p:spPr>
              <a:xfrm>
                <a:off x="4586776" y="1115945"/>
                <a:ext cx="3080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E06E353-7A1C-295E-4DAB-0ED98A98A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776" y="1115945"/>
                <a:ext cx="308046" cy="369332"/>
              </a:xfrm>
              <a:prstGeom prst="rect">
                <a:avLst/>
              </a:prstGeom>
              <a:blipFill>
                <a:blip r:embed="rId13"/>
                <a:stretch>
                  <a:fillRect r="-98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13E345E7-2CCA-9929-9207-AAA4EBD49714}"/>
                  </a:ext>
                </a:extLst>
              </p:cNvPr>
              <p:cNvSpPr txBox="1"/>
              <p:nvPr/>
            </p:nvSpPr>
            <p:spPr>
              <a:xfrm>
                <a:off x="6138084" y="2007294"/>
                <a:ext cx="308046" cy="403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13E345E7-2CCA-9929-9207-AAA4EBD49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084" y="2007294"/>
                <a:ext cx="308046" cy="403765"/>
              </a:xfrm>
              <a:prstGeom prst="rect">
                <a:avLst/>
              </a:prstGeom>
              <a:blipFill>
                <a:blip r:embed="rId14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CaixaDeTexto 53">
            <a:extLst>
              <a:ext uri="{FF2B5EF4-FFF2-40B4-BE49-F238E27FC236}">
                <a16:creationId xmlns:a16="http://schemas.microsoft.com/office/drawing/2014/main" id="{CF57FE54-2A9A-9251-18D9-AEF2BCE9FC03}"/>
              </a:ext>
            </a:extLst>
          </p:cNvPr>
          <p:cNvSpPr txBox="1"/>
          <p:nvPr/>
        </p:nvSpPr>
        <p:spPr>
          <a:xfrm>
            <a:off x="6373761" y="2973864"/>
            <a:ext cx="3697003" cy="954107"/>
          </a:xfrm>
          <a:prstGeom prst="borderCallout2">
            <a:avLst>
              <a:gd name="adj1" fmla="val 201"/>
              <a:gd name="adj2" fmla="val 49113"/>
              <a:gd name="adj3" fmla="val -46172"/>
              <a:gd name="adj4" fmla="val 49023"/>
              <a:gd name="adj5" fmla="val -46199"/>
              <a:gd name="adj6" fmla="val 7321"/>
            </a:avLst>
          </a:prstGeom>
          <a:solidFill>
            <a:srgbClr val="FF0000"/>
          </a:solidFill>
          <a:ln w="28575">
            <a:solidFill>
              <a:srgbClr val="FF0000"/>
            </a:solidFill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Observamos que o vetor com origem no ponto </a:t>
            </a:r>
            <a:r>
              <a:rPr lang="pt-BR" sz="1400" b="1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A(-2,1) </a:t>
            </a:r>
            <a:r>
              <a:rPr lang="pt-BR" sz="1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extremidade no ponto </a:t>
            </a:r>
            <a:r>
              <a:rPr lang="pt-BR" sz="1400" b="1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B(2,4) </a:t>
            </a:r>
            <a:r>
              <a:rPr lang="pt-BR" sz="1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 equivalente ao vetor com origem no ponto </a:t>
            </a:r>
            <a:r>
              <a:rPr lang="pt-BR" sz="1400" b="1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(0,0) </a:t>
            </a:r>
            <a:r>
              <a:rPr lang="pt-BR" sz="1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extremidade no ponto </a:t>
            </a:r>
            <a:r>
              <a:rPr lang="pt-BR" sz="1400" b="1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(4,3).</a:t>
            </a:r>
            <a:endParaRPr lang="pt-BR" sz="1400" b="1" i="1" dirty="0">
              <a:solidFill>
                <a:schemeClr val="bg1"/>
              </a:solidFill>
            </a:endParaRPr>
          </a:p>
        </p:txBody>
      </p:sp>
      <p:sp>
        <p:nvSpPr>
          <p:cNvPr id="55" name="Seta: para Baixo 54">
            <a:extLst>
              <a:ext uri="{FF2B5EF4-FFF2-40B4-BE49-F238E27FC236}">
                <a16:creationId xmlns:a16="http://schemas.microsoft.com/office/drawing/2014/main" id="{0D6DCA88-A58F-C2B0-29DD-707115E8F9BB}"/>
              </a:ext>
            </a:extLst>
          </p:cNvPr>
          <p:cNvSpPr/>
          <p:nvPr/>
        </p:nvSpPr>
        <p:spPr>
          <a:xfrm rot="2611340">
            <a:off x="6647186" y="1209697"/>
            <a:ext cx="227125" cy="8847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6" name="Imagem 55">
            <a:extLst>
              <a:ext uri="{FF2B5EF4-FFF2-40B4-BE49-F238E27FC236}">
                <a16:creationId xmlns:a16="http://schemas.microsoft.com/office/drawing/2014/main" id="{FAD6C643-D517-E439-4C42-40880E74363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108" y="2358438"/>
            <a:ext cx="308046" cy="30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9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23" grpId="0"/>
      <p:bldP spid="29" grpId="0"/>
      <p:bldP spid="40" grpId="0"/>
      <p:bldP spid="54" grpId="0" animBg="1"/>
      <p:bldP spid="54" grpId="1" animBg="1"/>
      <p:bldP spid="55" grpId="0" animBg="1"/>
      <p:bldP spid="5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097C-6447-0725-D140-2093FEA6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8A93F1A9-BCE2-2A11-24DB-E11D95AA84BE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9F2530B0-CC07-FB76-FDA7-3CCF8CAA33F8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163D93F9-7D7F-4492-C993-1001878284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2FD7E442-FB8A-EDD3-F723-B8E7969097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92635D3E-5A13-8FD1-384B-9084B6C574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45EEF22D-1BA9-D161-B108-79FF1A7CBE08}"/>
              </a:ext>
            </a:extLst>
          </p:cNvPr>
          <p:cNvSpPr txBox="1"/>
          <p:nvPr/>
        </p:nvSpPr>
        <p:spPr>
          <a:xfrm>
            <a:off x="629263" y="137706"/>
            <a:ext cx="4198375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COMBINAÇÃO LINEAR DE VETORES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CCB78DF-11A6-0D9B-82D8-9D5E7ADE4306}"/>
                  </a:ext>
                </a:extLst>
              </p:cNvPr>
              <p:cNvSpPr txBox="1"/>
              <p:nvPr/>
            </p:nvSpPr>
            <p:spPr>
              <a:xfrm>
                <a:off x="111713" y="563207"/>
                <a:ext cx="7586945" cy="12857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Uma combinação linear dos vetores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pt-BR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pt-BR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pt-BR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</m:t>
                    </m:r>
                    <m:sSub>
                      <m:sSubPr>
                        <m:ctrlPr>
                          <a:rPr lang="pt-B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pt-BR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 </a:t>
                </a:r>
                <a:r>
                  <a:rPr lang="pt-BR" sz="18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ℝ</a:t>
                </a:r>
                <a:r>
                  <a:rPr lang="pt-BR" sz="1800" b="1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2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 um vetor da forma: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𝑽</m:t>
                      </m:r>
                      <m:r>
                        <a:rPr lang="pt-B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t-B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pt-B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,</m:t>
                      </m:r>
                    </m:oMath>
                  </m:oMathPara>
                </a14:m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Em que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pt-BR" sz="1800" b="1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α</a:t>
                </a:r>
                <a:r>
                  <a:rPr lang="pt-BR" sz="1800" b="1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...α</a:t>
                </a:r>
                <a:r>
                  <a:rPr lang="pt-BR" sz="1800" b="1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são escalares (constantes) reais.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CCB78DF-11A6-0D9B-82D8-9D5E7ADE4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3" y="563207"/>
                <a:ext cx="7586945" cy="1285737"/>
              </a:xfrm>
              <a:prstGeom prst="rect">
                <a:avLst/>
              </a:prstGeom>
              <a:blipFill>
                <a:blip r:embed="rId5"/>
                <a:stretch>
                  <a:fillRect l="-643" t="-1422" r="-241" b="-66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355D47E-D0DC-9FE6-6921-B4E26077FD3A}"/>
                  </a:ext>
                </a:extLst>
              </p:cNvPr>
              <p:cNvSpPr txBox="1"/>
              <p:nvPr/>
            </p:nvSpPr>
            <p:spPr>
              <a:xfrm>
                <a:off x="111712" y="1919443"/>
                <a:ext cx="8560339" cy="39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Exemplo 5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Dados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−1, 3</m:t>
                        </m:r>
                      </m:e>
                    </m:d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2, −2</m:t>
                        </m:r>
                      </m:e>
                    </m:d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=(4, 1)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determine </a:t>
                </a:r>
                <a14:m>
                  <m:oMath xmlns:m="http://schemas.openxmlformats.org/officeDocument/2006/math"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𝟑</m:t>
                    </m:r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𝟓</m:t>
                    </m:r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pt-B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355D47E-D0DC-9FE6-6921-B4E26077F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2" y="1919443"/>
                <a:ext cx="8560339" cy="391454"/>
              </a:xfrm>
              <a:prstGeom prst="rect">
                <a:avLst/>
              </a:prstGeom>
              <a:blipFill>
                <a:blip r:embed="rId6"/>
                <a:stretch>
                  <a:fillRect l="-569" t="-3125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8E7F058-302C-CE64-BBBA-BEAE0E471F0D}"/>
                  </a:ext>
                </a:extLst>
              </p:cNvPr>
              <p:cNvSpPr txBox="1"/>
              <p:nvPr/>
            </p:nvSpPr>
            <p:spPr>
              <a:xfrm>
                <a:off x="245807" y="2535629"/>
                <a:ext cx="81116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, −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−5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−2, 6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6, −6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−20, −5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(−16, −5)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8E7F058-302C-CE64-BBBA-BEAE0E471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07" y="2535629"/>
                <a:ext cx="8111612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53ECC87B-F37A-34EA-9F7A-231609E0FD62}"/>
              </a:ext>
            </a:extLst>
          </p:cNvPr>
          <p:cNvSpPr/>
          <p:nvPr/>
        </p:nvSpPr>
        <p:spPr>
          <a:xfrm>
            <a:off x="7039897" y="2535629"/>
            <a:ext cx="1150374" cy="39145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F1D6149F-DF77-5B24-B91A-4D4E66E90DD9}"/>
                  </a:ext>
                </a:extLst>
              </p:cNvPr>
              <p:cNvSpPr txBox="1"/>
              <p:nvPr/>
            </p:nvSpPr>
            <p:spPr>
              <a:xfrm>
                <a:off x="111711" y="3105834"/>
                <a:ext cx="82457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Exemplo 6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Dados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</m:d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−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determine os escalares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pt-BR" sz="1800" b="1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pt-BR" sz="1800" b="1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tais que: </a:t>
                </a:r>
                <a:endParaRPr lang="pt-BR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F1D6149F-DF77-5B24-B91A-4D4E66E90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1" y="3105834"/>
                <a:ext cx="8245707" cy="369332"/>
              </a:xfrm>
              <a:prstGeom prst="rect">
                <a:avLst/>
              </a:prstGeom>
              <a:blipFill>
                <a:blip r:embed="rId8"/>
                <a:stretch>
                  <a:fillRect l="-591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91257364-624E-498A-8673-19AD40E68325}"/>
                  </a:ext>
                </a:extLst>
              </p:cNvPr>
              <p:cNvSpPr txBox="1"/>
              <p:nvPr/>
            </p:nvSpPr>
            <p:spPr>
              <a:xfrm>
                <a:off x="3905185" y="3491373"/>
                <a:ext cx="22515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t-BR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pt-BR" b="1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pt-BR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pt-BR" b="1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91257364-624E-498A-8673-19AD40E68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185" y="3491373"/>
                <a:ext cx="225158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aixaDeTexto 27">
            <a:extLst>
              <a:ext uri="{FF2B5EF4-FFF2-40B4-BE49-F238E27FC236}">
                <a16:creationId xmlns:a16="http://schemas.microsoft.com/office/drawing/2014/main" id="{6DCD65E8-A1D6-08C6-3AD2-B5114BD876AA}"/>
              </a:ext>
            </a:extLst>
          </p:cNvPr>
          <p:cNvSpPr txBox="1"/>
          <p:nvPr/>
        </p:nvSpPr>
        <p:spPr>
          <a:xfrm>
            <a:off x="111711" y="3700304"/>
            <a:ext cx="881347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Temos: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C02707AD-B694-79FC-7CA4-8EC735D31AFA}"/>
                  </a:ext>
                </a:extLst>
              </p:cNvPr>
              <p:cNvSpPr txBox="1"/>
              <p:nvPr/>
            </p:nvSpPr>
            <p:spPr>
              <a:xfrm>
                <a:off x="508137" y="3970865"/>
                <a:ext cx="81116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1, 2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2, −1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,2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pt-BR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pt-BR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pt-BR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pt-BR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−1,8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C02707AD-B694-79FC-7CA4-8EC735D31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37" y="3970865"/>
                <a:ext cx="81116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aixaDeTexto 32">
            <a:extLst>
              <a:ext uri="{FF2B5EF4-FFF2-40B4-BE49-F238E27FC236}">
                <a16:creationId xmlns:a16="http://schemas.microsoft.com/office/drawing/2014/main" id="{871AFCB3-782A-A308-AA72-2A99401DB01C}"/>
              </a:ext>
            </a:extLst>
          </p:cNvPr>
          <p:cNvSpPr txBox="1"/>
          <p:nvPr/>
        </p:nvSpPr>
        <p:spPr>
          <a:xfrm>
            <a:off x="245807" y="4547390"/>
            <a:ext cx="4807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igualdade de vetores nos leva ao sistema linear: 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2AAAB00C-D236-9BB4-0E69-A59B9B935CC9}"/>
                  </a:ext>
                </a:extLst>
              </p:cNvPr>
              <p:cNvSpPr txBox="1"/>
              <p:nvPr/>
            </p:nvSpPr>
            <p:spPr>
              <a:xfrm>
                <a:off x="4957917" y="4425228"/>
                <a:ext cx="1777180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pt-BR" b="1" i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pt-BR" b="1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1" i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pt-BR" b="1" i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pt-BR" b="1" i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pt-BR" b="1" i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1" i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pt-BR" b="1" i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pt-BR" b="1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pt-BR" b="1" i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pt-BR" b="1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b="1" i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2AAAB00C-D236-9BB4-0E69-A59B9B935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917" y="4425228"/>
                <a:ext cx="1777180" cy="7101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B14A6353-E4A4-1FFB-EF85-CA14AE3185CD}"/>
                  </a:ext>
                </a:extLst>
              </p:cNvPr>
              <p:cNvSpPr txBox="1"/>
              <p:nvPr/>
            </p:nvSpPr>
            <p:spPr>
              <a:xfrm>
                <a:off x="6652751" y="4525268"/>
                <a:ext cx="3409334" cy="39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Bef>
                    <a:spcPts val="1200"/>
                  </a:spcBef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cuja solução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endParaRPr lang="pt-BR" sz="18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B14A6353-E4A4-1FFB-EF85-CA14AE31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751" y="4525268"/>
                <a:ext cx="3409334" cy="391454"/>
              </a:xfrm>
              <a:prstGeom prst="rect">
                <a:avLst/>
              </a:prstGeom>
              <a:blipFill>
                <a:blip r:embed="rId12"/>
                <a:stretch>
                  <a:fillRect l="-1429" t="-1538" b="-230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Agrupar 44">
            <a:extLst>
              <a:ext uri="{FF2B5EF4-FFF2-40B4-BE49-F238E27FC236}">
                <a16:creationId xmlns:a16="http://schemas.microsoft.com/office/drawing/2014/main" id="{33568537-D642-4DD6-F444-26AE2E691E9B}"/>
              </a:ext>
            </a:extLst>
          </p:cNvPr>
          <p:cNvGrpSpPr/>
          <p:nvPr/>
        </p:nvGrpSpPr>
        <p:grpSpPr>
          <a:xfrm>
            <a:off x="8229599" y="4916722"/>
            <a:ext cx="570272" cy="44246"/>
            <a:chOff x="8229599" y="4916722"/>
            <a:chExt cx="570272" cy="44246"/>
          </a:xfrm>
        </p:grpSpPr>
        <p:cxnSp>
          <p:nvCxnSpPr>
            <p:cNvPr id="41" name="Conector reto 40">
              <a:extLst>
                <a:ext uri="{FF2B5EF4-FFF2-40B4-BE49-F238E27FC236}">
                  <a16:creationId xmlns:a16="http://schemas.microsoft.com/office/drawing/2014/main" id="{B0319BA2-430E-56E2-62BD-E1EED4221EEE}"/>
                </a:ext>
              </a:extLst>
            </p:cNvPr>
            <p:cNvCxnSpPr>
              <a:cxnSpLocks/>
            </p:cNvCxnSpPr>
            <p:nvPr/>
          </p:nvCxnSpPr>
          <p:spPr>
            <a:xfrm>
              <a:off x="8229599" y="4916722"/>
              <a:ext cx="56044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to 43">
              <a:extLst>
                <a:ext uri="{FF2B5EF4-FFF2-40B4-BE49-F238E27FC236}">
                  <a16:creationId xmlns:a16="http://schemas.microsoft.com/office/drawing/2014/main" id="{69135149-601D-C692-F637-2F52CF194C04}"/>
                </a:ext>
              </a:extLst>
            </p:cNvPr>
            <p:cNvCxnSpPr>
              <a:cxnSpLocks/>
            </p:cNvCxnSpPr>
            <p:nvPr/>
          </p:nvCxnSpPr>
          <p:spPr>
            <a:xfrm>
              <a:off x="8239431" y="4960968"/>
              <a:ext cx="56044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4A6BD84A-6099-1A00-1E61-E06A2E21FE04}"/>
              </a:ext>
            </a:extLst>
          </p:cNvPr>
          <p:cNvGrpSpPr/>
          <p:nvPr/>
        </p:nvGrpSpPr>
        <p:grpSpPr>
          <a:xfrm>
            <a:off x="9217740" y="4916722"/>
            <a:ext cx="570272" cy="44246"/>
            <a:chOff x="8229599" y="4916722"/>
            <a:chExt cx="570272" cy="44246"/>
          </a:xfrm>
        </p:grpSpPr>
        <p:cxnSp>
          <p:nvCxnSpPr>
            <p:cNvPr id="48" name="Conector reto 47">
              <a:extLst>
                <a:ext uri="{FF2B5EF4-FFF2-40B4-BE49-F238E27FC236}">
                  <a16:creationId xmlns:a16="http://schemas.microsoft.com/office/drawing/2014/main" id="{E1A08D2A-E126-F0DE-0472-DAEC243716B4}"/>
                </a:ext>
              </a:extLst>
            </p:cNvPr>
            <p:cNvCxnSpPr>
              <a:cxnSpLocks/>
            </p:cNvCxnSpPr>
            <p:nvPr/>
          </p:nvCxnSpPr>
          <p:spPr>
            <a:xfrm>
              <a:off x="8229599" y="4916722"/>
              <a:ext cx="56044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to 48">
              <a:extLst>
                <a:ext uri="{FF2B5EF4-FFF2-40B4-BE49-F238E27FC236}">
                  <a16:creationId xmlns:a16="http://schemas.microsoft.com/office/drawing/2014/main" id="{7BE9CC9E-A2CE-90D9-1223-4CEC75F8F373}"/>
                </a:ext>
              </a:extLst>
            </p:cNvPr>
            <p:cNvCxnSpPr>
              <a:cxnSpLocks/>
            </p:cNvCxnSpPr>
            <p:nvPr/>
          </p:nvCxnSpPr>
          <p:spPr>
            <a:xfrm>
              <a:off x="8239431" y="4960968"/>
              <a:ext cx="56044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E1B0160-7F6C-8C8A-1805-A6355C20E6F0}"/>
              </a:ext>
            </a:extLst>
          </p:cNvPr>
          <p:cNvSpPr txBox="1"/>
          <p:nvPr/>
        </p:nvSpPr>
        <p:spPr>
          <a:xfrm>
            <a:off x="4648200" y="5111726"/>
            <a:ext cx="283414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Vamos malhar um pouco...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0326B67B-4110-B2D2-7F73-FEC27FDB8065}"/>
                  </a:ext>
                </a:extLst>
              </p:cNvPr>
              <p:cNvSpPr txBox="1"/>
              <p:nvPr/>
            </p:nvSpPr>
            <p:spPr>
              <a:xfrm>
                <a:off x="245807" y="5371649"/>
                <a:ext cx="4198374" cy="39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❶ Encontre os escalares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tais que: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0326B67B-4110-B2D2-7F73-FEC27FDB8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07" y="5371649"/>
                <a:ext cx="4198374" cy="391454"/>
              </a:xfrm>
              <a:prstGeom prst="rect">
                <a:avLst/>
              </a:prstGeom>
              <a:blipFill>
                <a:blip r:embed="rId13"/>
                <a:stretch>
                  <a:fillRect l="-1161" t="-1563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C80EED3B-3CFA-6E8E-D910-DB092CE7531B}"/>
                  </a:ext>
                </a:extLst>
              </p:cNvPr>
              <p:cNvSpPr txBox="1"/>
              <p:nvPr/>
            </p:nvSpPr>
            <p:spPr>
              <a:xfrm>
                <a:off x="937621" y="5815499"/>
                <a:ext cx="33183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pt-BR" sz="18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1, 2</m:t>
                          </m:r>
                        </m:e>
                      </m:d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2, −1</m:t>
                          </m:r>
                        </m:e>
                      </m:d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=(5, 0)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C80EED3B-3CFA-6E8E-D910-DB092CE75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21" y="5815499"/>
                <a:ext cx="3318386" cy="369332"/>
              </a:xfrm>
              <a:prstGeom prst="rect">
                <a:avLst/>
              </a:prstGeom>
              <a:blipFill>
                <a:blip r:embed="rId1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6DE104A8-638C-ACAE-39E1-1774FCA524B2}"/>
                  </a:ext>
                </a:extLst>
              </p:cNvPr>
              <p:cNvSpPr txBox="1"/>
              <p:nvPr/>
            </p:nvSpPr>
            <p:spPr>
              <a:xfrm>
                <a:off x="4452104" y="5848698"/>
                <a:ext cx="34093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pt-BR" sz="18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1,−1</m:t>
                          </m:r>
                        </m:e>
                      </m:d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3, 2</m:t>
                          </m:r>
                        </m:e>
                      </m:d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=(−1, 1)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6DE104A8-638C-ACAE-39E1-1774FCA52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104" y="5848698"/>
                <a:ext cx="3409334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8AC049E7-A69B-43F3-17EE-4D8ED3F7F73D}"/>
                  </a:ext>
                </a:extLst>
              </p:cNvPr>
              <p:cNvSpPr txBox="1"/>
              <p:nvPr/>
            </p:nvSpPr>
            <p:spPr>
              <a:xfrm>
                <a:off x="1656603" y="6235952"/>
                <a:ext cx="1880422" cy="468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𝑹</m:t>
                      </m:r>
                      <m:r>
                        <a:rPr lang="pt-BR" sz="1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𝒆</m:t>
                      </m:r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</m:oMath>
                  </m:oMathPara>
                </a14:m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8AC049E7-A69B-43F3-17EE-4D8ED3F7F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603" y="6235952"/>
                <a:ext cx="1880422" cy="46833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05B3BD2C-C10C-1D59-5238-0FA09DE83756}"/>
                  </a:ext>
                </a:extLst>
              </p:cNvPr>
              <p:cNvSpPr txBox="1"/>
              <p:nvPr/>
            </p:nvSpPr>
            <p:spPr>
              <a:xfrm>
                <a:off x="5108300" y="6235951"/>
                <a:ext cx="1975399" cy="468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𝑹</m:t>
                      </m:r>
                      <m:r>
                        <a:rPr lang="pt-BR" sz="1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𝒆</m:t>
                      </m:r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05B3BD2C-C10C-1D59-5238-0FA09DE83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300" y="6235951"/>
                <a:ext cx="1975399" cy="46833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9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  <p:bldP spid="17" grpId="0"/>
      <p:bldP spid="18" grpId="0" animBg="1"/>
      <p:bldP spid="21" grpId="0"/>
      <p:bldP spid="25" grpId="0"/>
      <p:bldP spid="28" grpId="0"/>
      <p:bldP spid="31" grpId="0"/>
      <p:bldP spid="33" grpId="0"/>
      <p:bldP spid="35" grpId="0"/>
      <p:bldP spid="38" grpId="0"/>
      <p:bldP spid="59" grpId="0"/>
      <p:bldP spid="61" grpId="0"/>
      <p:bldP spid="63" grpId="0"/>
      <p:bldP spid="65" grpId="0"/>
      <p:bldP spid="67" grpId="0"/>
      <p:bldP spid="6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E5F6C-07C8-1AD5-34B1-4AA267610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m 71">
            <a:extLst>
              <a:ext uri="{FF2B5EF4-FFF2-40B4-BE49-F238E27FC236}">
                <a16:creationId xmlns:a16="http://schemas.microsoft.com/office/drawing/2014/main" id="{DFC45223-8C49-DB24-0EEF-B2939BC48FCE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60000" y="4800778"/>
            <a:ext cx="1800000" cy="1800000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76EAF453-CA2B-7CA3-224A-17FB71D161D8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60000" y="1440000"/>
            <a:ext cx="3240000" cy="32400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4F88356E-EB72-A839-C66E-9F61B0B6CEA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48088" y="506101"/>
            <a:ext cx="3240000" cy="324000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6329018F-C307-33FD-FEEB-7F07549AFAA4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34078C6D-D9C8-69B7-1A4B-8612F3216906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C964ADB2-BC78-AB17-34C5-4830904B01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6F8344A3-3DBD-3E4A-6B04-6767359BC0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6" imgW="357562" imgH="316504" progId="Word.Picture.8">
                  <p:embed/>
                </p:oleObj>
              </mc:Choice>
              <mc:Fallback>
                <p:oleObj name="Picture" r:id="rId6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2FD7E442-FB8A-EDD3-F723-B8E7969097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AFFD9E83-9CB6-F1BD-DFBC-81CEC125F1A4}"/>
              </a:ext>
            </a:extLst>
          </p:cNvPr>
          <p:cNvSpPr txBox="1"/>
          <p:nvPr/>
        </p:nvSpPr>
        <p:spPr>
          <a:xfrm>
            <a:off x="904568" y="284956"/>
            <a:ext cx="3293806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VETORES UNITÁRIOS </a:t>
            </a:r>
            <a:r>
              <a:rPr lang="pt-BR" sz="20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1E62E35-C58B-01E7-ED23-A2AC28CEBFF0}"/>
                  </a:ext>
                </a:extLst>
              </p:cNvPr>
              <p:cNvSpPr txBox="1"/>
              <p:nvPr/>
            </p:nvSpPr>
            <p:spPr>
              <a:xfrm>
                <a:off x="274314" y="853021"/>
                <a:ext cx="4688331" cy="7100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Bef>
                    <a:spcPts val="1200"/>
                  </a:spcBef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Dois importantes vetores do </a:t>
                </a:r>
                <a:r>
                  <a:rPr lang="pt-BR" sz="18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ℝ</a:t>
                </a:r>
                <a:r>
                  <a:rPr lang="pt-BR" sz="1800" b="1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sz="1800" baseline="30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são os </a:t>
                </a:r>
                <a:r>
                  <a:rPr lang="pt-BR" sz="1800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vetores unitários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𝒊</m:t>
                    </m:r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  <m:r>
                      <a:rPr lang="pt-BR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pt-BR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𝒋</m:t>
                    </m:r>
                    <m:d>
                      <m:d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ilustrado a seguir. 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1E62E35-C58B-01E7-ED23-A2AC28CEB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14" y="853021"/>
                <a:ext cx="4688331" cy="710003"/>
              </a:xfrm>
              <a:prstGeom prst="rect">
                <a:avLst/>
              </a:prstGeom>
              <a:blipFill>
                <a:blip r:embed="rId8"/>
                <a:stretch>
                  <a:fillRect l="-1170" t="-3448" r="-1040" b="-137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3D31F44-4D9C-D7FE-BF6E-CE35CFCCB8A2}"/>
                  </a:ext>
                </a:extLst>
              </p:cNvPr>
              <p:cNvSpPr txBox="1"/>
              <p:nvPr/>
            </p:nvSpPr>
            <p:spPr>
              <a:xfrm>
                <a:off x="5348544" y="506101"/>
                <a:ext cx="5938888" cy="710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Bef>
                    <a:spcPts val="1200"/>
                  </a:spcBef>
                  <a:spcAft>
                    <a:spcPts val="1000"/>
                  </a:spcAft>
                  <a:buNone/>
                </a:pPr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Qualquer vetor </a:t>
                </a:r>
                <a14:m>
                  <m:oMath xmlns:m="http://schemas.openxmlformats.org/officeDocument/2006/math">
                    <m:r>
                      <a:rPr lang="pt-BR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𝑽</m:t>
                    </m:r>
                    <m:r>
                      <a:rPr lang="pt-BR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pt-BR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pt-BR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pt-BR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ℝ</a:t>
                </a:r>
                <a:r>
                  <a:rPr lang="pt-BR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pode ser escrito como uma </a:t>
                </a:r>
                <a:r>
                  <a:rPr lang="pt-BR" b="1" u="sn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combinação linear</a:t>
                </a:r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pt-BR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:r>
                  <a:rPr lang="pt-BR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pois:</a:t>
                </a:r>
                <a:endParaRPr lang="pt-BR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3D31F44-4D9C-D7FE-BF6E-CE35CFCCB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544" y="506101"/>
                <a:ext cx="5938888" cy="710707"/>
              </a:xfrm>
              <a:prstGeom prst="rect">
                <a:avLst/>
              </a:prstGeom>
              <a:blipFill>
                <a:blip r:embed="rId9"/>
                <a:stretch>
                  <a:fillRect l="-821" t="-2564" r="-821" b="-128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FCF5F52-5F94-69A8-7A4C-8A817577B497}"/>
                  </a:ext>
                </a:extLst>
              </p:cNvPr>
              <p:cNvSpPr txBox="1"/>
              <p:nvPr/>
            </p:nvSpPr>
            <p:spPr>
              <a:xfrm>
                <a:off x="3206543" y="2917438"/>
                <a:ext cx="2722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FCF5F52-5F94-69A8-7A4C-8A817577B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543" y="2917438"/>
                <a:ext cx="27229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9F46669-F630-4881-2FE4-6EB31D15D5CD}"/>
                  </a:ext>
                </a:extLst>
              </p:cNvPr>
              <p:cNvSpPr txBox="1"/>
              <p:nvPr/>
            </p:nvSpPr>
            <p:spPr>
              <a:xfrm>
                <a:off x="2330756" y="1890635"/>
                <a:ext cx="2722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𝒋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9F46669-F630-4881-2FE4-6EB31D15D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56" y="1890635"/>
                <a:ext cx="272290" cy="369332"/>
              </a:xfrm>
              <a:prstGeom prst="rect">
                <a:avLst/>
              </a:prstGeom>
              <a:blipFill>
                <a:blip r:embed="rId11"/>
                <a:stretch>
                  <a:fillRect l="-4444" r="-6667" b="-11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Imagem 21">
            <a:extLst>
              <a:ext uri="{FF2B5EF4-FFF2-40B4-BE49-F238E27FC236}">
                <a16:creationId xmlns:a16="http://schemas.microsoft.com/office/drawing/2014/main" id="{E9A29FE6-FB7B-623C-4C2B-9C12E863CDF2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60000" y="1440000"/>
            <a:ext cx="3240000" cy="32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2AF64332-B392-EE93-8529-FB19FF0EC1E7}"/>
                  </a:ext>
                </a:extLst>
              </p:cNvPr>
              <p:cNvSpPr txBox="1"/>
              <p:nvPr/>
            </p:nvSpPr>
            <p:spPr>
              <a:xfrm>
                <a:off x="5312421" y="1242226"/>
                <a:ext cx="593942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pt-BR" sz="16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6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1600" b="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16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BR" sz="16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6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1600" b="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0</m:t>
                          </m:r>
                        </m:e>
                      </m:d>
                      <m:r>
                        <a:rPr lang="pt-BR" sz="16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600" b="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0,</m:t>
                          </m:r>
                          <m:sSub>
                            <m:sSubPr>
                              <m:ctrlPr>
                                <a:rPr lang="pt-BR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16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BR" sz="16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d>
                        <m:dPr>
                          <m:ctrlP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  <m:r>
                        <a:rPr lang="pt-BR" sz="16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d>
                        <m:dPr>
                          <m:ctrlP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  <m:r>
                        <a:rPr lang="pt-BR" sz="16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16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pt-BR" sz="16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16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𝒋</m:t>
                      </m:r>
                    </m:oMath>
                  </m:oMathPara>
                </a14:m>
                <a:endParaRPr lang="pt-BR" sz="1600" b="1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2AF64332-B392-EE93-8529-FB19FF0EC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421" y="1242226"/>
                <a:ext cx="5939423" cy="338554"/>
              </a:xfrm>
              <a:prstGeom prst="rect">
                <a:avLst/>
              </a:prstGeom>
              <a:blipFill>
                <a:blip r:embed="rId1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A462A864-CE36-4643-CD90-73FBA4254645}"/>
                  </a:ext>
                </a:extLst>
              </p:cNvPr>
              <p:cNvSpPr txBox="1"/>
              <p:nvPr/>
            </p:nvSpPr>
            <p:spPr>
              <a:xfrm>
                <a:off x="7854663" y="3879451"/>
                <a:ext cx="50392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A462A864-CE36-4643-CD90-73FBA4254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663" y="3879451"/>
                <a:ext cx="503926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01D38820-A9BE-9DCC-D113-003FDE9EF59E}"/>
                  </a:ext>
                </a:extLst>
              </p:cNvPr>
              <p:cNvSpPr txBox="1"/>
              <p:nvPr/>
            </p:nvSpPr>
            <p:spPr>
              <a:xfrm>
                <a:off x="6121400" y="2087628"/>
                <a:ext cx="45653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1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𝒋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01D38820-A9BE-9DCC-D113-003FDE9EF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400" y="2087628"/>
                <a:ext cx="456537" cy="307777"/>
              </a:xfrm>
              <a:prstGeom prst="rect">
                <a:avLst/>
              </a:prstGeom>
              <a:blipFill>
                <a:blip r:embed="rId1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Imagem 33">
            <a:extLst>
              <a:ext uri="{FF2B5EF4-FFF2-40B4-BE49-F238E27FC236}">
                <a16:creationId xmlns:a16="http://schemas.microsoft.com/office/drawing/2014/main" id="{C060B459-12A1-68FD-474F-A278813F3E03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60000" y="1440000"/>
            <a:ext cx="3240000" cy="324000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E3AEF8BD-9A09-02D2-1D57-C594D1E4C5D3}"/>
              </a:ext>
            </a:extLst>
          </p:cNvPr>
          <p:cNvPicPr preferRelativeResize="0">
            <a:picLocks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60000" y="1440000"/>
            <a:ext cx="3240000" cy="32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3FEA1FE1-11EE-C816-92CE-BC6D9E78309B}"/>
                  </a:ext>
                </a:extLst>
              </p:cNvPr>
              <p:cNvSpPr txBox="1"/>
              <p:nvPr/>
            </p:nvSpPr>
            <p:spPr>
              <a:xfrm>
                <a:off x="8121761" y="2087628"/>
                <a:ext cx="22390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𝑽</m:t>
                      </m:r>
                      <m:r>
                        <a:rPr lang="pt-BR" sz="1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sz="1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pt-BR" sz="1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pt-BR" sz="1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pt-BR" sz="1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pt-BR" sz="1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14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pt-BR" sz="14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t-BR" sz="14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𝒋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3FEA1FE1-11EE-C816-92CE-BC6D9E783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761" y="2087628"/>
                <a:ext cx="2239021" cy="307777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37CCB8BD-D2D4-4F28-9E15-BCB3EDC548DA}"/>
                  </a:ext>
                </a:extLst>
              </p:cNvPr>
              <p:cNvSpPr txBox="1"/>
              <p:nvPr/>
            </p:nvSpPr>
            <p:spPr>
              <a:xfrm>
                <a:off x="214339" y="4121591"/>
                <a:ext cx="11466383" cy="7100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Bef>
                    <a:spcPts val="1200"/>
                  </a:spcBef>
                  <a:spcAft>
                    <a:spcPts val="1000"/>
                  </a:spcAft>
                  <a:buNone/>
                </a:pP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Exemplo 7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O vetor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=(5, 3)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pode ser escrito como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 vetor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=(3, 0)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pode ser escrito como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o vetor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=(0, −4)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pode ser escrito como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=−4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37CCB8BD-D2D4-4F28-9E15-BCB3EDC54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39" y="4121591"/>
                <a:ext cx="11466383" cy="710003"/>
              </a:xfrm>
              <a:prstGeom prst="rect">
                <a:avLst/>
              </a:prstGeom>
              <a:blipFill>
                <a:blip r:embed="rId19"/>
                <a:stretch>
                  <a:fillRect l="-425" t="-855" r="-478" b="-128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Imagem 53">
            <a:extLst>
              <a:ext uri="{FF2B5EF4-FFF2-40B4-BE49-F238E27FC236}">
                <a16:creationId xmlns:a16="http://schemas.microsoft.com/office/drawing/2014/main" id="{4696BE88-5B42-E7EE-90C9-BD7CD525454B}"/>
              </a:ext>
            </a:extLst>
          </p:cNvPr>
          <p:cNvPicPr preferRelativeResize="0">
            <a:picLocks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23895" y="4800778"/>
            <a:ext cx="1800000" cy="18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31924229-FD0A-21F9-2F7C-0C7019E0CD7A}"/>
                  </a:ext>
                </a:extLst>
              </p:cNvPr>
              <p:cNvSpPr txBox="1"/>
              <p:nvPr/>
            </p:nvSpPr>
            <p:spPr>
              <a:xfrm>
                <a:off x="2769333" y="5172577"/>
                <a:ext cx="1800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4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4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acc>
                    <m:r>
                      <a:rPr lang="pt-BR" sz="1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5, 3</m:t>
                        </m:r>
                      </m:e>
                    </m:d>
                    <m:r>
                      <a:rPr lang="pt-BR" sz="1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  <m:r>
                      <a:rPr lang="pt-BR" sz="1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pt-BR" sz="1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  <m:r>
                      <a:rPr lang="pt-BR" sz="1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pt-BR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sz="1400" dirty="0"/>
              </a:p>
            </p:txBody>
          </p:sp>
        </mc:Choice>
        <mc:Fallback xmlns="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31924229-FD0A-21F9-2F7C-0C7019E0C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333" y="5172577"/>
                <a:ext cx="1800000" cy="307777"/>
              </a:xfrm>
              <a:prstGeom prst="rect">
                <a:avLst/>
              </a:prstGeom>
              <a:blipFill>
                <a:blip r:embed="rId2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aixaDeTexto 65">
                <a:extLst>
                  <a:ext uri="{FF2B5EF4-FFF2-40B4-BE49-F238E27FC236}">
                    <a16:creationId xmlns:a16="http://schemas.microsoft.com/office/drawing/2014/main" id="{9A39ECA8-8831-5886-9485-7C33C9F95A48}"/>
                  </a:ext>
                </a:extLst>
              </p:cNvPr>
              <p:cNvSpPr txBox="1"/>
              <p:nvPr/>
            </p:nvSpPr>
            <p:spPr>
              <a:xfrm>
                <a:off x="5187962" y="5782541"/>
                <a:ext cx="138997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pt-BR" sz="14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4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4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3, 0</m:t>
                          </m:r>
                        </m:e>
                      </m:d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</m:t>
                      </m:r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66" name="CaixaDeTexto 65">
                <a:extLst>
                  <a:ext uri="{FF2B5EF4-FFF2-40B4-BE49-F238E27FC236}">
                    <a16:creationId xmlns:a16="http://schemas.microsoft.com/office/drawing/2014/main" id="{9A39ECA8-8831-5886-9485-7C33C9F95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962" y="5782541"/>
                <a:ext cx="1389975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Imagem 73">
            <a:extLst>
              <a:ext uri="{FF2B5EF4-FFF2-40B4-BE49-F238E27FC236}">
                <a16:creationId xmlns:a16="http://schemas.microsoft.com/office/drawing/2014/main" id="{6449F06B-023D-943F-5B9A-1FE20B12D54D}"/>
              </a:ext>
            </a:extLst>
          </p:cNvPr>
          <p:cNvPicPr preferRelativeResize="0">
            <a:picLocks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02931" y="4720653"/>
            <a:ext cx="1800000" cy="18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aixaDeTexto 75">
                <a:extLst>
                  <a:ext uri="{FF2B5EF4-FFF2-40B4-BE49-F238E27FC236}">
                    <a16:creationId xmlns:a16="http://schemas.microsoft.com/office/drawing/2014/main" id="{F0473690-B6E2-A7FA-7C28-CEC2C3618346}"/>
                  </a:ext>
                </a:extLst>
              </p:cNvPr>
              <p:cNvSpPr txBox="1"/>
              <p:nvPr/>
            </p:nvSpPr>
            <p:spPr>
              <a:xfrm>
                <a:off x="7438350" y="6098409"/>
                <a:ext cx="1800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pt-BR" sz="14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0, −4</m:t>
                        </m:r>
                      </m:e>
                    </m:d>
                    <m:r>
                      <a:rPr lang="pt-BR" sz="1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=−4</m:t>
                    </m:r>
                    <m:r>
                      <a:rPr lang="pt-BR" sz="1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pt-BR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sz="1400" dirty="0"/>
              </a:p>
            </p:txBody>
          </p:sp>
        </mc:Choice>
        <mc:Fallback xmlns="">
          <p:sp>
            <p:nvSpPr>
              <p:cNvPr id="76" name="CaixaDeTexto 75">
                <a:extLst>
                  <a:ext uri="{FF2B5EF4-FFF2-40B4-BE49-F238E27FC236}">
                    <a16:creationId xmlns:a16="http://schemas.microsoft.com/office/drawing/2014/main" id="{F0473690-B6E2-A7FA-7C28-CEC2C3618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350" y="6098409"/>
                <a:ext cx="1800000" cy="307777"/>
              </a:xfrm>
              <a:prstGeom prst="rect">
                <a:avLst/>
              </a:prstGeom>
              <a:blipFill>
                <a:blip r:embed="rId2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48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6" grpId="0"/>
      <p:bldP spid="19" grpId="0"/>
      <p:bldP spid="24" grpId="0"/>
      <p:bldP spid="27" grpId="0"/>
      <p:bldP spid="30" grpId="0"/>
      <p:bldP spid="50" grpId="0"/>
      <p:bldP spid="52" grpId="0"/>
      <p:bldP spid="56" grpId="0"/>
      <p:bldP spid="66" grpId="0"/>
      <p:bldP spid="7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B7316-7D5C-24F6-2414-EE700506E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EFC07840-BB94-F520-6815-D43B7A84AD1B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A8722E5F-27F4-F0A5-274F-097824BAF7E0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235038E3-2EC9-E050-24B5-58ECF41059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F29F87A9-3F0A-15B3-23D1-ED3873EB89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6F8344A3-3DBD-3E4A-6B04-6767359BC0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D0A1B04A-146C-638A-F983-80D659F44E87}"/>
              </a:ext>
            </a:extLst>
          </p:cNvPr>
          <p:cNvSpPr txBox="1"/>
          <p:nvPr/>
        </p:nvSpPr>
        <p:spPr>
          <a:xfrm>
            <a:off x="149188" y="3163503"/>
            <a:ext cx="5101372" cy="1347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sua direção e seu sentido são indicados pelo ângulo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formado pelo vetor (isto é, pelo segmento orientado que o representa) e pelo eixo das abscissas no sentido positivo.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D116CDB-3BB1-1B93-6759-1F2157D3770E}"/>
              </a:ext>
            </a:extLst>
          </p:cNvPr>
          <p:cNvSpPr txBox="1"/>
          <p:nvPr/>
        </p:nvSpPr>
        <p:spPr>
          <a:xfrm>
            <a:off x="787400" y="104956"/>
            <a:ext cx="654050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DECOMPOSIÇÃO DE UM VETOR EM SUAS COMPONENTES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93C0CAD-4941-C408-9614-57B3CF39E1A0}"/>
              </a:ext>
            </a:extLst>
          </p:cNvPr>
          <p:cNvSpPr txBox="1"/>
          <p:nvPr/>
        </p:nvSpPr>
        <p:spPr>
          <a:xfrm>
            <a:off x="111712" y="701782"/>
            <a:ext cx="118008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Conhecidos o </a:t>
            </a: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módulo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direção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o </a:t>
            </a: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sentido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um vetor, podemos </a:t>
            </a: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determinar 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suas </a:t>
            </a: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componentes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 seguinte maneira: </a:t>
            </a:r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3371F91-C6DA-BD9F-7B91-175F4ACA452B}"/>
              </a:ext>
            </a:extLst>
          </p:cNvPr>
          <p:cNvSpPr txBox="1"/>
          <p:nvPr/>
        </p:nvSpPr>
        <p:spPr>
          <a:xfrm>
            <a:off x="111712" y="1409668"/>
            <a:ext cx="11648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Posicionamos sua origem na própria origem do sistema e determinamos o ângulo formado entre o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segmento orientado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a direção positiva do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eixo das abscissas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conforme </a:t>
            </a:r>
            <a:r>
              <a:rPr lang="pt-BR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figura:</a:t>
            </a:r>
            <a:endParaRPr lang="pt-BR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DC123A58-6777-0327-89F6-AAD8EF5EFFA3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46000" y="1761900"/>
            <a:ext cx="3600000" cy="36000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644EB9E6-5980-EA8A-0556-2E7A0BDC93F0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46000" y="1761900"/>
            <a:ext cx="3600000" cy="36000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40DA9A7D-ECB8-AE4B-51F9-313B10903163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46000" y="1761899"/>
            <a:ext cx="3600000" cy="3600000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5FCFC0D0-8000-7003-E4F1-5BF9F8BBE23B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46000" y="1761900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2FCE9E13-4E7F-269B-54A3-F511EA31B9FB}"/>
                  </a:ext>
                </a:extLst>
              </p:cNvPr>
              <p:cNvSpPr txBox="1"/>
              <p:nvPr/>
            </p:nvSpPr>
            <p:spPr>
              <a:xfrm>
                <a:off x="6364504" y="3457833"/>
                <a:ext cx="5814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b="1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2FCE9E13-4E7F-269B-54A3-F511EA31B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504" y="3457833"/>
                <a:ext cx="581496" cy="369332"/>
              </a:xfrm>
              <a:prstGeom prst="rect">
                <a:avLst/>
              </a:prstGeom>
              <a:blipFill>
                <a:blip r:embed="rId9"/>
                <a:stretch>
                  <a:fillRect l="-8421" t="-8197" r="-2105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CaixaDeTexto 37">
            <a:extLst>
              <a:ext uri="{FF2B5EF4-FFF2-40B4-BE49-F238E27FC236}">
                <a16:creationId xmlns:a16="http://schemas.microsoft.com/office/drawing/2014/main" id="{1B768523-2402-C442-D0B9-F644712A384C}"/>
              </a:ext>
            </a:extLst>
          </p:cNvPr>
          <p:cNvSpPr txBox="1"/>
          <p:nvPr/>
        </p:nvSpPr>
        <p:spPr>
          <a:xfrm>
            <a:off x="5984856" y="4628085"/>
            <a:ext cx="581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800" b="1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θ</a:t>
            </a:r>
            <a:endParaRPr lang="pt-BR" i="1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DB4F85F-48D3-3A20-06D8-BA81D91A1561}"/>
              </a:ext>
            </a:extLst>
          </p:cNvPr>
          <p:cNvSpPr txBox="1"/>
          <p:nvPr/>
        </p:nvSpPr>
        <p:spPr>
          <a:xfrm>
            <a:off x="7073900" y="2092898"/>
            <a:ext cx="2565400" cy="33855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pt-BR" sz="1600" b="1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sz="16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egmento orientado - vetor</a:t>
            </a:r>
            <a:r>
              <a:rPr lang="pt-BR" sz="16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1600" i="1" dirty="0"/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5148A177-7F1F-29F8-9F08-134F6F9E3DED}"/>
              </a:ext>
            </a:extLst>
          </p:cNvPr>
          <p:cNvCxnSpPr>
            <a:cxnSpLocks/>
          </p:cNvCxnSpPr>
          <p:nvPr/>
        </p:nvCxnSpPr>
        <p:spPr>
          <a:xfrm>
            <a:off x="7939466" y="2431452"/>
            <a:ext cx="3578" cy="2788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66820F1C-D335-FFAA-A3B4-4E0EE5B92F84}"/>
              </a:ext>
            </a:extLst>
          </p:cNvPr>
          <p:cNvSpPr txBox="1"/>
          <p:nvPr/>
        </p:nvSpPr>
        <p:spPr>
          <a:xfrm>
            <a:off x="6209224" y="2845005"/>
            <a:ext cx="864676" cy="33855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Módulo</a:t>
            </a:r>
            <a:r>
              <a:rPr lang="pt-BR" sz="16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1600" i="1" dirty="0"/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2DF742D4-9720-EBA5-D54D-0A5425EB7A07}"/>
              </a:ext>
            </a:extLst>
          </p:cNvPr>
          <p:cNvCxnSpPr>
            <a:cxnSpLocks/>
          </p:cNvCxnSpPr>
          <p:nvPr/>
        </p:nvCxnSpPr>
        <p:spPr>
          <a:xfrm>
            <a:off x="6663384" y="3183559"/>
            <a:ext cx="3578" cy="2788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65F1F20F-0A9A-3CC8-8F7B-E074521D26B8}"/>
              </a:ext>
            </a:extLst>
          </p:cNvPr>
          <p:cNvSpPr txBox="1"/>
          <p:nvPr/>
        </p:nvSpPr>
        <p:spPr>
          <a:xfrm>
            <a:off x="5547075" y="5332789"/>
            <a:ext cx="3642153" cy="33855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pt-BR" sz="16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Ângulo formado pela abscissa e o vetor</a:t>
            </a:r>
            <a:endParaRPr lang="pt-BR" sz="1600" i="1" dirty="0"/>
          </a:p>
        </p:txBody>
      </p: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E52A88D6-D5B7-F62B-BD34-2F5AD1F6AFF6}"/>
              </a:ext>
            </a:extLst>
          </p:cNvPr>
          <p:cNvCxnSpPr>
            <a:cxnSpLocks/>
          </p:cNvCxnSpPr>
          <p:nvPr/>
        </p:nvCxnSpPr>
        <p:spPr>
          <a:xfrm flipH="1" flipV="1">
            <a:off x="6209224" y="4939684"/>
            <a:ext cx="101854" cy="4030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31FAB18D-59C4-0CF2-B370-FC6FA70B561C}"/>
                  </a:ext>
                </a:extLst>
              </p:cNvPr>
              <p:cNvSpPr txBox="1"/>
              <p:nvPr/>
            </p:nvSpPr>
            <p:spPr>
              <a:xfrm>
                <a:off x="111712" y="2129052"/>
                <a:ext cx="406302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importante ressaltar que o comprimento do segmento orientado que representa o vetor é dado pelo seu módulo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b="1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|.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pt-BR" dirty="0"/>
              </a:p>
            </p:txBody>
          </p:sp>
        </mc:Choice>
        <mc:Fallback xmlns="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31FAB18D-59C4-0CF2-B370-FC6FA70B5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12" y="2129052"/>
                <a:ext cx="4063022" cy="923330"/>
              </a:xfrm>
              <a:prstGeom prst="rect">
                <a:avLst/>
              </a:prstGeom>
              <a:blipFill>
                <a:blip r:embed="rId10"/>
                <a:stretch>
                  <a:fillRect l="-1199" t="-3289" r="-1199" b="-9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" name="Imagem 59">
            <a:extLst>
              <a:ext uri="{FF2B5EF4-FFF2-40B4-BE49-F238E27FC236}">
                <a16:creationId xmlns:a16="http://schemas.microsoft.com/office/drawing/2014/main" id="{45343A88-D585-EB78-A204-8166A5642FF5}"/>
              </a:ext>
            </a:extLst>
          </p:cNvPr>
          <p:cNvPicPr preferRelativeResize="0">
            <a:picLocks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46000" y="1761900"/>
            <a:ext cx="3600000" cy="3600000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1D5CFB8D-5A51-3E36-E4BE-1F44DDDEEA53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46000" y="1761900"/>
            <a:ext cx="3600000" cy="3600000"/>
          </a:xfrm>
          <a:prstGeom prst="rect">
            <a:avLst/>
          </a:prstGeom>
        </p:spPr>
      </p:pic>
      <p:sp>
        <p:nvSpPr>
          <p:cNvPr id="67" name="CaixaDeTexto 66">
            <a:extLst>
              <a:ext uri="{FF2B5EF4-FFF2-40B4-BE49-F238E27FC236}">
                <a16:creationId xmlns:a16="http://schemas.microsoft.com/office/drawing/2014/main" id="{2BB3CA89-2F46-6655-E24F-EF08147D2FB9}"/>
              </a:ext>
            </a:extLst>
          </p:cNvPr>
          <p:cNvSpPr txBox="1"/>
          <p:nvPr/>
        </p:nvSpPr>
        <p:spPr>
          <a:xfrm>
            <a:off x="8273483" y="2528115"/>
            <a:ext cx="1899495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bservamos que: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6C383C1A-639A-C969-6AF3-B819B0CEC591}"/>
                  </a:ext>
                </a:extLst>
              </p:cNvPr>
              <p:cNvSpPr txBox="1"/>
              <p:nvPr/>
            </p:nvSpPr>
            <p:spPr>
              <a:xfrm>
                <a:off x="8076354" y="3052382"/>
                <a:ext cx="3247897" cy="60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pt-BR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b="1" i="1" dirty="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𝒗</m:t>
                                      </m:r>
                                    </m:e>
                                  </m:acc>
                                </m:e>
                              </m:d>
                            </m:den>
                          </m:f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pt-BR" b="1" i="0">
                              <a:latin typeface="Cambria Math" panose="02040503050406030204" pitchFamily="18" charset="0"/>
                            </a:rPr>
                            <m:t>  </m:t>
                          </m:r>
                          <m:func>
                            <m:func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b="1" i="0">
                                  <a:latin typeface="Cambria Math" panose="02040503050406030204" pitchFamily="18" charset="0"/>
                                </a:rPr>
                                <m:t>𝐬𝐞𝐧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  <m:r>
                                <a:rPr lang="pt-BR" b="1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func>
                        </m:e>
                      </m:func>
                      <m:f>
                        <m:f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pt-BR" b="1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b="1" i="1" dirty="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6C383C1A-639A-C969-6AF3-B819B0CEC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6354" y="3052382"/>
                <a:ext cx="3247897" cy="6038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F843B23B-1516-5B41-4C8C-EBF645D8C76A}"/>
                  </a:ext>
                </a:extLst>
              </p:cNvPr>
              <p:cNvSpPr txBox="1"/>
              <p:nvPr/>
            </p:nvSpPr>
            <p:spPr>
              <a:xfrm>
                <a:off x="8031153" y="3809262"/>
                <a:ext cx="36421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pt-BR" b="1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</m:d>
                      <m:r>
                        <a:rPr lang="pt-BR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pt-BR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pt-BR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pt-BR" b="1" i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pt-BR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pt-B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𝐬𝐞𝐧</m:t>
                          </m:r>
                        </m:fName>
                        <m:e>
                          <m:d>
                            <m:dPr>
                              <m:ctrlPr>
                                <a:rPr lang="pt-B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pt-BR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F843B23B-1516-5B41-4C8C-EBF645D8C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153" y="3809262"/>
                <a:ext cx="3642153" cy="369332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623985EC-47BF-7737-6382-710E42C3AE36}"/>
                  </a:ext>
                </a:extLst>
              </p:cNvPr>
              <p:cNvSpPr txBox="1"/>
              <p:nvPr/>
            </p:nvSpPr>
            <p:spPr>
              <a:xfrm>
                <a:off x="8070855" y="4405958"/>
                <a:ext cx="39285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pt-BR" b="1" i="1" dirty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</m:acc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b="1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pt-BR" b="1" i="1" dirty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b="1" i="1" dirty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</m:acc>
                            </m:e>
                          </m:d>
                          <m:r>
                            <a:rPr lang="pt-BR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𝒄𝒐𝒔</m:t>
                          </m:r>
                          <m:d>
                            <m:dPr>
                              <m:ctrlPr>
                                <a:rPr lang="pt-BR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pt-B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pt-BR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b="1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</m:acc>
                            </m:e>
                          </m:d>
                          <m:func>
                            <m:funcPr>
                              <m:ctrlPr>
                                <a:rPr lang="pt-B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pt-BR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𝐬𝐞𝐧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func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623985EC-47BF-7737-6382-710E42C3A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855" y="4405958"/>
                <a:ext cx="3928542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Retângulo 74">
            <a:extLst>
              <a:ext uri="{FF2B5EF4-FFF2-40B4-BE49-F238E27FC236}">
                <a16:creationId xmlns:a16="http://schemas.microsoft.com/office/drawing/2014/main" id="{B956BB04-63E6-A527-6743-FE5E5235B454}"/>
              </a:ext>
            </a:extLst>
          </p:cNvPr>
          <p:cNvSpPr/>
          <p:nvPr/>
        </p:nvSpPr>
        <p:spPr>
          <a:xfrm>
            <a:off x="3951029" y="6063169"/>
            <a:ext cx="1882247" cy="46166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>
            <a:spAutoFit/>
          </a:bodyPr>
          <a:lstStyle/>
          <a:p>
            <a:r>
              <a:rPr lang="pt-BR" sz="2400" b="1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Exemplo...</a:t>
            </a:r>
            <a:endParaRPr lang="pt-BR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C323BFF5-1471-D5CA-EA84-2E30246EA656}"/>
                  </a:ext>
                </a:extLst>
              </p:cNvPr>
              <p:cNvSpPr txBox="1"/>
              <p:nvPr/>
            </p:nvSpPr>
            <p:spPr>
              <a:xfrm>
                <a:off x="7740196" y="5028023"/>
                <a:ext cx="4073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C323BFF5-1471-D5CA-EA84-2E30246EA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196" y="5028023"/>
                <a:ext cx="40731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87D25272-1DBA-4A91-68C9-AD456D0BB417}"/>
                  </a:ext>
                </a:extLst>
              </p:cNvPr>
              <p:cNvSpPr txBox="1"/>
              <p:nvPr/>
            </p:nvSpPr>
            <p:spPr>
              <a:xfrm>
                <a:off x="5120094" y="2555792"/>
                <a:ext cx="4073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87D25272-1DBA-4A91-68C9-AD456D0BB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094" y="2555792"/>
                <a:ext cx="407317" cy="369332"/>
              </a:xfrm>
              <a:prstGeom prst="rect">
                <a:avLst/>
              </a:prstGeom>
              <a:blipFill>
                <a:blip r:embed="rId1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990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4" grpId="0"/>
      <p:bldP spid="18" grpId="0"/>
      <p:bldP spid="36" grpId="0"/>
      <p:bldP spid="38" grpId="0"/>
      <p:bldP spid="41" grpId="0" animBg="1"/>
      <p:bldP spid="45" grpId="0" animBg="1"/>
      <p:bldP spid="49" grpId="0" animBg="1"/>
      <p:bldP spid="58" grpId="0"/>
      <p:bldP spid="67" grpId="0"/>
      <p:bldP spid="69" grpId="0"/>
      <p:bldP spid="70" grpId="0"/>
      <p:bldP spid="73" grpId="0"/>
      <p:bldP spid="75" grpId="0" animBg="1"/>
      <p:bldP spid="79" grpId="0"/>
      <p:bldP spid="8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3873E-FF25-3E4C-BBE8-1B454F48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>
            <a:extLst>
              <a:ext uri="{FF2B5EF4-FFF2-40B4-BE49-F238E27FC236}">
                <a16:creationId xmlns:a16="http://schemas.microsoft.com/office/drawing/2014/main" id="{750D8889-8B83-257D-51AD-4780A266C490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0000" y="1800000"/>
            <a:ext cx="3600000" cy="360000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35B31864-C36E-55CD-0EBD-47B0AEA23192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80A3737E-2A1C-D379-BD28-8E027EA015D4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579E0F91-7803-0CD9-B138-71A1D1411C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86408D33-53C5-A22F-9A0D-71C8A60BA6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357562" imgH="316504" progId="Word.Picture.8">
                  <p:embed/>
                </p:oleObj>
              </mc:Choice>
              <mc:Fallback>
                <p:oleObj name="Picture" r:id="rId4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F29F87A9-3F0A-15B3-23D1-ED3873EB89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Retângulo 74">
            <a:extLst>
              <a:ext uri="{FF2B5EF4-FFF2-40B4-BE49-F238E27FC236}">
                <a16:creationId xmlns:a16="http://schemas.microsoft.com/office/drawing/2014/main" id="{0649D1E5-2EE8-844C-322D-A599115F3E8A}"/>
              </a:ext>
            </a:extLst>
          </p:cNvPr>
          <p:cNvSpPr/>
          <p:nvPr/>
        </p:nvSpPr>
        <p:spPr>
          <a:xfrm>
            <a:off x="4749169" y="104956"/>
            <a:ext cx="1882247" cy="46166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>
            <a:spAutoFit/>
          </a:bodyPr>
          <a:lstStyle/>
          <a:p>
            <a:r>
              <a:rPr lang="pt-BR" sz="2400" b="1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Exemplo...</a:t>
            </a:r>
            <a:endParaRPr lang="pt-BR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32BDAD9-321A-0D92-DB45-7366671CF363}"/>
                  </a:ext>
                </a:extLst>
              </p:cNvPr>
              <p:cNvSpPr txBox="1"/>
              <p:nvPr/>
            </p:nvSpPr>
            <p:spPr>
              <a:xfrm>
                <a:off x="97101" y="686963"/>
                <a:ext cx="9304136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20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Exemplo 8</a:t>
                </a:r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Determine as componentes do 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20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20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pt-BR" sz="20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  <m:r>
                      <a:rPr lang="pt-BR" sz="2000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 magnitude </a:t>
                </a:r>
                <a:r>
                  <a:rPr lang="pt-BR" sz="20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 direção </a:t>
                </a:r>
                <a:r>
                  <a:rPr lang="pt-BR" sz="2000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N45ºO</a:t>
                </a:r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32BDAD9-321A-0D92-DB45-7366671CF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1" y="686963"/>
                <a:ext cx="9304136" cy="424732"/>
              </a:xfrm>
              <a:prstGeom prst="rect">
                <a:avLst/>
              </a:prstGeom>
              <a:blipFill>
                <a:blip r:embed="rId6"/>
                <a:stretch>
                  <a:fillRect l="-721" t="-2899" b="-260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63353732-E8B2-AC91-3AF9-7CF5F56AE441}"/>
              </a:ext>
            </a:extLst>
          </p:cNvPr>
          <p:cNvSpPr txBox="1"/>
          <p:nvPr/>
        </p:nvSpPr>
        <p:spPr>
          <a:xfrm>
            <a:off x="242476" y="1078272"/>
            <a:ext cx="979121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 Para auxiliar, veja a Figura a seguir. A direção </a:t>
            </a: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N45ºO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é obtida da seguinte maneira: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63B377E-4E4A-5A5B-4D97-D38BB59D12E6}"/>
              </a:ext>
            </a:extLst>
          </p:cNvPr>
          <p:cNvSpPr txBox="1"/>
          <p:nvPr/>
        </p:nvSpPr>
        <p:spPr>
          <a:xfrm>
            <a:off x="242476" y="1431218"/>
            <a:ext cx="6216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⇒ 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partir da direção norte, giramos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45º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 direção oeste.</a:t>
            </a:r>
            <a:endParaRPr lang="pt-BR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2EA216D9-C481-D4AB-2C7C-B8C129A9106C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0000" y="1800000"/>
            <a:ext cx="3600000" cy="36000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240962B8-F640-DD12-88FF-CFFF60B7F5A4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0000" y="1800000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F06D2F58-EC49-FEC4-38DE-2A846F009F63}"/>
                  </a:ext>
                </a:extLst>
              </p:cNvPr>
              <p:cNvSpPr txBox="1"/>
              <p:nvPr/>
            </p:nvSpPr>
            <p:spPr>
              <a:xfrm>
                <a:off x="1504496" y="2403589"/>
                <a:ext cx="40731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𝟒𝟓</m:t>
                      </m:r>
                      <m:r>
                        <a:rPr lang="pt-BR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pt-BR" sz="1600" b="1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F06D2F58-EC49-FEC4-38DE-2A846F009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496" y="2403589"/>
                <a:ext cx="407317" cy="338554"/>
              </a:xfrm>
              <a:prstGeom prst="rect">
                <a:avLst/>
              </a:prstGeom>
              <a:blipFill>
                <a:blip r:embed="rId9"/>
                <a:stretch>
                  <a:fillRect r="-164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aixaDeTexto 29">
            <a:extLst>
              <a:ext uri="{FF2B5EF4-FFF2-40B4-BE49-F238E27FC236}">
                <a16:creationId xmlns:a16="http://schemas.microsoft.com/office/drawing/2014/main" id="{1BE24C28-8245-2D47-3B32-AA96884BC8FF}"/>
              </a:ext>
            </a:extLst>
          </p:cNvPr>
          <p:cNvSpPr txBox="1"/>
          <p:nvPr/>
        </p:nvSpPr>
        <p:spPr>
          <a:xfrm>
            <a:off x="2440264" y="1751752"/>
            <a:ext cx="18034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</a:pP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direção N45ºO</a:t>
            </a:r>
            <a:endParaRPr lang="pt-B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C0DA688-0021-5817-EC07-F313B623BE19}"/>
              </a:ext>
            </a:extLst>
          </p:cNvPr>
          <p:cNvSpPr txBox="1"/>
          <p:nvPr/>
        </p:nvSpPr>
        <p:spPr>
          <a:xfrm>
            <a:off x="6094660" y="1615884"/>
            <a:ext cx="2658877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Vetor no sistema de eixos.</a:t>
            </a:r>
            <a:endParaRPr lang="pt-B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4093BCDA-11AD-0793-B115-EA99B3504C40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300" y="1800000"/>
            <a:ext cx="3600000" cy="3600000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3E569740-6D66-BD33-E1A5-6DD25C20E6DC}"/>
              </a:ext>
            </a:extLst>
          </p:cNvPr>
          <p:cNvPicPr preferRelativeResize="0">
            <a:picLocks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300" y="1800000"/>
            <a:ext cx="3600000" cy="3600000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9E224C23-D0AC-8387-3371-2F6932CB42EB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300" y="1800000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BB38064C-FDE2-03A2-DA67-084A3C3FF1B2}"/>
                  </a:ext>
                </a:extLst>
              </p:cNvPr>
              <p:cNvSpPr txBox="1"/>
              <p:nvPr/>
            </p:nvSpPr>
            <p:spPr>
              <a:xfrm>
                <a:off x="4320323" y="3616694"/>
                <a:ext cx="40731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pt-BR" sz="1600" b="1" dirty="0"/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BB38064C-FDE2-03A2-DA67-084A3C3FF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323" y="3616694"/>
                <a:ext cx="407317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5693FFF9-412B-6EF5-144A-F6963268DD2E}"/>
                  </a:ext>
                </a:extLst>
              </p:cNvPr>
              <p:cNvSpPr txBox="1"/>
              <p:nvPr/>
            </p:nvSpPr>
            <p:spPr>
              <a:xfrm>
                <a:off x="5745733" y="2073291"/>
                <a:ext cx="40731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pt-BR" sz="1600" b="1" dirty="0"/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5693FFF9-412B-6EF5-144A-F6963268D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733" y="2073291"/>
                <a:ext cx="407317" cy="338554"/>
              </a:xfrm>
              <a:prstGeom prst="rect">
                <a:avLst/>
              </a:prstGeom>
              <a:blipFill>
                <a:blip r:embed="rId14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C54ED0D1-6821-E323-09DD-B4E2BB288845}"/>
                  </a:ext>
                </a:extLst>
              </p:cNvPr>
              <p:cNvSpPr txBox="1"/>
              <p:nvPr/>
            </p:nvSpPr>
            <p:spPr>
              <a:xfrm>
                <a:off x="4763274" y="2801671"/>
                <a:ext cx="4073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C54ED0D1-6821-E323-09DD-B4E2BB288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274" y="2801671"/>
                <a:ext cx="40731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Imagem 60">
            <a:extLst>
              <a:ext uri="{FF2B5EF4-FFF2-40B4-BE49-F238E27FC236}">
                <a16:creationId xmlns:a16="http://schemas.microsoft.com/office/drawing/2014/main" id="{60D03F50-6BC9-50E7-6E34-16FFFE7F0F68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300" y="1800000"/>
            <a:ext cx="3600000" cy="3600000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133BD85E-1209-327D-5C1E-822A44C7615A}"/>
              </a:ext>
            </a:extLst>
          </p:cNvPr>
          <p:cNvPicPr preferRelativeResize="0">
            <a:picLocks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300" y="1800000"/>
            <a:ext cx="3600000" cy="3600000"/>
          </a:xfrm>
          <a:prstGeom prst="rect">
            <a:avLst/>
          </a:prstGeom>
        </p:spPr>
      </p:pic>
      <p:pic>
        <p:nvPicPr>
          <p:cNvPr id="66" name="Imagem 65">
            <a:extLst>
              <a:ext uri="{FF2B5EF4-FFF2-40B4-BE49-F238E27FC236}">
                <a16:creationId xmlns:a16="http://schemas.microsoft.com/office/drawing/2014/main" id="{2A8FFF5C-FF13-2B0C-3EBE-CA5FD26B99BA}"/>
              </a:ext>
            </a:extLst>
          </p:cNvPr>
          <p:cNvPicPr preferRelativeResize="0">
            <a:picLocks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300" y="1800000"/>
            <a:ext cx="3600000" cy="3600000"/>
          </a:xfrm>
          <a:prstGeom prst="rect">
            <a:avLst/>
          </a:prstGeom>
        </p:spPr>
      </p:pic>
      <p:pic>
        <p:nvPicPr>
          <p:cNvPr id="71" name="Imagem 70">
            <a:extLst>
              <a:ext uri="{FF2B5EF4-FFF2-40B4-BE49-F238E27FC236}">
                <a16:creationId xmlns:a16="http://schemas.microsoft.com/office/drawing/2014/main" id="{A52B6868-24DD-D5F6-B1B1-7F0DC85D1171}"/>
              </a:ext>
            </a:extLst>
          </p:cNvPr>
          <p:cNvPicPr preferRelativeResize="0">
            <a:picLocks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300" y="1800000"/>
            <a:ext cx="3600000" cy="3600000"/>
          </a:xfrm>
          <a:prstGeom prst="rect">
            <a:avLst/>
          </a:prstGeom>
        </p:spPr>
      </p:pic>
      <p:pic>
        <p:nvPicPr>
          <p:cNvPr id="74" name="Imagem 73">
            <a:extLst>
              <a:ext uri="{FF2B5EF4-FFF2-40B4-BE49-F238E27FC236}">
                <a16:creationId xmlns:a16="http://schemas.microsoft.com/office/drawing/2014/main" id="{2E180404-6E17-C9B9-FED0-E3A99678698A}"/>
              </a:ext>
            </a:extLst>
          </p:cNvPr>
          <p:cNvPicPr preferRelativeResize="0">
            <a:picLocks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300" y="1800000"/>
            <a:ext cx="3600000" cy="3600000"/>
          </a:xfrm>
          <a:prstGeom prst="rect">
            <a:avLst/>
          </a:prstGeom>
        </p:spPr>
      </p:pic>
      <p:pic>
        <p:nvPicPr>
          <p:cNvPr id="77" name="Imagem 76">
            <a:extLst>
              <a:ext uri="{FF2B5EF4-FFF2-40B4-BE49-F238E27FC236}">
                <a16:creationId xmlns:a16="http://schemas.microsoft.com/office/drawing/2014/main" id="{EED5CF2E-63F1-AE14-449B-C67A9EDB2F25}"/>
              </a:ext>
            </a:extLst>
          </p:cNvPr>
          <p:cNvPicPr preferRelativeResize="0">
            <a:picLocks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300" y="1800000"/>
            <a:ext cx="3600000" cy="3600000"/>
          </a:xfrm>
          <a:prstGeom prst="rect">
            <a:avLst/>
          </a:prstGeom>
        </p:spPr>
      </p:pic>
      <p:pic>
        <p:nvPicPr>
          <p:cNvPr id="79" name="Imagem 78">
            <a:extLst>
              <a:ext uri="{FF2B5EF4-FFF2-40B4-BE49-F238E27FC236}">
                <a16:creationId xmlns:a16="http://schemas.microsoft.com/office/drawing/2014/main" id="{994B44BE-CF9C-3016-F627-D942118BA661}"/>
              </a:ext>
            </a:extLst>
          </p:cNvPr>
          <p:cNvPicPr preferRelativeResize="0">
            <a:picLocks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300" y="1800000"/>
            <a:ext cx="3600000" cy="3600000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3710B2B3-9927-46D9-F160-AF3B4313BEB1}"/>
              </a:ext>
            </a:extLst>
          </p:cNvPr>
          <p:cNvPicPr preferRelativeResize="0">
            <a:picLocks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2300" y="1800000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2954FC56-4B70-F307-65F6-30F8640C0AE8}"/>
                  </a:ext>
                </a:extLst>
              </p:cNvPr>
              <p:cNvSpPr txBox="1"/>
              <p:nvPr/>
            </p:nvSpPr>
            <p:spPr>
              <a:xfrm>
                <a:off x="6697245" y="2143911"/>
                <a:ext cx="4874248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acc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pt-BR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,4</m:t>
                          </m:r>
                          <m:func>
                            <m:func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i="0">
                                  <a:latin typeface="Cambria Math" panose="02040503050406030204" pitchFamily="18" charset="0"/>
                                </a:rPr>
                                <m:t>sen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pt-BR" i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2954FC56-4B70-F307-65F6-30F8640C0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245" y="2143911"/>
                <a:ext cx="4874248" cy="71468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0F5F50D0-B74F-5C45-E018-456D7B47320E}"/>
                  </a:ext>
                </a:extLst>
              </p:cNvPr>
              <p:cNvSpPr txBox="1"/>
              <p:nvPr/>
            </p:nvSpPr>
            <p:spPr>
              <a:xfrm>
                <a:off x="6869011" y="3042710"/>
                <a:ext cx="4835989" cy="424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acc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pt-BR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b="1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  <m:r>
                            <a:rPr lang="pt-BR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pt-B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e>
                      </m:d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−2</m:t>
                      </m:r>
                      <m:rad>
                        <m:radPr>
                          <m:degHide m:val="on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pt-BR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+2</m:t>
                      </m:r>
                      <m:rad>
                        <m:radPr>
                          <m:degHide m:val="on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pt-BR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0F5F50D0-B74F-5C45-E018-456D7B473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011" y="3042710"/>
                <a:ext cx="4835989" cy="424219"/>
              </a:xfrm>
              <a:prstGeom prst="rect">
                <a:avLst/>
              </a:prstGeom>
              <a:blipFill>
                <a:blip r:embed="rId2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4D7DFFA5-68C7-5163-2135-4FCCEC823C85}"/>
                  </a:ext>
                </a:extLst>
              </p:cNvPr>
              <p:cNvSpPr txBox="1"/>
              <p:nvPr/>
            </p:nvSpPr>
            <p:spPr>
              <a:xfrm>
                <a:off x="4077524" y="3650664"/>
                <a:ext cx="739867" cy="333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1400" b="1" i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pt-BR" sz="14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400" b="1" i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pt-BR" sz="1400" b="1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4D7DFFA5-68C7-5163-2135-4FCCEC823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524" y="3650664"/>
                <a:ext cx="739867" cy="33316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id="{BFEB2387-F8C2-D288-BC57-D1AAD6AC62D8}"/>
                  </a:ext>
                </a:extLst>
              </p:cNvPr>
              <p:cNvSpPr txBox="1"/>
              <p:nvPr/>
            </p:nvSpPr>
            <p:spPr>
              <a:xfrm>
                <a:off x="5660498" y="2090085"/>
                <a:ext cx="739867" cy="333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pt-BR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4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pt-BR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id="{BFEB2387-F8C2-D288-BC57-D1AAD6AC6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498" y="2090085"/>
                <a:ext cx="739867" cy="333168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etângulo 94">
            <a:extLst>
              <a:ext uri="{FF2B5EF4-FFF2-40B4-BE49-F238E27FC236}">
                <a16:creationId xmlns:a16="http://schemas.microsoft.com/office/drawing/2014/main" id="{02EEB8C9-D485-8FF7-8043-CA9CCEE24316}"/>
              </a:ext>
            </a:extLst>
          </p:cNvPr>
          <p:cNvSpPr/>
          <p:nvPr/>
        </p:nvSpPr>
        <p:spPr>
          <a:xfrm>
            <a:off x="4032300" y="5603113"/>
            <a:ext cx="3387668" cy="46166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pt-BR" sz="2400" b="1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Agora é a sua vez...</a:t>
            </a:r>
            <a:endParaRPr lang="pt-BR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63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12" grpId="0"/>
      <p:bldP spid="15" grpId="0"/>
      <p:bldP spid="17" grpId="0"/>
      <p:bldP spid="27" grpId="0"/>
      <p:bldP spid="30" grpId="0"/>
      <p:bldP spid="37" grpId="0"/>
      <p:bldP spid="53" grpId="0"/>
      <p:bldP spid="53" grpId="1"/>
      <p:bldP spid="54" grpId="0"/>
      <p:bldP spid="54" grpId="1"/>
      <p:bldP spid="55" grpId="0"/>
      <p:bldP spid="83" grpId="0"/>
      <p:bldP spid="86" grpId="0"/>
      <p:bldP spid="88" grpId="0"/>
      <p:bldP spid="89" grpId="0"/>
      <p:bldP spid="9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A0F3B-B783-AFC8-8BFE-4102B935D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m 49">
            <a:extLst>
              <a:ext uri="{FF2B5EF4-FFF2-40B4-BE49-F238E27FC236}">
                <a16:creationId xmlns:a16="http://schemas.microsoft.com/office/drawing/2014/main" id="{F7648E9E-C3CC-3901-90C0-DF351EA416C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30409"/>
          <a:stretch>
            <a:fillRect/>
          </a:stretch>
        </p:blipFill>
        <p:spPr>
          <a:xfrm>
            <a:off x="408297" y="1188688"/>
            <a:ext cx="5334000" cy="342695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73B98097-46C1-9320-68A0-D582C1A7353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33578"/>
          <a:stretch>
            <a:fillRect/>
          </a:stretch>
        </p:blipFill>
        <p:spPr>
          <a:xfrm>
            <a:off x="425697" y="1212710"/>
            <a:ext cx="5334000" cy="3270916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1364C356-3459-CD19-4A14-FB5A1EC16A0F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07576A6D-5EE3-1212-E958-00512E8854D4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1E7AF565-DEE6-B114-ADE7-6207285722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32EFA99B-7364-6396-6932-3B72745CF8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357562" imgH="316504" progId="Word.Picture.8">
                  <p:embed/>
                </p:oleObj>
              </mc:Choice>
              <mc:Fallback>
                <p:oleObj name="Picture" r:id="rId5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833136B-BF1C-037F-2D1C-4D419D1BD6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4A3E924-7D17-4B3D-FA0F-F50F34CC18A1}"/>
                  </a:ext>
                </a:extLst>
              </p:cNvPr>
              <p:cNvSpPr txBox="1"/>
              <p:nvPr/>
            </p:nvSpPr>
            <p:spPr>
              <a:xfrm>
                <a:off x="618095" y="277066"/>
                <a:ext cx="91763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1) Na figura abaixo, as forças que atuam no ponto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têm módulos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1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pt-BR" sz="1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pt-BR" sz="1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BR" sz="1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𝟕</m:t>
                    </m:r>
                    <m:rad>
                      <m:radPr>
                        <m:degHide m:val="on"/>
                        <m:ctrlPr>
                          <a:rPr lang="pt-BR" sz="1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pt-BR" sz="1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</m:rad>
                    <m:r>
                      <a:rPr lang="pt-B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, </m:t>
                    </m:r>
                    <m:d>
                      <m:dPr>
                        <m:begChr m:val="|"/>
                        <m:endChr m:val="|"/>
                        <m:ctrlPr>
                          <a:rPr lang="pt-BR" sz="1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pt-BR" sz="1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pt-BR" sz="1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BR" sz="1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𝟔</m:t>
                    </m:r>
                    <m:rad>
                      <m:radPr>
                        <m:degHide m:val="on"/>
                        <m:ctrlPr>
                          <a:rPr lang="pt-BR" sz="1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pt-BR" sz="1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</m:rad>
                    <m:r>
                      <a:rPr lang="pt-B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pt-B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d>
                      <m:dPr>
                        <m:begChr m:val="|"/>
                        <m:endChr m:val="|"/>
                        <m:ctrlPr>
                          <a:rPr lang="pt-BR" sz="1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pt-BR" sz="1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pt-BR" sz="1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BR" sz="1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𝟖</m:t>
                    </m:r>
                    <m:r>
                      <a:rPr lang="pt-BR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4A3E924-7D17-4B3D-FA0F-F50F34CC1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95" y="277066"/>
                <a:ext cx="9176354" cy="369332"/>
              </a:xfrm>
              <a:prstGeom prst="rect">
                <a:avLst/>
              </a:prstGeom>
              <a:blipFill>
                <a:blip r:embed="rId7"/>
                <a:stretch>
                  <a:fillRect l="-531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7C5787C8-2BF0-DA4A-942C-277333ABF22D}"/>
                  </a:ext>
                </a:extLst>
              </p:cNvPr>
              <p:cNvSpPr txBox="1"/>
              <p:nvPr/>
            </p:nvSpPr>
            <p:spPr>
              <a:xfrm>
                <a:off x="618095" y="744888"/>
                <a:ext cx="4543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a força resultante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pt-BR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pt-BR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BR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7C5787C8-2BF0-DA4A-942C-277333ABF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95" y="744888"/>
                <a:ext cx="4543840" cy="369332"/>
              </a:xfrm>
              <a:prstGeom prst="rect">
                <a:avLst/>
              </a:prstGeom>
              <a:blipFill>
                <a:blip r:embed="rId8"/>
                <a:stretch>
                  <a:fillRect l="-1072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34CD794C-EAE3-35FF-9F15-FDC5888C3CAE}"/>
                  </a:ext>
                </a:extLst>
              </p:cNvPr>
              <p:cNvSpPr txBox="1"/>
              <p:nvPr/>
            </p:nvSpPr>
            <p:spPr>
              <a:xfrm>
                <a:off x="4772893" y="1964218"/>
                <a:ext cx="3844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34CD794C-EAE3-35FF-9F15-FDC5888C3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893" y="1964218"/>
                <a:ext cx="384475" cy="369332"/>
              </a:xfrm>
              <a:prstGeom prst="rect">
                <a:avLst/>
              </a:prstGeom>
              <a:blipFill>
                <a:blip r:embed="rId9"/>
                <a:stretch>
                  <a:fillRect r="-15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44FAAAB-8016-BA4E-EE74-FBD203E7F458}"/>
                  </a:ext>
                </a:extLst>
              </p:cNvPr>
              <p:cNvSpPr txBox="1"/>
              <p:nvPr/>
            </p:nvSpPr>
            <p:spPr>
              <a:xfrm>
                <a:off x="1670817" y="2371767"/>
                <a:ext cx="3844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t-BR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144FAAAB-8016-BA4E-EE74-FBD203E7F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817" y="2371767"/>
                <a:ext cx="384475" cy="369332"/>
              </a:xfrm>
              <a:prstGeom prst="rect">
                <a:avLst/>
              </a:prstGeom>
              <a:blipFill>
                <a:blip r:embed="rId10"/>
                <a:stretch>
                  <a:fillRect r="-31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0C6F5AB-6BA9-8602-EE1F-77D253DCF3CD}"/>
                  </a:ext>
                </a:extLst>
              </p:cNvPr>
              <p:cNvSpPr txBox="1"/>
              <p:nvPr/>
            </p:nvSpPr>
            <p:spPr>
              <a:xfrm>
                <a:off x="332960" y="3640621"/>
                <a:ext cx="3844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t-BR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0C6F5AB-6BA9-8602-EE1F-77D253DCF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60" y="3640621"/>
                <a:ext cx="384475" cy="369332"/>
              </a:xfrm>
              <a:prstGeom prst="rect">
                <a:avLst/>
              </a:prstGeom>
              <a:blipFill>
                <a:blip r:embed="rId11"/>
                <a:stretch>
                  <a:fillRect r="-15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F523B24-CE0C-1E1D-5AE0-D6872B5D405A}"/>
                  </a:ext>
                </a:extLst>
              </p:cNvPr>
              <p:cNvSpPr txBox="1"/>
              <p:nvPr/>
            </p:nvSpPr>
            <p:spPr>
              <a:xfrm>
                <a:off x="3557921" y="2730184"/>
                <a:ext cx="384475" cy="438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F523B24-CE0C-1E1D-5AE0-D6872B5D4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921" y="2730184"/>
                <a:ext cx="384475" cy="4380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3A401518-3A95-3A65-36F6-1C4894BB07A2}"/>
                  </a:ext>
                </a:extLst>
              </p:cNvPr>
              <p:cNvSpPr txBox="1"/>
              <p:nvPr/>
            </p:nvSpPr>
            <p:spPr>
              <a:xfrm>
                <a:off x="3533854" y="3571712"/>
                <a:ext cx="384475" cy="408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3A401518-3A95-3A65-36F6-1C4894BB0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854" y="3571712"/>
                <a:ext cx="384475" cy="408830"/>
              </a:xfrm>
              <a:prstGeom prst="rect">
                <a:avLst/>
              </a:prstGeom>
              <a:blipFill>
                <a:blip r:embed="rId13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A7C11BC2-1964-D79F-3DF8-75B77CDD6BD1}"/>
                  </a:ext>
                </a:extLst>
              </p:cNvPr>
              <p:cNvSpPr txBox="1"/>
              <p:nvPr/>
            </p:nvSpPr>
            <p:spPr>
              <a:xfrm>
                <a:off x="4753386" y="3941129"/>
                <a:ext cx="3844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A7C11BC2-1964-D79F-3DF8-75B77CDD6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386" y="3941129"/>
                <a:ext cx="384475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EA7CCE0E-B616-3508-D80D-77E7D8C7132E}"/>
                  </a:ext>
                </a:extLst>
              </p:cNvPr>
              <p:cNvSpPr txBox="1"/>
              <p:nvPr/>
            </p:nvSpPr>
            <p:spPr>
              <a:xfrm>
                <a:off x="1741169" y="4002702"/>
                <a:ext cx="3844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EA7CCE0E-B616-3508-D80D-77E7D8C71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169" y="4002702"/>
                <a:ext cx="384475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713C0C23-AB36-78FD-B7DA-FD776481E121}"/>
                  </a:ext>
                </a:extLst>
              </p:cNvPr>
              <p:cNvSpPr txBox="1"/>
              <p:nvPr/>
            </p:nvSpPr>
            <p:spPr>
              <a:xfrm>
                <a:off x="2900459" y="2094768"/>
                <a:ext cx="3844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713C0C23-AB36-78FD-B7DA-FD776481E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459" y="2094768"/>
                <a:ext cx="384475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9FF3CBC9-3EE2-D23E-2099-1ECCCE7BAC58}"/>
                  </a:ext>
                </a:extLst>
              </p:cNvPr>
              <p:cNvSpPr txBox="1"/>
              <p:nvPr/>
            </p:nvSpPr>
            <p:spPr>
              <a:xfrm>
                <a:off x="3149379" y="2571169"/>
                <a:ext cx="3844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9FF3CBC9-3EE2-D23E-2099-1ECCCE7BA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379" y="2571169"/>
                <a:ext cx="384475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C0D6A924-B9F6-84EE-7F8B-BD0605BB057E}"/>
                  </a:ext>
                </a:extLst>
              </p:cNvPr>
              <p:cNvSpPr txBox="1"/>
              <p:nvPr/>
            </p:nvSpPr>
            <p:spPr>
              <a:xfrm>
                <a:off x="2862802" y="3971924"/>
                <a:ext cx="3844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𝑶</m:t>
                      </m:r>
                    </m:oMath>
                  </m:oMathPara>
                </a14:m>
                <a:endParaRPr lang="pt-BR" sz="1600" b="1" dirty="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C0D6A924-B9F6-84EE-7F8B-BD0605BB0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802" y="3971924"/>
                <a:ext cx="38447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F700AE31-A052-4E97-7798-B51A39A4789E}"/>
                  </a:ext>
                </a:extLst>
              </p:cNvPr>
              <p:cNvSpPr txBox="1"/>
              <p:nvPr/>
            </p:nvSpPr>
            <p:spPr>
              <a:xfrm>
                <a:off x="5215099" y="897366"/>
                <a:ext cx="2183284" cy="2049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pt-BR" sz="1400" b="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𝑐𝑜𝑠</m:t>
                          </m:r>
                        </m:fName>
                        <m:e>
                          <m:d>
                            <m:dPr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400" b="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pt-BR" sz="1400" b="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pt-BR" sz="1400" b="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pt-BR" sz="1400" b="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pt-BR" sz="1400" b="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F700AE31-A052-4E97-7798-B51A39A4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099" y="897366"/>
                <a:ext cx="2183284" cy="20490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CaixaDeTexto 44">
            <a:extLst>
              <a:ext uri="{FF2B5EF4-FFF2-40B4-BE49-F238E27FC236}">
                <a16:creationId xmlns:a16="http://schemas.microsoft.com/office/drawing/2014/main" id="{78F82195-76C7-FBF4-BCD5-B79F1D2F62F7}"/>
              </a:ext>
            </a:extLst>
          </p:cNvPr>
          <p:cNvSpPr txBox="1"/>
          <p:nvPr/>
        </p:nvSpPr>
        <p:spPr>
          <a:xfrm>
            <a:off x="5814313" y="651629"/>
            <a:ext cx="984856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Dados:</a:t>
            </a:r>
            <a:endParaRPr lang="pt-BR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44DDA0AB-C1FC-135A-7193-21D8FEABC02C}"/>
              </a:ext>
            </a:extLst>
          </p:cNvPr>
          <p:cNvSpPr/>
          <p:nvPr/>
        </p:nvSpPr>
        <p:spPr>
          <a:xfrm>
            <a:off x="5316479" y="663043"/>
            <a:ext cx="2009626" cy="28785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A4296E-9738-3F6B-1DBC-5B60AC7FDDBD}"/>
              </a:ext>
            </a:extLst>
          </p:cNvPr>
          <p:cNvSpPr txBox="1"/>
          <p:nvPr/>
        </p:nvSpPr>
        <p:spPr>
          <a:xfrm>
            <a:off x="2312896" y="4657571"/>
            <a:ext cx="1672965" cy="358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Resposta: (-7, 13)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00F7226-7E04-0380-707D-83BC5DBF6890}"/>
              </a:ext>
            </a:extLst>
          </p:cNvPr>
          <p:cNvSpPr txBox="1"/>
          <p:nvPr/>
        </p:nvSpPr>
        <p:spPr>
          <a:xfrm>
            <a:off x="111713" y="5646005"/>
            <a:ext cx="6901763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SANTOS</a:t>
            </a: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F. J; </a:t>
            </a:r>
            <a:r>
              <a:rPr lang="pt-BR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FERREIRA</a:t>
            </a: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S. F. </a:t>
            </a:r>
            <a:r>
              <a:rPr lang="pt-BR" sz="12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Geometria Analítica</a:t>
            </a: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ISBN 978-85-7780-482-5. Porto Alegre: Bookman, 2010</a:t>
            </a: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B063A7A-F38E-C1B5-4D8C-ED763DB6D21A}"/>
              </a:ext>
            </a:extLst>
          </p:cNvPr>
          <p:cNvSpPr txBox="1"/>
          <p:nvPr/>
        </p:nvSpPr>
        <p:spPr>
          <a:xfrm>
            <a:off x="122779" y="5410364"/>
            <a:ext cx="1991731" cy="325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Referência bibliográfica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6C0AB2DB-A759-5FEC-F4F7-B3B46D8AC5C0}"/>
                  </a:ext>
                </a:extLst>
              </p:cNvPr>
              <p:cNvSpPr txBox="1"/>
              <p:nvPr/>
            </p:nvSpPr>
            <p:spPr>
              <a:xfrm>
                <a:off x="8293149" y="572312"/>
                <a:ext cx="2871050" cy="5507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1(</m:t>
                          </m:r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𝟕</m:t>
                      </m:r>
                      <m:rad>
                        <m:radPr>
                          <m:degHide m:val="on"/>
                          <m:ctrlP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</m:rad>
                      <m:r>
                        <a:rPr lang="pt-BR" sz="14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𝟕</m:t>
                      </m:r>
                      <m:rad>
                        <m:radPr>
                          <m:degHide m:val="on"/>
                          <m:ctrlP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</m:rad>
                      <m:f>
                        <m:f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pt-BR" sz="1400" b="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𝟕</m:t>
                      </m:r>
                    </m:oMath>
                  </m:oMathPara>
                </a14:m>
                <a:endParaRPr lang="pt-BR" sz="1400" b="1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6C0AB2DB-A759-5FEC-F4F7-B3B46D8AC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149" y="572312"/>
                <a:ext cx="2871050" cy="55079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BBD6B36F-B346-A579-C187-2CA91024C524}"/>
                  </a:ext>
                </a:extLst>
              </p:cNvPr>
              <p:cNvSpPr txBox="1"/>
              <p:nvPr/>
            </p:nvSpPr>
            <p:spPr>
              <a:xfrm>
                <a:off x="7814690" y="712700"/>
                <a:ext cx="384475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BBD6B36F-B346-A579-C187-2CA91024C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690" y="712700"/>
                <a:ext cx="384475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707093C-A0F5-D50D-F03C-413465A3E846}"/>
                  </a:ext>
                </a:extLst>
              </p:cNvPr>
              <p:cNvSpPr txBox="1"/>
              <p:nvPr/>
            </p:nvSpPr>
            <p:spPr>
              <a:xfrm>
                <a:off x="8199165" y="1082032"/>
                <a:ext cx="3062884" cy="5507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1(</m:t>
                          </m:r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𝟕</m:t>
                      </m:r>
                      <m:rad>
                        <m:radPr>
                          <m:degHide m:val="on"/>
                          <m:ctrlP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</m:rad>
                      <m:r>
                        <a:rPr lang="pt-BR" sz="14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𝟕</m:t>
                      </m:r>
                      <m:rad>
                        <m:radPr>
                          <m:degHide m:val="on"/>
                          <m:ctrlP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</m:rad>
                      <m:f>
                        <m:f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pt-BR" sz="1400" b="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𝟕</m:t>
                      </m:r>
                    </m:oMath>
                  </m:oMathPara>
                </a14:m>
                <a:endParaRPr lang="pt-BR" sz="1400" b="1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707093C-A0F5-D50D-F03C-413465A3E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165" y="1082032"/>
                <a:ext cx="3062884" cy="55079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38218FFC-E5D1-D69A-8EB5-4E8B3354AB4A}"/>
                  </a:ext>
                </a:extLst>
              </p:cNvPr>
              <p:cNvSpPr txBox="1"/>
              <p:nvPr/>
            </p:nvSpPr>
            <p:spPr>
              <a:xfrm>
                <a:off x="7877561" y="1782870"/>
                <a:ext cx="384475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t-BR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38218FFC-E5D1-D69A-8EB5-4E8B3354A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561" y="1782870"/>
                <a:ext cx="384475" cy="369332"/>
              </a:xfrm>
              <a:prstGeom prst="rect">
                <a:avLst/>
              </a:prstGeom>
              <a:blipFill>
                <a:blip r:embed="rId23"/>
                <a:stretch>
                  <a:fillRect r="-153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C882B60C-ADE2-01F8-B01F-D3AE36636201}"/>
                  </a:ext>
                </a:extLst>
              </p:cNvPr>
              <p:cNvSpPr txBox="1"/>
              <p:nvPr/>
            </p:nvSpPr>
            <p:spPr>
              <a:xfrm>
                <a:off x="8241824" y="1841604"/>
                <a:ext cx="3612712" cy="6211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2(</m:t>
                          </m:r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𝟔</m:t>
                      </m:r>
                      <m:rad>
                        <m:radPr>
                          <m:degHide m:val="on"/>
                          <m:ctrlP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</m:rad>
                      <m:r>
                        <a:rPr lang="pt-BR" sz="14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𝟔</m:t>
                      </m:r>
                      <m:rad>
                        <m:radPr>
                          <m:degHide m:val="on"/>
                          <m:ctrlP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</m:rad>
                      <m:d>
                        <m:dPr>
                          <m:ctrlPr>
                            <a:rPr lang="pt-BR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14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pt-BR" sz="14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14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pt-BR" sz="14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pt-BR" sz="14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𝟔</m:t>
                      </m:r>
                    </m:oMath>
                  </m:oMathPara>
                </a14:m>
                <a:endParaRPr lang="pt-BR" sz="1400" b="1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C882B60C-ADE2-01F8-B01F-D3AE36636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824" y="1841604"/>
                <a:ext cx="3612712" cy="62119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9C177B72-E16B-1E47-00C8-1DBB6CE61DFF}"/>
                  </a:ext>
                </a:extLst>
              </p:cNvPr>
              <p:cNvSpPr txBox="1"/>
              <p:nvPr/>
            </p:nvSpPr>
            <p:spPr>
              <a:xfrm>
                <a:off x="8097790" y="2430501"/>
                <a:ext cx="3612712" cy="6211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2(</m:t>
                          </m:r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𝟔</m:t>
                      </m:r>
                      <m:rad>
                        <m:radPr>
                          <m:degHide m:val="on"/>
                          <m:ctrlP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</m:rad>
                      <m:r>
                        <a:rPr lang="pt-BR" sz="14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1400" b="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𝟔</m:t>
                      </m:r>
                      <m:rad>
                        <m:radPr>
                          <m:degHide m:val="on"/>
                          <m:ctrlP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</m:rad>
                      <m:d>
                        <m:dPr>
                          <m:ctrlPr>
                            <a:rPr lang="pt-BR" sz="1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4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pt-BR" sz="14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14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pt-BR" sz="14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𝟔</m:t>
                      </m:r>
                    </m:oMath>
                  </m:oMathPara>
                </a14:m>
                <a:endParaRPr lang="pt-BR" sz="1400" b="1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9C177B72-E16B-1E47-00C8-1DBB6CE61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790" y="2430501"/>
                <a:ext cx="3612712" cy="62119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4E57A98-25E4-0DDC-1ADA-54189260125E}"/>
                  </a:ext>
                </a:extLst>
              </p:cNvPr>
              <p:cNvSpPr txBox="1"/>
              <p:nvPr/>
            </p:nvSpPr>
            <p:spPr>
              <a:xfrm>
                <a:off x="7902237" y="3094792"/>
                <a:ext cx="384475" cy="36933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t-BR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4E57A98-25E4-0DDC-1ADA-541892601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237" y="3094792"/>
                <a:ext cx="384475" cy="369332"/>
              </a:xfrm>
              <a:prstGeom prst="rect">
                <a:avLst/>
              </a:prstGeom>
              <a:blipFill>
                <a:blip r:embed="rId26"/>
                <a:stretch>
                  <a:fillRect r="-153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AC1A08AF-2181-9611-ED52-6A75CC528C39}"/>
                  </a:ext>
                </a:extLst>
              </p:cNvPr>
              <p:cNvSpPr txBox="1"/>
              <p:nvPr/>
            </p:nvSpPr>
            <p:spPr>
              <a:xfrm>
                <a:off x="8241824" y="3264756"/>
                <a:ext cx="2871050" cy="328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3(</m:t>
                          </m:r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𝟖</m:t>
                      </m:r>
                      <m:r>
                        <a:rPr lang="pt-BR" sz="1400" b="1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d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𝟖</m:t>
                      </m:r>
                      <m:d>
                        <m:dPr>
                          <m:ctrlPr>
                            <a:rPr lang="pt-BR" sz="1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pt-BR" sz="14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𝟖</m:t>
                      </m:r>
                    </m:oMath>
                  </m:oMathPara>
                </a14:m>
                <a:endParaRPr lang="pt-BR" sz="1400" b="1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AC1A08AF-2181-9611-ED52-6A75CC528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824" y="3264756"/>
                <a:ext cx="2871050" cy="328488"/>
              </a:xfrm>
              <a:prstGeom prst="rect">
                <a:avLst/>
              </a:prstGeom>
              <a:blipFill>
                <a:blip r:embed="rId27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17D3A792-70D2-7CA4-FF8E-E707FE281386}"/>
                  </a:ext>
                </a:extLst>
              </p:cNvPr>
              <p:cNvSpPr txBox="1"/>
              <p:nvPr/>
            </p:nvSpPr>
            <p:spPr>
              <a:xfrm>
                <a:off x="5799890" y="2860625"/>
                <a:ext cx="1192317" cy="468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d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pt-BR" sz="1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17D3A792-70D2-7CA4-FF8E-E707FE281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9890" y="2860625"/>
                <a:ext cx="1192317" cy="46833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D8F6476-CA3C-0686-B451-EEB5362DAF95}"/>
                  </a:ext>
                </a:extLst>
              </p:cNvPr>
              <p:cNvSpPr txBox="1"/>
              <p:nvPr/>
            </p:nvSpPr>
            <p:spPr>
              <a:xfrm>
                <a:off x="5814314" y="3220570"/>
                <a:ext cx="1062348" cy="468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d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ED8F6476-CA3C-0686-B451-EEB5362DA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314" y="3220570"/>
                <a:ext cx="1062348" cy="468333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22B67057-4ADE-4A74-1D97-38A21C0A4BB7}"/>
                  </a:ext>
                </a:extLst>
              </p:cNvPr>
              <p:cNvSpPr txBox="1"/>
              <p:nvPr/>
            </p:nvSpPr>
            <p:spPr>
              <a:xfrm>
                <a:off x="8274812" y="3632926"/>
                <a:ext cx="2586021" cy="328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3(</m:t>
                          </m:r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𝟖</m:t>
                      </m:r>
                      <m:r>
                        <a:rPr lang="pt-BR" sz="1400" b="1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4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e>
                      </m:d>
                      <m:r>
                        <a:rPr lang="pt-BR" sz="1400" b="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𝟖</m:t>
                      </m:r>
                      <m:d>
                        <m:dPr>
                          <m:ctrlPr>
                            <a:rPr lang="pt-BR" sz="1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4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pt-BR" sz="14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sz="14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pt-BR" sz="1400" b="1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22B67057-4ADE-4A74-1D97-38A21C0A4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812" y="3632926"/>
                <a:ext cx="2586021" cy="328488"/>
              </a:xfrm>
              <a:prstGeom prst="rect">
                <a:avLst/>
              </a:prstGeom>
              <a:blipFill>
                <a:blip r:embed="rId30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C2BBA5F6-E625-6193-4A37-ACDCD3A30013}"/>
                  </a:ext>
                </a:extLst>
              </p:cNvPr>
              <p:cNvSpPr txBox="1"/>
              <p:nvPr/>
            </p:nvSpPr>
            <p:spPr>
              <a:xfrm>
                <a:off x="4753386" y="4647055"/>
                <a:ext cx="23965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pt-BR" b="1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sub>
                          </m:sSub>
                          <m:r>
                            <a:rPr lang="pt-BR" b="1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t-B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pt-B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pt-BR" sz="18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C2BBA5F6-E625-6193-4A37-ACDCD3A30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386" y="4647055"/>
                <a:ext cx="2396546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6B305484-5408-1078-15E9-4E1AF3041D0D}"/>
                  </a:ext>
                </a:extLst>
              </p:cNvPr>
              <p:cNvSpPr txBox="1"/>
              <p:nvPr/>
            </p:nvSpPr>
            <p:spPr>
              <a:xfrm>
                <a:off x="6983501" y="4649987"/>
                <a:ext cx="45306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𝟕</m:t>
                          </m:r>
                          <m: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𝟕</m:t>
                          </m:r>
                        </m:e>
                      </m:d>
                      <m:r>
                        <a:rPr lang="pt-B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𝟔</m:t>
                          </m:r>
                          <m: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𝟔</m:t>
                          </m:r>
                        </m:e>
                      </m:d>
                      <m:r>
                        <a:rPr lang="pt-B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𝟖</m:t>
                          </m:r>
                          <m: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r>
                            <a:rPr lang="pt-BR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  <m:r>
                        <a:rPr lang="pt-BR" sz="18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pt-BR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pt-BR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sub>
                      </m:sSub>
                      <m:r>
                        <a:rPr lang="pt-B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(−</m:t>
                      </m:r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𝟕</m:t>
                      </m:r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𝟏𝟑</m:t>
                      </m:r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6B305484-5408-1078-15E9-4E1AF3041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501" y="4649987"/>
                <a:ext cx="4530642" cy="369332"/>
              </a:xfrm>
              <a:prstGeom prst="rect">
                <a:avLst/>
              </a:prstGeom>
              <a:blipFill>
                <a:blip r:embed="rId3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D3BAC1C-638D-6178-35EA-76C9D9AF2052}"/>
                  </a:ext>
                </a:extLst>
              </p:cNvPr>
              <p:cNvSpPr txBox="1"/>
              <p:nvPr/>
            </p:nvSpPr>
            <p:spPr>
              <a:xfrm>
                <a:off x="525197" y="4033479"/>
                <a:ext cx="3844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1200" b="1" i="1" smtClean="0">
                              <a:effectLst/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3D3BAC1C-638D-6178-35EA-76C9D9AF2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7" y="4033479"/>
                <a:ext cx="384475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573FD46E-108B-6BC7-7107-19E005C254D6}"/>
                  </a:ext>
                </a:extLst>
              </p:cNvPr>
              <p:cNvSpPr txBox="1"/>
              <p:nvPr/>
            </p:nvSpPr>
            <p:spPr>
              <a:xfrm>
                <a:off x="2881605" y="3568118"/>
                <a:ext cx="3844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1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573FD46E-108B-6BC7-7107-19E005C25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605" y="3568118"/>
                <a:ext cx="384475" cy="27699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28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7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47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97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47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97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47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97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47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97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47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97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470"/>
                            </p:stCondLst>
                            <p:childTnLst>
                              <p:par>
                                <p:cTn id="5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970"/>
                            </p:stCondLst>
                            <p:childTnLst>
                              <p:par>
                                <p:cTn id="6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470"/>
                            </p:stCondLst>
                            <p:childTnLst>
                              <p:par>
                                <p:cTn id="6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97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645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27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348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225"/>
                            </p:stCondLst>
                            <p:childTnLst>
                              <p:par>
                                <p:cTn id="8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305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20" grpId="0"/>
      <p:bldP spid="22" grpId="0"/>
      <p:bldP spid="24" grpId="0"/>
      <p:bldP spid="25" grpId="0"/>
      <p:bldP spid="28" grpId="0"/>
      <p:bldP spid="32" grpId="0"/>
      <p:bldP spid="33" grpId="0"/>
      <p:bldP spid="34" grpId="0"/>
      <p:bldP spid="35" grpId="0"/>
      <p:bldP spid="38" grpId="0"/>
      <p:bldP spid="40" grpId="0"/>
      <p:bldP spid="45" grpId="0"/>
      <p:bldP spid="46" grpId="0" animBg="1"/>
      <p:bldP spid="7" grpId="0"/>
      <p:bldP spid="9" grpId="0"/>
      <p:bldP spid="12" grpId="0"/>
      <p:bldP spid="15" grpId="0"/>
      <p:bldP spid="17" grpId="0" animBg="1"/>
      <p:bldP spid="18" grpId="0"/>
      <p:bldP spid="19" grpId="0" animBg="1"/>
      <p:bldP spid="21" grpId="0"/>
      <p:bldP spid="23" grpId="0"/>
      <p:bldP spid="26" grpId="0" animBg="1"/>
      <p:bldP spid="27" grpId="0"/>
      <p:bldP spid="30" grpId="0"/>
      <p:bldP spid="36" grpId="0"/>
      <p:bldP spid="37" grpId="0"/>
      <p:bldP spid="41" grpId="0"/>
      <p:bldP spid="42" grpId="0"/>
      <p:bldP spid="48" grpId="0"/>
      <p:bldP spid="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3BD3D-727D-AE69-5A19-1E549D21C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9151D862-D779-055D-9257-1C18D44BAB8F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7EEF3BB1-3FDA-74E4-97C4-7C8DD3BDFF9C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B9AF9304-8D01-3973-01C8-7C81387B5A9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84508C33-0B2B-8983-94D8-1FD7F689B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32EFA99B-7364-6396-6932-3B72745CF8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F71A0690-5403-68A2-96A6-A8F45FC23F60}"/>
              </a:ext>
            </a:extLst>
          </p:cNvPr>
          <p:cNvSpPr txBox="1"/>
          <p:nvPr/>
        </p:nvSpPr>
        <p:spPr>
          <a:xfrm>
            <a:off x="518669" y="185818"/>
            <a:ext cx="609442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Dados os quatro vetores mostrados na figura, determine: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1C75976-880E-B905-9203-E586C251A09B}"/>
              </a:ext>
            </a:extLst>
          </p:cNvPr>
          <p:cNvSpPr txBox="1"/>
          <p:nvPr/>
        </p:nvSpPr>
        <p:spPr>
          <a:xfrm>
            <a:off x="592480" y="970136"/>
            <a:ext cx="5827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as componentes horizontal e vertical do vetor resultante;</a:t>
            </a:r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40B2355-66F0-ACDC-E9EE-970C36C0889D}"/>
              </a:ext>
            </a:extLst>
          </p:cNvPr>
          <p:cNvSpPr txBox="1"/>
          <p:nvPr/>
        </p:nvSpPr>
        <p:spPr>
          <a:xfrm>
            <a:off x="592480" y="577977"/>
            <a:ext cx="5270992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as componentes horizontal e vertical de cada vetor;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498CC22-D534-08FF-3E23-79B29258A961}"/>
              </a:ext>
            </a:extLst>
          </p:cNvPr>
          <p:cNvSpPr txBox="1"/>
          <p:nvPr/>
        </p:nvSpPr>
        <p:spPr>
          <a:xfrm>
            <a:off x="611333" y="1380128"/>
            <a:ext cx="3338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o módulo do vetor resultante.</a:t>
            </a:r>
            <a:endParaRPr lang="pt-BR" dirty="0"/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A50262F8-CD97-0B41-43FA-AA56EB21E3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697" y="1576208"/>
            <a:ext cx="3338497" cy="3345535"/>
          </a:xfrm>
          <a:prstGeom prst="rect">
            <a:avLst/>
          </a:prstGeom>
        </p:spPr>
      </p:pic>
      <p:grpSp>
        <p:nvGrpSpPr>
          <p:cNvPr id="58" name="Agrupar 57">
            <a:extLst>
              <a:ext uri="{FF2B5EF4-FFF2-40B4-BE49-F238E27FC236}">
                <a16:creationId xmlns:a16="http://schemas.microsoft.com/office/drawing/2014/main" id="{ED3F2168-1D22-9F8F-2D94-A0CFB4F0ADF2}"/>
              </a:ext>
            </a:extLst>
          </p:cNvPr>
          <p:cNvGrpSpPr/>
          <p:nvPr/>
        </p:nvGrpSpPr>
        <p:grpSpPr>
          <a:xfrm>
            <a:off x="3940405" y="4895833"/>
            <a:ext cx="326008" cy="385959"/>
            <a:chOff x="3940405" y="4895833"/>
            <a:chExt cx="326008" cy="385959"/>
          </a:xfrm>
        </p:grpSpPr>
        <p:pic>
          <p:nvPicPr>
            <p:cNvPr id="53" name="Imagem 52">
              <a:extLst>
                <a:ext uri="{FF2B5EF4-FFF2-40B4-BE49-F238E27FC236}">
                  <a16:creationId xmlns:a16="http://schemas.microsoft.com/office/drawing/2014/main" id="{A6F2AAE1-8765-9837-5C5D-8B67FD895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0405" y="4895833"/>
              <a:ext cx="311083" cy="15554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CaixaDeTexto 54">
                  <a:extLst>
                    <a:ext uri="{FF2B5EF4-FFF2-40B4-BE49-F238E27FC236}">
                      <a16:creationId xmlns:a16="http://schemas.microsoft.com/office/drawing/2014/main" id="{CC5D07AC-DC4F-50A1-D10E-EBE58DE9E109}"/>
                    </a:ext>
                  </a:extLst>
                </p:cNvPr>
                <p:cNvSpPr txBox="1"/>
                <p:nvPr/>
              </p:nvSpPr>
              <p:spPr>
                <a:xfrm>
                  <a:off x="3949830" y="4943238"/>
                  <a:ext cx="31658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6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oMath>
                    </m:oMathPara>
                  </a14:m>
                  <a:endParaRPr lang="pt-BR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CaixaDeTexto 54">
                  <a:extLst>
                    <a:ext uri="{FF2B5EF4-FFF2-40B4-BE49-F238E27FC236}">
                      <a16:creationId xmlns:a16="http://schemas.microsoft.com/office/drawing/2014/main" id="{CC5D07AC-DC4F-50A1-D10E-EBE58DE9E1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9830" y="4943238"/>
                  <a:ext cx="316583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CDC6E9DC-F58F-F1E3-E5D0-DE862D2C2DD9}"/>
              </a:ext>
            </a:extLst>
          </p:cNvPr>
          <p:cNvGrpSpPr/>
          <p:nvPr/>
        </p:nvGrpSpPr>
        <p:grpSpPr>
          <a:xfrm>
            <a:off x="7187232" y="1622560"/>
            <a:ext cx="394353" cy="338554"/>
            <a:chOff x="7187232" y="1622560"/>
            <a:chExt cx="394353" cy="338554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F08FFF5D-DC43-61E6-F096-3060EAA3A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109461" y="1714066"/>
              <a:ext cx="311083" cy="15554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CaixaDeTexto 56">
                  <a:extLst>
                    <a:ext uri="{FF2B5EF4-FFF2-40B4-BE49-F238E27FC236}">
                      <a16:creationId xmlns:a16="http://schemas.microsoft.com/office/drawing/2014/main" id="{CA3977D2-9FFD-FE1E-2847-6B6F04B59CEB}"/>
                    </a:ext>
                  </a:extLst>
                </p:cNvPr>
                <p:cNvSpPr txBox="1"/>
                <p:nvPr/>
              </p:nvSpPr>
              <p:spPr>
                <a:xfrm>
                  <a:off x="7265002" y="1622560"/>
                  <a:ext cx="316583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6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oMath>
                    </m:oMathPara>
                  </a14:m>
                  <a:endParaRPr lang="pt-BR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CaixaDeTexto 56">
                  <a:extLst>
                    <a:ext uri="{FF2B5EF4-FFF2-40B4-BE49-F238E27FC236}">
                      <a16:creationId xmlns:a16="http://schemas.microsoft.com/office/drawing/2014/main" id="{CA3977D2-9FFD-FE1E-2847-6B6F04B59C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5002" y="1622560"/>
                  <a:ext cx="316583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B2CB4DCD-8274-65DE-369F-8C1B24A1154D}"/>
                  </a:ext>
                </a:extLst>
              </p:cNvPr>
              <p:cNvSpPr txBox="1"/>
              <p:nvPr/>
            </p:nvSpPr>
            <p:spPr>
              <a:xfrm>
                <a:off x="8188236" y="577977"/>
                <a:ext cx="1898443" cy="3349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400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a)</a:t>
                </a:r>
                <a:endParaRPr lang="pt-BR" sz="20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000"/>
                  </a:spcAft>
                  <a:buNone/>
                </a:pP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14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6 cm; a</a:t>
                </a:r>
                <a:r>
                  <a:rPr lang="en-US" sz="14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6 cm; </a:t>
                </a:r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000"/>
                  </a:spcAft>
                  <a:buNone/>
                </a:pP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r>
                  <a:rPr lang="en-US" sz="14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2; b</a:t>
                </a:r>
                <a:r>
                  <a:rPr lang="en-US" sz="14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-2 cm </a:t>
                </a:r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000"/>
                  </a:spcAft>
                  <a:buNone/>
                </a:pP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</a:t>
                </a:r>
                <a:r>
                  <a:rPr lang="en-US" sz="14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0 cm; c</a:t>
                </a:r>
                <a:r>
                  <a:rPr lang="en-US" sz="14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-8 cm; </a:t>
                </a:r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14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4 cm; </a:t>
                </a:r>
                <a:r>
                  <a:rPr lang="en-US" sz="1400" b="1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1400" b="1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0 cm</a:t>
                </a:r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r>
                  <a:rPr lang="en-US" sz="1400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b)</a:t>
                </a: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sz="14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12 cm; R</a:t>
                </a:r>
                <a:r>
                  <a:rPr lang="en-US" sz="1400" b="1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-4 cm </a:t>
                </a:r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400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c)</a:t>
                </a:r>
                <a:endParaRPr lang="pt-BR" sz="20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en-US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𝟒</m:t>
                    </m:r>
                    <m:rad>
                      <m:radPr>
                        <m:degHide m:val="on"/>
                        <m:ctrlPr>
                          <a:rPr lang="pt-BR" sz="1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1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𝟏𝟎</m:t>
                        </m:r>
                      </m:e>
                    </m:rad>
                    <m:r>
                      <a:rPr lang="en-US" sz="1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≅</m:t>
                    </m:r>
                    <m:r>
                      <a:rPr lang="en-US" sz="1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𝟏𝟐</m:t>
                    </m:r>
                    <m:r>
                      <a:rPr lang="en-US" sz="1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𝟔</m:t>
                    </m:r>
                    <m:r>
                      <a:rPr lang="en-US" sz="1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𝒄𝒎</m:t>
                    </m:r>
                  </m:oMath>
                </a14:m>
                <a:endParaRPr lang="pt-BR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B2CB4DCD-8274-65DE-369F-8C1B24A11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236" y="577977"/>
                <a:ext cx="1898443" cy="3349571"/>
              </a:xfrm>
              <a:prstGeom prst="rect">
                <a:avLst/>
              </a:prstGeom>
              <a:blipFill>
                <a:blip r:embed="rId9"/>
                <a:stretch>
                  <a:fillRect l="-9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21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29" grpId="0"/>
      <p:bldP spid="43" grpId="0"/>
      <p:bldP spid="6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48373-F7BD-ED52-D10C-12159FD2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316D71BA-A12B-7531-A5CA-F7E7E4506BF2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AC599986-CED6-1AB5-FBA8-5CECA14D7D8E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AF45E04A-B26C-1D9A-E845-8277E6C240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466C625A-9217-4682-72CB-D6878E3F1C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7E51B573-E7C8-1BC0-4F01-E0F4862B85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Retângulo 99">
            <a:extLst>
              <a:ext uri="{FF2B5EF4-FFF2-40B4-BE49-F238E27FC236}">
                <a16:creationId xmlns:a16="http://schemas.microsoft.com/office/drawing/2014/main" id="{F7ECB048-B79C-9804-C129-7C393FA80096}"/>
              </a:ext>
            </a:extLst>
          </p:cNvPr>
          <p:cNvSpPr/>
          <p:nvPr/>
        </p:nvSpPr>
        <p:spPr>
          <a:xfrm>
            <a:off x="4845406" y="144672"/>
            <a:ext cx="2056973" cy="461665"/>
          </a:xfrm>
          <a:prstGeom prst="rect">
            <a:avLst/>
          </a:prstGeom>
          <a:solidFill>
            <a:srgbClr val="002465"/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>
            <a:spAutoFit/>
          </a:bodyPr>
          <a:lstStyle/>
          <a:p>
            <a:r>
              <a:rPr lang="pt-BR" sz="2400" b="1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Atividade...</a:t>
            </a:r>
            <a:endParaRPr lang="pt-BR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1FEFBC5-B1DF-C635-50CC-395E9F6D71C5}"/>
              </a:ext>
            </a:extLst>
          </p:cNvPr>
          <p:cNvSpPr txBox="1"/>
          <p:nvPr/>
        </p:nvSpPr>
        <p:spPr>
          <a:xfrm>
            <a:off x="3991702" y="874805"/>
            <a:ext cx="37643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Determine o módulo do vetor soma dos vetores </a:t>
            </a:r>
            <a:r>
              <a:rPr lang="pt-BR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1800" b="1" baseline="-25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1800" b="1" baseline="-25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conforme mostra a figura em que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= 10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 = 15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 = 11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7AA8250-D32E-D31F-9F58-DB53CDF805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873" y="1696534"/>
            <a:ext cx="3766262" cy="3152763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B0FDE58-32C4-C698-2967-F128196CD9B2}"/>
              </a:ext>
            </a:extLst>
          </p:cNvPr>
          <p:cNvSpPr txBox="1"/>
          <p:nvPr/>
        </p:nvSpPr>
        <p:spPr>
          <a:xfrm>
            <a:off x="8288224" y="934329"/>
            <a:ext cx="32231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3) Determine o módulo do vetor soma dos três vetores da figura. Considere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= b = c = 5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8A80BB8F-DC22-92B3-6E73-59F851E3D0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884" y="1798135"/>
            <a:ext cx="3260487" cy="2949562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083A1E32-DF62-A845-87F5-12BD8D83491E}"/>
              </a:ext>
            </a:extLst>
          </p:cNvPr>
          <p:cNvSpPr txBox="1"/>
          <p:nvPr/>
        </p:nvSpPr>
        <p:spPr>
          <a:xfrm>
            <a:off x="251570" y="883498"/>
            <a:ext cx="3093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Determine o módulo do vetor resultante (soma) dos três vetores dados na figura.</a:t>
            </a:r>
            <a:endParaRPr lang="pt-BR" dirty="0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38E3A5E-F1D9-AC83-0D29-DAC0BB5931A7}"/>
              </a:ext>
            </a:extLst>
          </p:cNvPr>
          <p:cNvGrpSpPr/>
          <p:nvPr/>
        </p:nvGrpSpPr>
        <p:grpSpPr>
          <a:xfrm>
            <a:off x="510796" y="2034836"/>
            <a:ext cx="2575102" cy="1869044"/>
            <a:chOff x="687622" y="1955323"/>
            <a:chExt cx="2575102" cy="1869044"/>
          </a:xfrm>
        </p:grpSpPr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B1697D83-8786-276B-5FAE-717ED32E0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622" y="1955323"/>
              <a:ext cx="1876673" cy="1869044"/>
            </a:xfrm>
            <a:prstGeom prst="rect">
              <a:avLst/>
            </a:prstGeom>
          </p:spPr>
        </p:pic>
        <p:sp>
          <p:nvSpPr>
            <p:cNvPr id="24" name="AutoShape 2">
              <a:extLst>
                <a:ext uri="{FF2B5EF4-FFF2-40B4-BE49-F238E27FC236}">
                  <a16:creationId xmlns:a16="http://schemas.microsoft.com/office/drawing/2014/main" id="{AFBECF62-5EDD-8713-AB0C-102262E89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281" y="1968660"/>
              <a:ext cx="125102" cy="436610"/>
            </a:xfrm>
            <a:prstGeom prst="rightBrace">
              <a:avLst>
                <a:gd name="adj1" fmla="val 34722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2D2753FE-CDB9-777D-9BD7-AE6A6EA5E144}"/>
                    </a:ext>
                  </a:extLst>
                </p:cNvPr>
                <p:cNvSpPr txBox="1"/>
                <p:nvPr/>
              </p:nvSpPr>
              <p:spPr>
                <a:xfrm>
                  <a:off x="2752969" y="2063854"/>
                  <a:ext cx="50975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oMath>
                    </m:oMathPara>
                  </a14:m>
                  <a:endParaRPr lang="pt-BR" sz="1600" b="1" dirty="0"/>
                </a:p>
              </p:txBody>
            </p:sp>
          </mc:Choice>
          <mc:Fallback xmlns="">
            <p:sp>
              <p:nvSpPr>
                <p:cNvPr id="31" name="CaixaDeTexto 30">
                  <a:extLst>
                    <a:ext uri="{FF2B5EF4-FFF2-40B4-BE49-F238E27FC236}">
                      <a16:creationId xmlns:a16="http://schemas.microsoft.com/office/drawing/2014/main" id="{2D2753FE-CDB9-777D-9BD7-AE6A6EA5E1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2969" y="2063854"/>
                  <a:ext cx="509755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9639" r="-6024" b="-5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54D33D35-40E1-3A73-AAFD-D4C24FA74710}"/>
              </a:ext>
            </a:extLst>
          </p:cNvPr>
          <p:cNvCxnSpPr/>
          <p:nvPr/>
        </p:nvCxnSpPr>
        <p:spPr>
          <a:xfrm>
            <a:off x="3627783" y="964096"/>
            <a:ext cx="0" cy="41247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3D66A244-48A2-B8D3-478A-39BF6304A5A1}"/>
              </a:ext>
            </a:extLst>
          </p:cNvPr>
          <p:cNvCxnSpPr/>
          <p:nvPr/>
        </p:nvCxnSpPr>
        <p:spPr>
          <a:xfrm>
            <a:off x="8054009" y="964096"/>
            <a:ext cx="0" cy="41247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05219F5-CF0E-5601-D0FA-17047DE9CC41}"/>
              </a:ext>
            </a:extLst>
          </p:cNvPr>
          <p:cNvSpPr txBox="1"/>
          <p:nvPr/>
        </p:nvSpPr>
        <p:spPr>
          <a:xfrm>
            <a:off x="8288224" y="4791566"/>
            <a:ext cx="33917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Dados: (</a:t>
            </a:r>
            <a:r>
              <a:rPr lang="pt-BR" sz="16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</a:t>
            </a:r>
            <a:r>
              <a:rPr lang="pt-BR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30° = 0.5; cos 30° = 0,87).</a:t>
            </a:r>
            <a:endParaRPr lang="pt-BR" sz="1600" b="1" dirty="0"/>
          </a:p>
        </p:txBody>
      </p:sp>
    </p:spTree>
    <p:extLst>
      <p:ext uri="{BB962C8B-B14F-4D97-AF65-F5344CB8AC3E}">
        <p14:creationId xmlns:p14="http://schemas.microsoft.com/office/powerpoint/2010/main" val="342194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" grpId="0"/>
      <p:bldP spid="17" grpId="0"/>
      <p:bldP spid="22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92BF8-D747-FD82-D006-1FED4207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Zoom de Slide 11">
                <a:extLst>
                  <a:ext uri="{FF2B5EF4-FFF2-40B4-BE49-F238E27FC236}">
                    <a16:creationId xmlns:a16="http://schemas.microsoft.com/office/drawing/2014/main" id="{0D650104-00FF-AC9F-D971-2F5D4C53C7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43562887"/>
                  </p:ext>
                </p:extLst>
              </p:nvPr>
            </p:nvGraphicFramePr>
            <p:xfrm>
              <a:off x="3582625" y="1210246"/>
              <a:ext cx="5671021" cy="3189949"/>
            </p:xfrm>
            <a:graphic>
              <a:graphicData uri="http://schemas.microsoft.com/office/powerpoint/2016/slidezoom">
                <pslz:sldZm>
                  <pslz:sldZmObj sldId="349" cId="3438934930">
                    <pslz:zmPr id="{E3808FDA-BDBC-412C-8E74-DC7B7F509BA3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671021" cy="3189949"/>
                        </a:xfrm>
                        <a:prstGeom prst="rect">
                          <a:avLst/>
                        </a:prstGeom>
                        <a:ln w="3175">
                          <a:solidFill>
                            <a:srgbClr val="0070C0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Zoom de Slide 11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D650104-00FF-AC9F-D971-2F5D4C53C7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2625" y="1210246"/>
                <a:ext cx="5671021" cy="3189949"/>
              </a:xfrm>
              <a:prstGeom prst="rect">
                <a:avLst/>
              </a:prstGeom>
              <a:ln w="3175">
                <a:solidFill>
                  <a:srgbClr val="0070C0"/>
                </a:solidFill>
              </a:ln>
            </p:spPr>
          </p:pic>
        </mc:Fallback>
      </mc:AlternateContent>
      <p:grpSp>
        <p:nvGrpSpPr>
          <p:cNvPr id="3" name="Agrupar 2">
            <a:extLst>
              <a:ext uri="{FF2B5EF4-FFF2-40B4-BE49-F238E27FC236}">
                <a16:creationId xmlns:a16="http://schemas.microsoft.com/office/drawing/2014/main" id="{A18DDEC7-9966-C3FF-0609-AD87EE7FF2E5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F01A1984-549B-A647-93F9-238206EDB990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7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91C7FE03-B36D-AE09-CD18-AA156064CC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42A467F8-E9C5-ACA9-DB9B-63CCF43790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6" imgW="357562" imgH="316504" progId="Word.Picture.8">
                  <p:embed/>
                </p:oleObj>
              </mc:Choice>
              <mc:Fallback>
                <p:oleObj name="Picture" r:id="rId6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95B7EBE5-B32F-5DB5-7C54-A17A0D5275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CaixaDeTexto 45">
            <a:extLst>
              <a:ext uri="{FF2B5EF4-FFF2-40B4-BE49-F238E27FC236}">
                <a16:creationId xmlns:a16="http://schemas.microsoft.com/office/drawing/2014/main" id="{942B0C07-AADE-C1D8-F457-77A3A0C82CAE}"/>
              </a:ext>
            </a:extLst>
          </p:cNvPr>
          <p:cNvSpPr txBox="1"/>
          <p:nvPr/>
        </p:nvSpPr>
        <p:spPr>
          <a:xfrm>
            <a:off x="660516" y="112864"/>
            <a:ext cx="6756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COMPLEMENTO DE DADOS SOBRE A REGRA DO PARALELOGRAMO</a:t>
            </a:r>
            <a:r>
              <a:rPr lang="pt-BR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617CD57D-613E-30F8-5E30-7697538802A5}"/>
                  </a:ext>
                </a:extLst>
              </p:cNvPr>
              <p:cNvSpPr txBox="1"/>
              <p:nvPr/>
            </p:nvSpPr>
            <p:spPr>
              <a:xfrm>
                <a:off x="132644" y="479312"/>
                <a:ext cx="11489829" cy="441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Vejamos como determinar o módulo do vetor soma de dois vetores,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que formam entre si um ângulo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qualquer:</a:t>
                </a:r>
                <a:endParaRPr lang="pt-BR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617CD57D-613E-30F8-5E30-769753880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44" y="479312"/>
                <a:ext cx="11489829" cy="441659"/>
              </a:xfrm>
              <a:prstGeom prst="rect">
                <a:avLst/>
              </a:prstGeom>
              <a:blipFill>
                <a:blip r:embed="rId8"/>
                <a:stretch>
                  <a:fillRect l="-477" b="-19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tângulo 9">
            <a:extLst>
              <a:ext uri="{FF2B5EF4-FFF2-40B4-BE49-F238E27FC236}">
                <a16:creationId xmlns:a16="http://schemas.microsoft.com/office/drawing/2014/main" id="{4CE974E7-7F2E-0433-85C8-1285F17B0C91}"/>
              </a:ext>
            </a:extLst>
          </p:cNvPr>
          <p:cNvSpPr/>
          <p:nvPr/>
        </p:nvSpPr>
        <p:spPr>
          <a:xfrm>
            <a:off x="5401149" y="935327"/>
            <a:ext cx="2033972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p3d/>
          </a:bodyPr>
          <a:lstStyle/>
          <a:p>
            <a:r>
              <a:rPr lang="pt-BR" sz="1400" b="1" i="1" dirty="0">
                <a:latin typeface="Bookman Old Style" panose="02050604050505020204" pitchFamily="18" charset="0"/>
              </a:rPr>
              <a:t>Lembrete no slide 4</a:t>
            </a:r>
            <a:endParaRPr lang="pt-BR" sz="1400" dirty="0">
              <a:latin typeface="Bookman Old Style" panose="02050604050505020204" pitchFamily="18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32DFC5A-2F5B-7A20-7A33-9529F8B2E5A1}"/>
              </a:ext>
            </a:extLst>
          </p:cNvPr>
          <p:cNvCxnSpPr>
            <a:cxnSpLocks/>
          </p:cNvCxnSpPr>
          <p:nvPr/>
        </p:nvCxnSpPr>
        <p:spPr>
          <a:xfrm flipH="1">
            <a:off x="3054267" y="3778655"/>
            <a:ext cx="3544897" cy="124186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99E34A0-02E8-10A2-465D-540F421421DF}"/>
              </a:ext>
            </a:extLst>
          </p:cNvPr>
          <p:cNvCxnSpPr>
            <a:cxnSpLocks/>
          </p:cNvCxnSpPr>
          <p:nvPr/>
        </p:nvCxnSpPr>
        <p:spPr>
          <a:xfrm flipH="1">
            <a:off x="3054267" y="4265038"/>
            <a:ext cx="3544897" cy="1832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0D84BB85-424F-B62B-5C7B-EFDBDEF903B4}"/>
              </a:ext>
            </a:extLst>
          </p:cNvPr>
          <p:cNvSpPr txBox="1"/>
          <p:nvPr/>
        </p:nvSpPr>
        <p:spPr>
          <a:xfrm>
            <a:off x="3054267" y="5020515"/>
            <a:ext cx="4005693" cy="107721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pt-BR" sz="1600" b="0" u="none" strike="noStrike" dirty="0">
                <a:effectLst/>
                <a:latin typeface="Google Sans"/>
              </a:rPr>
              <a:t>Mais adiante veremos como somar dois vetores </a:t>
            </a:r>
            <a:r>
              <a:rPr lang="pt-BR" sz="1600" b="1" u="none" strike="noStrike" dirty="0">
                <a:effectLst/>
                <a:latin typeface="Google Sans"/>
              </a:rPr>
              <a:t>não perpendiculares</a:t>
            </a:r>
            <a:r>
              <a:rPr lang="pt-BR" sz="1600" dirty="0">
                <a:latin typeface="Google Sans"/>
              </a:rPr>
              <a:t>, usando método algébrico por componentes ou </a:t>
            </a:r>
            <a:r>
              <a:rPr lang="pt-BR" sz="1600" b="0" u="none" strike="noStrike" dirty="0">
                <a:effectLst/>
                <a:latin typeface="Google Sans"/>
              </a:rPr>
              <a:t>o método </a:t>
            </a:r>
            <a:r>
              <a:rPr lang="pt-BR" sz="1600" b="1" u="none" strike="noStrike" dirty="0">
                <a:effectLst/>
                <a:latin typeface="Google Sans"/>
              </a:rPr>
              <a:t>trigonométrico</a:t>
            </a:r>
            <a:r>
              <a:rPr lang="pt-BR" sz="1600" b="0" u="none" strike="noStrike" dirty="0">
                <a:effectLst/>
                <a:latin typeface="Google Sans"/>
              </a:rPr>
              <a:t> usando a </a:t>
            </a:r>
            <a:r>
              <a:rPr lang="pt-BR" sz="1600" b="1" u="none" strike="noStrike" dirty="0">
                <a:effectLst/>
                <a:latin typeface="Google Sans"/>
              </a:rPr>
              <a:t>Lei dos Cossenos</a:t>
            </a:r>
            <a:r>
              <a:rPr lang="pt-BR" sz="1600" b="0" u="none" strike="noStrike" dirty="0">
                <a:effectLst/>
                <a:latin typeface="Google Sans"/>
              </a:rPr>
              <a:t>.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70DDA9E0-55C7-B7AE-C7B6-3463B4F0A6E1}"/>
              </a:ext>
            </a:extLst>
          </p:cNvPr>
          <p:cNvCxnSpPr>
            <a:cxnSpLocks/>
          </p:cNvCxnSpPr>
          <p:nvPr/>
        </p:nvCxnSpPr>
        <p:spPr>
          <a:xfrm flipH="1">
            <a:off x="7059960" y="3778655"/>
            <a:ext cx="1413400" cy="1241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727D7594-3FCE-5C26-151D-FE9606A349A8}"/>
              </a:ext>
            </a:extLst>
          </p:cNvPr>
          <p:cNvCxnSpPr>
            <a:cxnSpLocks/>
          </p:cNvCxnSpPr>
          <p:nvPr/>
        </p:nvCxnSpPr>
        <p:spPr>
          <a:xfrm flipH="1">
            <a:off x="7059960" y="4276712"/>
            <a:ext cx="1413400" cy="1821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ta: para Cima 1">
            <a:extLst>
              <a:ext uri="{FF2B5EF4-FFF2-40B4-BE49-F238E27FC236}">
                <a16:creationId xmlns:a16="http://schemas.microsoft.com/office/drawing/2014/main" id="{C0514E30-8095-0189-93A7-2E3C8FD5B8C5}"/>
              </a:ext>
            </a:extLst>
          </p:cNvPr>
          <p:cNvSpPr/>
          <p:nvPr/>
        </p:nvSpPr>
        <p:spPr>
          <a:xfrm>
            <a:off x="6287414" y="6127879"/>
            <a:ext cx="261442" cy="38088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44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8" grpId="0"/>
      <p:bldP spid="10" grpId="0"/>
      <p:bldP spid="76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DA53A-1B6A-CC82-06C9-0CDD05FD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ABA42BA6-9887-5BC5-2806-EABE54D57685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2BDE2001-2C28-E454-9A15-8F80D4A9A5F9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8792CF83-221D-4B71-D00E-CEA0852A4E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A9050A0-CDDD-394A-D040-9B5B7FB2CB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32EFA99B-7364-6396-6932-3B72745CF8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45098FE4-458A-2D29-1B14-F1869728946E}"/>
              </a:ext>
            </a:extLst>
          </p:cNvPr>
          <p:cNvSpPr txBox="1"/>
          <p:nvPr/>
        </p:nvSpPr>
        <p:spPr>
          <a:xfrm>
            <a:off x="63022" y="529702"/>
            <a:ext cx="11619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 alterar o módulo, a direção e o sentido de cada vetor, desenhamos os dois vetores com suas origens coincidentes. </a:t>
            </a:r>
            <a:endParaRPr lang="pt-BR" dirty="0"/>
          </a:p>
        </p:txBody>
      </p:sp>
      <p:pic>
        <p:nvPicPr>
          <p:cNvPr id="47" name="Imagem 46">
            <a:extLst>
              <a:ext uri="{FF2B5EF4-FFF2-40B4-BE49-F238E27FC236}">
                <a16:creationId xmlns:a16="http://schemas.microsoft.com/office/drawing/2014/main" id="{25AD527E-0C32-30C6-6CE3-8E0BD541A11B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0000" y="0"/>
            <a:ext cx="3600000" cy="3600000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8F89F32F-4416-8AF1-D777-74F854608C3F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58882" y="910391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6FFE098F-D803-1B10-30D0-D7CF2F0E943A}"/>
                  </a:ext>
                </a:extLst>
              </p:cNvPr>
              <p:cNvSpPr txBox="1"/>
              <p:nvPr/>
            </p:nvSpPr>
            <p:spPr>
              <a:xfrm>
                <a:off x="1338882" y="1972517"/>
                <a:ext cx="1867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6FFE098F-D803-1B10-30D0-D7CF2F0E9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882" y="1972517"/>
                <a:ext cx="186781" cy="276999"/>
              </a:xfrm>
              <a:prstGeom prst="rect">
                <a:avLst/>
              </a:prstGeom>
              <a:blipFill>
                <a:blip r:embed="rId7"/>
                <a:stretch>
                  <a:fillRect l="-36667" t="-48889" r="-100000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327DF931-5F8A-FFCB-226F-BC99057823AA}"/>
                  </a:ext>
                </a:extLst>
              </p:cNvPr>
              <p:cNvSpPr txBox="1"/>
              <p:nvPr/>
            </p:nvSpPr>
            <p:spPr>
              <a:xfrm>
                <a:off x="3104722" y="1830832"/>
                <a:ext cx="182999" cy="317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327DF931-5F8A-FFCB-226F-BC9905782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722" y="1830832"/>
                <a:ext cx="182999" cy="317972"/>
              </a:xfrm>
              <a:prstGeom prst="rect">
                <a:avLst/>
              </a:prstGeom>
              <a:blipFill>
                <a:blip r:embed="rId8"/>
                <a:stretch>
                  <a:fillRect l="-33333" r="-26667" b="-76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Seta: para a Direita 54">
            <a:extLst>
              <a:ext uri="{FF2B5EF4-FFF2-40B4-BE49-F238E27FC236}">
                <a16:creationId xmlns:a16="http://schemas.microsoft.com/office/drawing/2014/main" id="{283DD085-ADA8-87A6-2388-81C36C2A3014}"/>
              </a:ext>
            </a:extLst>
          </p:cNvPr>
          <p:cNvSpPr/>
          <p:nvPr/>
        </p:nvSpPr>
        <p:spPr>
          <a:xfrm>
            <a:off x="4680000" y="1873594"/>
            <a:ext cx="658368" cy="5120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4" name="Imagem 63">
            <a:extLst>
              <a:ext uri="{FF2B5EF4-FFF2-40B4-BE49-F238E27FC236}">
                <a16:creationId xmlns:a16="http://schemas.microsoft.com/office/drawing/2014/main" id="{8EF06383-2DA8-D8C0-EEF3-330C4B34D022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00000" y="0"/>
            <a:ext cx="3600000" cy="3600000"/>
          </a:xfrm>
          <a:prstGeom prst="rect">
            <a:avLst/>
          </a:prstGeom>
        </p:spPr>
      </p:pic>
      <p:pic>
        <p:nvPicPr>
          <p:cNvPr id="66" name="Imagem 65">
            <a:extLst>
              <a:ext uri="{FF2B5EF4-FFF2-40B4-BE49-F238E27FC236}">
                <a16:creationId xmlns:a16="http://schemas.microsoft.com/office/drawing/2014/main" id="{B0695447-19F1-8E04-9D8C-7E87BA2C1552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00000" y="0"/>
            <a:ext cx="3600000" cy="3600000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C29AE306-E8A4-E0E1-65C2-5C25950F3174}"/>
              </a:ext>
            </a:extLst>
          </p:cNvPr>
          <p:cNvPicPr preferRelativeResize="0">
            <a:picLocks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00000" y="0"/>
            <a:ext cx="3600000" cy="3600000"/>
          </a:xfrm>
          <a:prstGeom prst="rect">
            <a:avLst/>
          </a:prstGeom>
        </p:spPr>
      </p:pic>
      <p:pic>
        <p:nvPicPr>
          <p:cNvPr id="70" name="Imagem 69">
            <a:extLst>
              <a:ext uri="{FF2B5EF4-FFF2-40B4-BE49-F238E27FC236}">
                <a16:creationId xmlns:a16="http://schemas.microsoft.com/office/drawing/2014/main" id="{6D99F4A8-011E-13AC-96E4-7AE0DE638F28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00000" y="0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BC0BA7A5-FB64-DD51-0FF0-AF3D468BFE74}"/>
                  </a:ext>
                </a:extLst>
              </p:cNvPr>
              <p:cNvSpPr txBox="1"/>
              <p:nvPr/>
            </p:nvSpPr>
            <p:spPr>
              <a:xfrm>
                <a:off x="6192101" y="1778825"/>
                <a:ext cx="1867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BC0BA7A5-FB64-DD51-0FF0-AF3D468BF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2101" y="1778825"/>
                <a:ext cx="186781" cy="276999"/>
              </a:xfrm>
              <a:prstGeom prst="rect">
                <a:avLst/>
              </a:prstGeom>
              <a:blipFill>
                <a:blip r:embed="rId13"/>
                <a:stretch>
                  <a:fillRect l="-36667" t="-48889" r="-100000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C551A674-BEAA-FDF1-51DC-E487FB213D84}"/>
                  </a:ext>
                </a:extLst>
              </p:cNvPr>
              <p:cNvSpPr txBox="1"/>
              <p:nvPr/>
            </p:nvSpPr>
            <p:spPr>
              <a:xfrm>
                <a:off x="6356565" y="2617643"/>
                <a:ext cx="182999" cy="317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C551A674-BEAA-FDF1-51DC-E487FB213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65" y="2617643"/>
                <a:ext cx="182999" cy="317972"/>
              </a:xfrm>
              <a:prstGeom prst="rect">
                <a:avLst/>
              </a:prstGeom>
              <a:blipFill>
                <a:blip r:embed="rId14"/>
                <a:stretch>
                  <a:fillRect l="-33333" r="-26667" b="-566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DD1DF9BB-BF59-DE7C-60B0-6C5254E6CBF9}"/>
                  </a:ext>
                </a:extLst>
              </p:cNvPr>
              <p:cNvSpPr txBox="1"/>
              <p:nvPr/>
            </p:nvSpPr>
            <p:spPr>
              <a:xfrm>
                <a:off x="6261828" y="2234020"/>
                <a:ext cx="1894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DD1DF9BB-BF59-DE7C-60B0-6C5254E6C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828" y="2234020"/>
                <a:ext cx="189475" cy="276999"/>
              </a:xfrm>
              <a:prstGeom prst="rect">
                <a:avLst/>
              </a:prstGeom>
              <a:blipFill>
                <a:blip r:embed="rId15"/>
                <a:stretch>
                  <a:fillRect l="-29032" r="-25806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Imagem 74">
            <a:extLst>
              <a:ext uri="{FF2B5EF4-FFF2-40B4-BE49-F238E27FC236}">
                <a16:creationId xmlns:a16="http://schemas.microsoft.com/office/drawing/2014/main" id="{3FF27F5E-144F-1FEB-790A-5CAF33EE4DEB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00000" y="0"/>
            <a:ext cx="3600000" cy="3600000"/>
          </a:xfrm>
          <a:prstGeom prst="rect">
            <a:avLst/>
          </a:prstGeom>
        </p:spPr>
      </p:pic>
      <p:pic>
        <p:nvPicPr>
          <p:cNvPr id="79" name="Imagem 78">
            <a:extLst>
              <a:ext uri="{FF2B5EF4-FFF2-40B4-BE49-F238E27FC236}">
                <a16:creationId xmlns:a16="http://schemas.microsoft.com/office/drawing/2014/main" id="{E7CE9F25-94B6-08E0-8E73-2C559E19A851}"/>
              </a:ext>
            </a:extLst>
          </p:cNvPr>
          <p:cNvPicPr preferRelativeResize="0">
            <a:picLocks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00000" y="0"/>
            <a:ext cx="3600000" cy="3600000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71829978-B30F-4ADE-684B-9418CE40BF19}"/>
              </a:ext>
            </a:extLst>
          </p:cNvPr>
          <p:cNvPicPr preferRelativeResize="0">
            <a:picLocks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00000" y="0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EEE3A4B7-94F2-467B-FA4D-8254BCC15A52}"/>
                  </a:ext>
                </a:extLst>
              </p:cNvPr>
              <p:cNvSpPr txBox="1"/>
              <p:nvPr/>
            </p:nvSpPr>
            <p:spPr>
              <a:xfrm>
                <a:off x="389738" y="2993630"/>
                <a:ext cx="4407316" cy="1150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partir da extremidade do 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6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6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traçamos um segmento de reta paralelo ao 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6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6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Em seguida, a partir da extremidade do 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6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6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traçamos um outro segmento paralelo ao 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6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600" b="1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BR" sz="1600" dirty="0"/>
              </a:p>
            </p:txBody>
          </p:sp>
        </mc:Choice>
        <mc:Fallback xmlns="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EEE3A4B7-94F2-467B-FA4D-8254BCC15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38" y="2993630"/>
                <a:ext cx="4407316" cy="1150571"/>
              </a:xfrm>
              <a:prstGeom prst="rect">
                <a:avLst/>
              </a:prstGeom>
              <a:blipFill>
                <a:blip r:embed="rId19"/>
                <a:stretch>
                  <a:fillRect l="-830" t="-1587" r="-692" b="-58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CaixaDeTexto 86">
            <a:extLst>
              <a:ext uri="{FF2B5EF4-FFF2-40B4-BE49-F238E27FC236}">
                <a16:creationId xmlns:a16="http://schemas.microsoft.com/office/drawing/2014/main" id="{E5B7D7D6-843D-1394-2EF9-207599845DE6}"/>
              </a:ext>
            </a:extLst>
          </p:cNvPr>
          <p:cNvSpPr txBox="1"/>
          <p:nvPr/>
        </p:nvSpPr>
        <p:spPr>
          <a:xfrm>
            <a:off x="7889612" y="3001539"/>
            <a:ext cx="3256250" cy="1208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vetor soma</a:t>
            </a:r>
            <a:r>
              <a:rPr lang="pt-B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é obtido pela ligação do ponto de origem comum dos vetores ao ponto de cruzamento dos segmentos de reta traçados.</a:t>
            </a:r>
            <a:endParaRPr lang="pt-B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id="{98657C07-E6B8-92EE-8A8A-7BEBD14B3107}"/>
                  </a:ext>
                </a:extLst>
              </p:cNvPr>
              <p:cNvSpPr txBox="1"/>
              <p:nvPr/>
            </p:nvSpPr>
            <p:spPr>
              <a:xfrm>
                <a:off x="3858882" y="4134767"/>
                <a:ext cx="3851128" cy="964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Sendo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 ângulo formado entre os vetores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800" b="1" i="1" dirty="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calculamos os módulos do vetor soma através da expressão:</a:t>
                </a:r>
                <a:endParaRPr lang="pt-BR" dirty="0"/>
              </a:p>
            </p:txBody>
          </p:sp>
        </mc:Choice>
        <mc:Fallback xmlns=""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id="{98657C07-E6B8-92EE-8A8A-7BEBD14B3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882" y="4134767"/>
                <a:ext cx="3851128" cy="964495"/>
              </a:xfrm>
              <a:prstGeom prst="rect">
                <a:avLst/>
              </a:prstGeom>
              <a:blipFill>
                <a:blip r:embed="rId20"/>
                <a:stretch>
                  <a:fillRect l="-1266" t="-3165" r="-1424" b="-94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aixaDeTexto 90">
                <a:extLst>
                  <a:ext uri="{FF2B5EF4-FFF2-40B4-BE49-F238E27FC236}">
                    <a16:creationId xmlns:a16="http://schemas.microsoft.com/office/drawing/2014/main" id="{A70AE322-E0EF-C6FD-B298-98AAD7AD80AE}"/>
                  </a:ext>
                </a:extLst>
              </p:cNvPr>
              <p:cNvSpPr txBox="1"/>
              <p:nvPr/>
            </p:nvSpPr>
            <p:spPr>
              <a:xfrm>
                <a:off x="4087638" y="5161333"/>
                <a:ext cx="3142488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p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pt-BR" b="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pt-BR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pt-BR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𝒂𝒃</m:t>
                      </m:r>
                      <m:func>
                        <m:func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1" name="CaixaDeTexto 90">
                <a:extLst>
                  <a:ext uri="{FF2B5EF4-FFF2-40B4-BE49-F238E27FC236}">
                    <a16:creationId xmlns:a16="http://schemas.microsoft.com/office/drawing/2014/main" id="{A70AE322-E0EF-C6FD-B298-98AAD7AD8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638" y="5161333"/>
                <a:ext cx="3142488" cy="37555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" name="Imagem 91">
            <a:extLst>
              <a:ext uri="{FF2B5EF4-FFF2-40B4-BE49-F238E27FC236}">
                <a16:creationId xmlns:a16="http://schemas.microsoft.com/office/drawing/2014/main" id="{3248CE9C-A5F6-7860-33EE-93B2F838EE4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0" y="5546746"/>
            <a:ext cx="360000" cy="360000"/>
          </a:xfrm>
          <a:prstGeom prst="rect">
            <a:avLst/>
          </a:prstGeom>
        </p:spPr>
      </p:pic>
      <p:grpSp>
        <p:nvGrpSpPr>
          <p:cNvPr id="93" name="Agrupar 92">
            <a:extLst>
              <a:ext uri="{FF2B5EF4-FFF2-40B4-BE49-F238E27FC236}">
                <a16:creationId xmlns:a16="http://schemas.microsoft.com/office/drawing/2014/main" id="{3D5680C3-1B32-74E5-F912-B45496DC9719}"/>
              </a:ext>
            </a:extLst>
          </p:cNvPr>
          <p:cNvGrpSpPr/>
          <p:nvPr/>
        </p:nvGrpSpPr>
        <p:grpSpPr>
          <a:xfrm>
            <a:off x="4873060" y="5634029"/>
            <a:ext cx="1733012" cy="669330"/>
            <a:chOff x="5818354" y="3206460"/>
            <a:chExt cx="1328199" cy="1075642"/>
          </a:xfrm>
        </p:grpSpPr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EF680C60-F5CB-2F69-CA1A-FBD7B5E8A846}"/>
                </a:ext>
              </a:extLst>
            </p:cNvPr>
            <p:cNvSpPr txBox="1"/>
            <p:nvPr/>
          </p:nvSpPr>
          <p:spPr>
            <a:xfrm>
              <a:off x="5818354" y="3738031"/>
              <a:ext cx="1328199" cy="544071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pt-BR" sz="1600" b="1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Lei dos cossenos...</a:t>
              </a:r>
              <a:endParaRPr lang="pt-BR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95" name="Conector de Seta Reta 94">
              <a:extLst>
                <a:ext uri="{FF2B5EF4-FFF2-40B4-BE49-F238E27FC236}">
                  <a16:creationId xmlns:a16="http://schemas.microsoft.com/office/drawing/2014/main" id="{BCFA72A9-7BB4-9099-3C9E-81A4C3AE89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3725" y="3206460"/>
              <a:ext cx="1" cy="5293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Retângulo 99">
            <a:extLst>
              <a:ext uri="{FF2B5EF4-FFF2-40B4-BE49-F238E27FC236}">
                <a16:creationId xmlns:a16="http://schemas.microsoft.com/office/drawing/2014/main" id="{576CFB06-D792-391B-4BE8-1458F5C07E80}"/>
              </a:ext>
            </a:extLst>
          </p:cNvPr>
          <p:cNvSpPr/>
          <p:nvPr/>
        </p:nvSpPr>
        <p:spPr>
          <a:xfrm>
            <a:off x="8099897" y="6079024"/>
            <a:ext cx="1882247" cy="461665"/>
          </a:xfrm>
          <a:prstGeom prst="rect">
            <a:avLst/>
          </a:prstGeom>
          <a:solidFill>
            <a:srgbClr val="002465"/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>
            <a:spAutoFit/>
          </a:bodyPr>
          <a:lstStyle/>
          <a:p>
            <a:r>
              <a:rPr lang="pt-BR" sz="2400" b="1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Exemplo...</a:t>
            </a:r>
            <a:endParaRPr lang="pt-BR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867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4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</p:childTnLst>
        </p:cTn>
      </p:par>
    </p:tnLst>
    <p:bldLst>
      <p:bldP spid="10" grpId="0"/>
      <p:bldP spid="53" grpId="0"/>
      <p:bldP spid="53" grpId="1"/>
      <p:bldP spid="54" grpId="0"/>
      <p:bldP spid="54" grpId="1"/>
      <p:bldP spid="55" grpId="0" animBg="1"/>
      <p:bldP spid="71" grpId="0"/>
      <p:bldP spid="72" grpId="0"/>
      <p:bldP spid="73" grpId="0"/>
      <p:bldP spid="85" grpId="0"/>
      <p:bldP spid="87" grpId="0"/>
      <p:bldP spid="89" grpId="0"/>
      <p:bldP spid="91" grpId="0"/>
      <p:bldP spid="10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3F48-A6B5-71F9-11EB-68FF4758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7B22F48D-9CF7-0347-0D6F-AD7E6F622C24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84472FD1-946D-723F-C49B-657AFB0BBCD9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C8B94AC6-D810-45E8-9F07-47EC7AF6F9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7E51B573-E7C8-1BC0-4F01-E0F4862B85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A9050A0-CDDD-394A-D040-9B5B7FB2CB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Retângulo 99">
            <a:extLst>
              <a:ext uri="{FF2B5EF4-FFF2-40B4-BE49-F238E27FC236}">
                <a16:creationId xmlns:a16="http://schemas.microsoft.com/office/drawing/2014/main" id="{9075AF44-274B-A314-E1E9-1155AA4A49E5}"/>
              </a:ext>
            </a:extLst>
          </p:cNvPr>
          <p:cNvSpPr/>
          <p:nvPr/>
        </p:nvSpPr>
        <p:spPr>
          <a:xfrm>
            <a:off x="4278876" y="104956"/>
            <a:ext cx="1882247" cy="461665"/>
          </a:xfrm>
          <a:prstGeom prst="rect">
            <a:avLst/>
          </a:prstGeom>
          <a:solidFill>
            <a:srgbClr val="002465"/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>
            <a:spAutoFit/>
          </a:bodyPr>
          <a:lstStyle/>
          <a:p>
            <a:r>
              <a:rPr lang="pt-BR" sz="2400" b="1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Exemplo...</a:t>
            </a:r>
            <a:endParaRPr lang="pt-BR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613F51-B1AF-1542-86D4-A4E823C4A62A}"/>
              </a:ext>
            </a:extLst>
          </p:cNvPr>
          <p:cNvSpPr txBox="1"/>
          <p:nvPr/>
        </p:nvSpPr>
        <p:spPr>
          <a:xfrm>
            <a:off x="315190" y="740604"/>
            <a:ext cx="11659691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Como exemplo numérico, vamos considerar que os vetores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possuam módulos, dados por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= 6 u 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 = 8 u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 que o ângulo entre eles seja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θ = 60°</a:t>
            </a:r>
            <a:r>
              <a:rPr lang="pt-BR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Nesse caso, o módulo do vetor soma (s) vale: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831CBE5-B85E-21E1-3579-43AA7A80BA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97" y="1461199"/>
            <a:ext cx="2503166" cy="13342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B95D7C66-1819-3ED3-85D1-97D43D3E4C6D}"/>
                  </a:ext>
                </a:extLst>
              </p:cNvPr>
              <p:cNvSpPr txBox="1"/>
              <p:nvPr/>
            </p:nvSpPr>
            <p:spPr>
              <a:xfrm>
                <a:off x="3276033" y="1630636"/>
                <a:ext cx="5770180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pt-BR" b="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+2</m:t>
                          </m:r>
                          <m:d>
                            <m:d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  <m:d>
                            <m:d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d>
                          <m:d>
                            <m:d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</m:e>
                      </m:rad>
                      <m:r>
                        <a:rPr lang="pt-BR" b="0" i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pt-BR" b="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148</m:t>
                          </m:r>
                        </m:e>
                      </m:ra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12,17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B95D7C66-1819-3ED3-85D1-97D43D3E4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033" y="1630636"/>
                <a:ext cx="5770180" cy="4277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ixaDeTexto 15">
            <a:extLst>
              <a:ext uri="{FF2B5EF4-FFF2-40B4-BE49-F238E27FC236}">
                <a16:creationId xmlns:a16="http://schemas.microsoft.com/office/drawing/2014/main" id="{17C1D8BE-5FFB-77D7-FC99-F170B2543CC4}"/>
              </a:ext>
            </a:extLst>
          </p:cNvPr>
          <p:cNvSpPr txBox="1"/>
          <p:nvPr/>
        </p:nvSpPr>
        <p:spPr>
          <a:xfrm>
            <a:off x="3102280" y="2357366"/>
            <a:ext cx="5432687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Casos particulares da regra do paralelogramo:</a:t>
            </a: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ED42A0B-E1C6-45B7-9322-F5B3658A92EB}"/>
              </a:ext>
            </a:extLst>
          </p:cNvPr>
          <p:cNvSpPr txBox="1"/>
          <p:nvPr/>
        </p:nvSpPr>
        <p:spPr>
          <a:xfrm>
            <a:off x="236452" y="3079258"/>
            <a:ext cx="1614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Ângulo θ = 0°</a:t>
            </a:r>
            <a:endParaRPr lang="pt-BR" b="1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EBBEF4B2-33A0-FA4D-8B8D-40863EEC893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3" y="3668191"/>
            <a:ext cx="2849750" cy="20332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A9D7BD22-6B55-3D7F-71B1-EFD718F044A3}"/>
                  </a:ext>
                </a:extLst>
              </p:cNvPr>
              <p:cNvSpPr txBox="1"/>
              <p:nvPr/>
            </p:nvSpPr>
            <p:spPr>
              <a:xfrm>
                <a:off x="689615" y="5748064"/>
                <a:ext cx="14479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pt-BR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A9D7BD22-6B55-3D7F-71B1-EFD718F04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15" y="5748064"/>
                <a:ext cx="14479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D78C4802-5311-6020-14BD-5116A016316C}"/>
              </a:ext>
            </a:extLst>
          </p:cNvPr>
          <p:cNvCxnSpPr>
            <a:cxnSpLocks/>
          </p:cNvCxnSpPr>
          <p:nvPr/>
        </p:nvCxnSpPr>
        <p:spPr>
          <a:xfrm flipH="1">
            <a:off x="3276033" y="3010071"/>
            <a:ext cx="13162" cy="31168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B93EE78-BA3B-AC64-FF11-519ED599CCAF}"/>
              </a:ext>
            </a:extLst>
          </p:cNvPr>
          <p:cNvSpPr txBox="1"/>
          <p:nvPr/>
        </p:nvSpPr>
        <p:spPr>
          <a:xfrm>
            <a:off x="4425019" y="2942582"/>
            <a:ext cx="1838141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Ângulo θ = 90°</a:t>
            </a:r>
            <a:endParaRPr lang="pt-BR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FCCF286D-EAA6-DBFF-4FC5-AD637412A6C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651" y="3273119"/>
            <a:ext cx="2402472" cy="2508581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295E06A-0F81-1EB8-08CD-4381579E2923}"/>
              </a:ext>
            </a:extLst>
          </p:cNvPr>
          <p:cNvSpPr txBox="1"/>
          <p:nvPr/>
        </p:nvSpPr>
        <p:spPr>
          <a:xfrm>
            <a:off x="8435437" y="2946092"/>
            <a:ext cx="173054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Ângulo θ = 180°</a:t>
            </a:r>
            <a:endParaRPr lang="pt-BR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CED6EC60-10E7-F7DD-AA8C-BE46A0843ABA}"/>
              </a:ext>
            </a:extLst>
          </p:cNvPr>
          <p:cNvCxnSpPr>
            <a:cxnSpLocks/>
          </p:cNvCxnSpPr>
          <p:nvPr/>
        </p:nvCxnSpPr>
        <p:spPr>
          <a:xfrm>
            <a:off x="7299612" y="2942582"/>
            <a:ext cx="0" cy="30903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m 33">
            <a:extLst>
              <a:ext uri="{FF2B5EF4-FFF2-40B4-BE49-F238E27FC236}">
                <a16:creationId xmlns:a16="http://schemas.microsoft.com/office/drawing/2014/main" id="{5345895E-9D26-F678-476F-E76603A0EAD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942" y="3293918"/>
            <a:ext cx="2077874" cy="24126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3FB97097-5745-CA13-40EB-11DE4F809F8F}"/>
                  </a:ext>
                </a:extLst>
              </p:cNvPr>
              <p:cNvSpPr txBox="1"/>
              <p:nvPr/>
            </p:nvSpPr>
            <p:spPr>
              <a:xfrm>
                <a:off x="8043157" y="5848263"/>
                <a:ext cx="17305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pt-BR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3FB97097-5745-CA13-40EB-11DE4F809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157" y="5848263"/>
                <a:ext cx="173054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0F919268-454D-5005-9F6C-9D19BC4CA11A}"/>
                  </a:ext>
                </a:extLst>
              </p:cNvPr>
              <p:cNvSpPr txBox="1"/>
              <p:nvPr/>
            </p:nvSpPr>
            <p:spPr>
              <a:xfrm>
                <a:off x="4134556" y="5848263"/>
                <a:ext cx="17305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p>
                          <m:r>
                            <a:rPr lang="pt-B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pt-B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pt-B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0F919268-454D-5005-9F6C-9D19BC4CA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556" y="5848263"/>
                <a:ext cx="17305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89583B2C-C265-D13B-D526-E5636C1C0B59}"/>
                  </a:ext>
                </a:extLst>
              </p:cNvPr>
              <p:cNvSpPr txBox="1"/>
              <p:nvPr/>
            </p:nvSpPr>
            <p:spPr>
              <a:xfrm>
                <a:off x="8043157" y="2381657"/>
                <a:ext cx="3142488" cy="375552"/>
              </a:xfrm>
              <a:prstGeom prst="rect">
                <a:avLst/>
              </a:prstGeom>
              <a:solidFill>
                <a:srgbClr val="002465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p>
                          <m:r>
                            <a:rPr lang="pt-BR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pt-BR" b="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pt-BR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pt-BR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func>
                        <m:funcPr>
                          <m:ctrlPr>
                            <a:rPr lang="pt-B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pt-B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89583B2C-C265-D13B-D526-E5636C1C0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157" y="2381657"/>
                <a:ext cx="3142488" cy="3755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tângulo 41">
            <a:extLst>
              <a:ext uri="{FF2B5EF4-FFF2-40B4-BE49-F238E27FC236}">
                <a16:creationId xmlns:a16="http://schemas.microsoft.com/office/drawing/2014/main" id="{5ED23938-BF84-9DFB-DB26-336CAC58690F}"/>
              </a:ext>
            </a:extLst>
          </p:cNvPr>
          <p:cNvSpPr/>
          <p:nvPr/>
        </p:nvSpPr>
        <p:spPr>
          <a:xfrm>
            <a:off x="864704" y="5781700"/>
            <a:ext cx="1113183" cy="2811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5E78BB87-5F3D-7A26-B44E-F69DEC626F6B}"/>
              </a:ext>
            </a:extLst>
          </p:cNvPr>
          <p:cNvSpPr/>
          <p:nvPr/>
        </p:nvSpPr>
        <p:spPr>
          <a:xfrm>
            <a:off x="4311581" y="5870298"/>
            <a:ext cx="1376489" cy="32526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6B00567C-F6D0-6BD4-D1FF-C8C49DFBAB56}"/>
              </a:ext>
            </a:extLst>
          </p:cNvPr>
          <p:cNvSpPr/>
          <p:nvPr/>
        </p:nvSpPr>
        <p:spPr>
          <a:xfrm>
            <a:off x="8336065" y="5880237"/>
            <a:ext cx="1285013" cy="30322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191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1" grpId="0"/>
      <p:bldP spid="14" grpId="0"/>
      <p:bldP spid="16" grpId="0"/>
      <p:bldP spid="20" grpId="0"/>
      <p:bldP spid="25" grpId="0"/>
      <p:bldP spid="29" grpId="0"/>
      <p:bldP spid="32" grpId="0"/>
      <p:bldP spid="36" grpId="0"/>
      <p:bldP spid="38" grpId="0"/>
      <p:bldP spid="41" grpId="0" animBg="1"/>
      <p:bldP spid="42" grpId="0" animBg="1"/>
      <p:bldP spid="43" grpId="0" animBg="1"/>
      <p:bldP spid="4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0013A-E3BC-A505-8563-CAFFADAB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C29991E4-08D7-3C9B-C55C-DE15E9371F55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7D835F02-9388-6AB0-662F-838F38536009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C99E1BF1-8C48-2069-D834-5849638E80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9AD805D4-8076-7E64-0177-B6FED386EE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466C625A-9217-4682-72CB-D6878E3F1C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8D0E771F-30F2-A713-4674-6461A3BBC061}"/>
              </a:ext>
            </a:extLst>
          </p:cNvPr>
          <p:cNvSpPr txBox="1"/>
          <p:nvPr/>
        </p:nvSpPr>
        <p:spPr>
          <a:xfrm>
            <a:off x="770206" y="104956"/>
            <a:ext cx="515229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COORDENADAS CARTESIANAS NO ESPAÇO.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7E260B-ADE9-52FF-AE67-56D7D03FB85D}"/>
              </a:ext>
            </a:extLst>
          </p:cNvPr>
          <p:cNvSpPr txBox="1"/>
          <p:nvPr/>
        </p:nvSpPr>
        <p:spPr>
          <a:xfrm>
            <a:off x="111713" y="595203"/>
            <a:ext cx="11590020" cy="102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Estudamos no conteúdo anterior o sistema de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coordenadas no plano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que estabelece uma bijeção entre os pontos do plano e os pares ordenados de números reais. Cada ponto do espaço tem coordenadas únicas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(a, b, c)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 relação aos eixos. Denotamos o conjunto de todos esses ternos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(a, b, c) 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</a:t>
            </a:r>
            <a:r>
              <a:rPr lang="pt-BR" sz="1800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ℝ</a:t>
            </a:r>
            <a:r>
              <a:rPr lang="pt-BR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B2EF388-6093-B7B5-122F-C243AB7335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535" y="2077948"/>
            <a:ext cx="4761328" cy="401883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FCAC3D4-FF45-9220-B8B0-DCB49624B3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245" y="1916575"/>
            <a:ext cx="2569648" cy="44457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B8D6551-B8B0-1FDF-F5B1-E931E6E9E5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893" y="4749672"/>
            <a:ext cx="2944837" cy="505326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2B86488-AB2E-B59D-F593-79144C5A10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270" y="4255295"/>
            <a:ext cx="1818414" cy="137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9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5A754-0660-D0ED-82D3-E42C8AAC3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15B5AD1C-DEC5-3C29-2A07-D9FDCA4D2678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2BB2D9CF-D336-F0AA-A5AD-597285FA8CE6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E7D21B0E-6868-45DF-818A-AB0BFB9817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3513CB09-1225-5A51-F09E-C75A1B59D5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9AD805D4-8076-7E64-0177-B6FED386EE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aixaDeTexto 11">
            <a:extLst>
              <a:ext uri="{FF2B5EF4-FFF2-40B4-BE49-F238E27FC236}">
                <a16:creationId xmlns:a16="http://schemas.microsoft.com/office/drawing/2014/main" id="{C36C8AE4-A6F4-2944-8DD6-3B969B78D3D7}"/>
              </a:ext>
            </a:extLst>
          </p:cNvPr>
          <p:cNvSpPr txBox="1"/>
          <p:nvPr/>
        </p:nvSpPr>
        <p:spPr>
          <a:xfrm>
            <a:off x="656535" y="120926"/>
            <a:ext cx="97477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planos coordenados em </a:t>
            </a:r>
            <a:r>
              <a:rPr lang="pt-BR" sz="2000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ℝ</a:t>
            </a:r>
            <a:r>
              <a:rPr lang="pt-BR" sz="20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são definidos colocando uma das coordenadas igual a zero. </a:t>
            </a:r>
            <a:endParaRPr lang="pt-BR" sz="20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7C4F724-C600-E1BD-1854-41B7B3A1377D}"/>
              </a:ext>
            </a:extLst>
          </p:cNvPr>
          <p:cNvSpPr txBox="1"/>
          <p:nvPr/>
        </p:nvSpPr>
        <p:spPr>
          <a:xfrm>
            <a:off x="1522198" y="903590"/>
            <a:ext cx="7000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plano </a:t>
            </a:r>
            <a:r>
              <a:rPr lang="pt-BR" sz="1800" b="1" i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consiste nos pontos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(a, b, 0) 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é definido pela equação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 = 0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42FA46A9-8A4A-E7D4-9559-9172FBD33420}"/>
                  </a:ext>
                </a:extLst>
              </p:cNvPr>
              <p:cNvSpPr txBox="1"/>
              <p:nvPr/>
            </p:nvSpPr>
            <p:spPr>
              <a:xfrm>
                <a:off x="3045668" y="3153583"/>
                <a:ext cx="74593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Analogamente, </a:t>
                </a:r>
                <a14:m>
                  <m:oMath xmlns:m="http://schemas.openxmlformats.org/officeDocument/2006/math"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define o plano </a:t>
                </a:r>
                <a:r>
                  <a:rPr lang="pt-BR" sz="1800" b="1" i="1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yz</a:t>
                </a:r>
                <a:r>
                  <a:rPr lang="pt-BR" sz="1800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consistindo nos pontos </a:t>
                </a:r>
                <a:r>
                  <a:rPr lang="pt-BR" sz="1800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(0, b, c). </a:t>
                </a:r>
                <a:endParaRPr lang="pt-BR" b="1" i="1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42FA46A9-8A4A-E7D4-9559-9172FBD33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668" y="3153583"/>
                <a:ext cx="7459307" cy="369332"/>
              </a:xfrm>
              <a:prstGeom prst="rect">
                <a:avLst/>
              </a:prstGeom>
              <a:blipFill>
                <a:blip r:embed="rId5"/>
                <a:stretch>
                  <a:fillRect l="-736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aixaDeTexto 22">
            <a:extLst>
              <a:ext uri="{FF2B5EF4-FFF2-40B4-BE49-F238E27FC236}">
                <a16:creationId xmlns:a16="http://schemas.microsoft.com/office/drawing/2014/main" id="{6BC4B6BF-6703-EDEC-2A5D-BFF232E84CF7}"/>
              </a:ext>
            </a:extLst>
          </p:cNvPr>
          <p:cNvSpPr txBox="1"/>
          <p:nvPr/>
        </p:nvSpPr>
        <p:spPr>
          <a:xfrm>
            <a:off x="506332" y="5128917"/>
            <a:ext cx="5542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0 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o plano </a:t>
            </a:r>
            <a:r>
              <a:rPr lang="pt-BR" sz="1800" b="1" i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xz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consistindo nos pontos </a:t>
            </a:r>
            <a:r>
              <a:rPr lang="pt-BR" sz="1800" b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(a, 0, c).</a:t>
            </a:r>
            <a:endParaRPr lang="pt-BR" b="1" u="sng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16E04A1-95AD-E31B-D067-8CF7FB910A67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84975" y="-200894"/>
            <a:ext cx="4320000" cy="43200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D48A8DD6-52DF-4529-9FD4-3722105C970E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84975" y="-200894"/>
            <a:ext cx="4320000" cy="432000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264DBDF0-076A-AEB6-BDDB-D67D2B83DF2C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993583"/>
            <a:ext cx="4320000" cy="43200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FE50D564-DB8E-9627-6699-BC4E66FF0D26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993583"/>
            <a:ext cx="4320000" cy="4320000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07472494-D949-EB39-75A8-073EADC1873A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26332" y="3153583"/>
            <a:ext cx="4320000" cy="43200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B5CD90C1-E992-584E-AAEC-13AAAD1CE881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26332" y="3153583"/>
            <a:ext cx="4320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4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20AA-6758-F008-405E-EE10E5B97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3F3B7916-579A-B1A6-65FE-54DC5A9D14E8}"/>
              </a:ext>
            </a:extLst>
          </p:cNvPr>
          <p:cNvGrpSpPr/>
          <p:nvPr/>
        </p:nvGrpSpPr>
        <p:grpSpPr>
          <a:xfrm>
            <a:off x="10950145" y="6347877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6F7A0113-2F19-CEB2-617C-8ACA5EEF6AD9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678D41E2-46F6-787E-C04C-C66A9BA44E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5EB06D6F-85CF-6789-1963-69AEDD62CB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3513CB09-1225-5A51-F09E-C75A1B59D5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E2F74139-D3F7-7FBB-4C0B-DD5FFC776996}"/>
              </a:ext>
            </a:extLst>
          </p:cNvPr>
          <p:cNvSpPr txBox="1"/>
          <p:nvPr/>
        </p:nvSpPr>
        <p:spPr>
          <a:xfrm>
            <a:off x="518669" y="464956"/>
            <a:ext cx="111837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planos coordenados dividem </a:t>
            </a:r>
            <a:r>
              <a:rPr lang="pt-BR" sz="2000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ℝ</a:t>
            </a:r>
            <a:r>
              <a:rPr lang="pt-BR" sz="20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 </a:t>
            </a:r>
            <a:r>
              <a:rPr lang="pt-BR" sz="2000" b="1" dirty="0">
                <a:effectLst/>
                <a:highlight>
                  <a:srgbClr val="00FFFF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oito octantes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(analogamente aos quatro quadrantes do plano). Cada octante corresponde a uma combinação possível de sinais das coordenadas.</a:t>
            </a:r>
            <a:endParaRPr lang="pt-BR" sz="2000" dirty="0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CDE0EF37-558B-CCD8-4547-C6E2DC5E3C3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5131" t="11615" r="15948" b="16195"/>
          <a:stretch>
            <a:fillRect/>
          </a:stretch>
        </p:blipFill>
        <p:spPr>
          <a:xfrm>
            <a:off x="108385" y="1010708"/>
            <a:ext cx="3364616" cy="325360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0355925-EBF2-4B09-FB4A-785062972D66}"/>
              </a:ext>
            </a:extLst>
          </p:cNvPr>
          <p:cNvSpPr txBox="1"/>
          <p:nvPr/>
        </p:nvSpPr>
        <p:spPr>
          <a:xfrm>
            <a:off x="3910682" y="1172842"/>
            <a:ext cx="79643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Como em duas dimensões, deduzimos a fórmula da distância em </a:t>
            </a:r>
            <a:r>
              <a:rPr lang="pt-BR" sz="1600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ℝ</a:t>
            </a:r>
            <a:r>
              <a:rPr lang="pt-BR" sz="16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 Teorema de Pitágoras.</a:t>
            </a:r>
            <a:endParaRPr lang="pt-BR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1B55E40-23BD-8002-0D49-0A76071C5DF4}"/>
                  </a:ext>
                </a:extLst>
              </p:cNvPr>
              <p:cNvSpPr txBox="1"/>
              <p:nvPr/>
            </p:nvSpPr>
            <p:spPr>
              <a:xfrm>
                <a:off x="3910683" y="1594819"/>
                <a:ext cx="7235179" cy="370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distância</a:t>
                </a:r>
                <a14:m>
                  <m:oMath xmlns:m="http://schemas.openxmlformats.org/officeDocument/2006/math">
                    <m:r>
                      <a:rPr lang="pt-BR" sz="1600" b="0" i="0" smtClean="0"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⃗"/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  <m:r>
                      <a:rPr lang="pt-BR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entre dois pontos </a:t>
                </a:r>
                <a14:m>
                  <m:oMath xmlns:m="http://schemas.openxmlformats.org/officeDocument/2006/math">
                    <m:r>
                      <a:rPr lang="pt-B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pt-B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pt-BR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pt-BR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pt-BR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pt-B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𝑸</m:t>
                    </m:r>
                    <m:r>
                      <a:rPr lang="pt-B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pt-B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  <m:sub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pt-B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  <m:sub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pt-B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sz="16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é:</a:t>
                </a:r>
                <a:endParaRPr lang="pt-BR" sz="16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1B55E40-23BD-8002-0D49-0A76071C5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683" y="1594819"/>
                <a:ext cx="7235179" cy="370101"/>
              </a:xfrm>
              <a:prstGeom prst="rect">
                <a:avLst/>
              </a:prstGeom>
              <a:blipFill>
                <a:blip r:embed="rId6"/>
                <a:stretch>
                  <a:fillRect l="-506" b="-2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3C9E57E-4B3A-2337-A818-7CE6EE7A0953}"/>
                  </a:ext>
                </a:extLst>
              </p:cNvPr>
              <p:cNvSpPr txBox="1"/>
              <p:nvPr/>
            </p:nvSpPr>
            <p:spPr>
              <a:xfrm>
                <a:off x="4694638" y="2159282"/>
                <a:ext cx="5503423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  <m:r>
                            <a:rPr lang="pt-BR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</m:d>
                      <m:r>
                        <a:rPr lang="pt-BR" b="1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pt-BR" b="1" i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pt-BR" b="1" i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pt-BR" b="1" i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b>
                                      <m:r>
                                        <a:rPr lang="pt-BR" b="1" i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pt-BR" b="1" i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b>
                                      <m:r>
                                        <a:rPr lang="pt-BR" b="1" i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pt-BR" b="1" i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lang="pt-BR" b="1" i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pt-BR" b="1" i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rad>
                    </m:oMath>
                  </m:oMathPara>
                </a14:m>
                <a:endParaRPr lang="pt-BR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3C9E57E-4B3A-2337-A818-7CE6EE7A0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638" y="2159282"/>
                <a:ext cx="5503423" cy="427746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3BDAC3A0-A57E-68D4-A140-A16216287268}"/>
              </a:ext>
            </a:extLst>
          </p:cNvPr>
          <p:cNvSpPr/>
          <p:nvPr/>
        </p:nvSpPr>
        <p:spPr>
          <a:xfrm>
            <a:off x="4876252" y="2114674"/>
            <a:ext cx="5167199" cy="5228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51DE540-142C-AD6A-3D8A-D7A3E23E6867}"/>
                  </a:ext>
                </a:extLst>
              </p:cNvPr>
              <p:cNvSpPr txBox="1"/>
              <p:nvPr/>
            </p:nvSpPr>
            <p:spPr>
              <a:xfrm>
                <a:off x="145679" y="4039730"/>
                <a:ext cx="5402857" cy="748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Exemplo: Determine </a:t>
                </a:r>
                <a:r>
                  <a:rPr lang="pt-BR" dirty="0"/>
                  <a:t>o módulo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do vetor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sabendo que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 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e>
                    </m:d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a:rPr lang="pt-BR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pt-BR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</m:e>
                      <m:sub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pt-BR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𝟓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𝟖</m:t>
                        </m:r>
                      </m:e>
                    </m:d>
                    <m:r>
                      <a:rPr lang="pt-BR" sz="1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pt-BR" b="1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51DE540-142C-AD6A-3D8A-D7A3E23E6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79" y="4039730"/>
                <a:ext cx="5402857" cy="748666"/>
              </a:xfrm>
              <a:prstGeom prst="rect">
                <a:avLst/>
              </a:prstGeom>
              <a:blipFill>
                <a:blip r:embed="rId8"/>
                <a:stretch>
                  <a:fillRect l="-1016" r="-903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2DD1A19A-AC83-46AF-2DDD-CBCBECB9A777}"/>
                  </a:ext>
                </a:extLst>
              </p:cNvPr>
              <p:cNvSpPr txBox="1"/>
              <p:nvPr/>
            </p:nvSpPr>
            <p:spPr>
              <a:xfrm>
                <a:off x="-91999" y="4779332"/>
                <a:ext cx="5517439" cy="429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pt-BR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pt-BR" b="1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pt-BR" b="1" i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b="1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  <m:r>
                                    <a:rPr lang="pt-BR" b="1" i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b="1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  <m:r>
                                    <a:rPr lang="pt-BR" b="1" i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rad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pt-BR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2DD1A19A-AC83-46AF-2DDD-CBCBECB9A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999" y="4779332"/>
                <a:ext cx="5517439" cy="429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4F835-C6F9-8409-0900-CAE2A25AE38B}"/>
                  </a:ext>
                </a:extLst>
              </p:cNvPr>
              <p:cNvSpPr txBox="1"/>
              <p:nvPr/>
            </p:nvSpPr>
            <p:spPr>
              <a:xfrm>
                <a:off x="108385" y="5303419"/>
                <a:ext cx="3916582" cy="429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pt-BR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pt-BR" b="1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b="1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rad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pt-BR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264F835-C6F9-8409-0900-CAE2A25AE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85" y="5303419"/>
                <a:ext cx="3916582" cy="429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B2778720-8897-1938-EA13-D2E488BADC46}"/>
                  </a:ext>
                </a:extLst>
              </p:cNvPr>
              <p:cNvSpPr txBox="1"/>
              <p:nvPr/>
            </p:nvSpPr>
            <p:spPr>
              <a:xfrm>
                <a:off x="254231" y="5810716"/>
                <a:ext cx="1984150" cy="425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pt-B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pt-BR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pt-BR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pt-BR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pt-BR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𝟑𝟖</m:t>
                          </m:r>
                          <m:r>
                            <a:rPr lang="pt-BR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rad>
                    </m:oMath>
                  </m:oMathPara>
                </a14:m>
                <a:endParaRPr lang="pt-B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B2778720-8897-1938-EA13-D2E488BAD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31" y="5810716"/>
                <a:ext cx="1984150" cy="42518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Imagem 19">
            <a:extLst>
              <a:ext uri="{FF2B5EF4-FFF2-40B4-BE49-F238E27FC236}">
                <a16:creationId xmlns:a16="http://schemas.microsoft.com/office/drawing/2014/main" id="{13C3D284-FCE9-E704-DCA7-E81F48672950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0000" y="2880000"/>
            <a:ext cx="3960000" cy="39600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C851BF5D-C078-289B-2E9A-DEBA1E038B38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0000" y="2880000"/>
            <a:ext cx="3960000" cy="396000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5D52DB60-68DE-8283-E728-EC1D0DE8DF39}"/>
              </a:ext>
            </a:extLst>
          </p:cNvPr>
          <p:cNvPicPr preferRelativeResize="0">
            <a:picLocks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0000" y="2880000"/>
            <a:ext cx="3960000" cy="39600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0ECF46FE-CA16-6034-CA0D-B6EC4D5C717D}"/>
              </a:ext>
            </a:extLst>
          </p:cNvPr>
          <p:cNvPicPr preferRelativeResize="0">
            <a:picLocks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0000" y="2880000"/>
            <a:ext cx="3960000" cy="39600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CF48FF32-49B4-8F3B-3B0A-88C7301E1F32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0000" y="2880000"/>
            <a:ext cx="3960000" cy="396000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801542C8-7545-C1A4-54DB-065B00BF9485}"/>
              </a:ext>
            </a:extLst>
          </p:cNvPr>
          <p:cNvPicPr preferRelativeResize="0">
            <a:picLocks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0000" y="2880000"/>
            <a:ext cx="3960000" cy="3960000"/>
          </a:xfrm>
          <a:prstGeom prst="rect">
            <a:avLst/>
          </a:prstGeom>
        </p:spPr>
      </p:pic>
      <p:grpSp>
        <p:nvGrpSpPr>
          <p:cNvPr id="39" name="Agrupar 38">
            <a:extLst>
              <a:ext uri="{FF2B5EF4-FFF2-40B4-BE49-F238E27FC236}">
                <a16:creationId xmlns:a16="http://schemas.microsoft.com/office/drawing/2014/main" id="{0B422364-2349-C22C-C41A-9D8AA9871311}"/>
              </a:ext>
            </a:extLst>
          </p:cNvPr>
          <p:cNvGrpSpPr/>
          <p:nvPr/>
        </p:nvGrpSpPr>
        <p:grpSpPr>
          <a:xfrm>
            <a:off x="5673699" y="4943838"/>
            <a:ext cx="1365928" cy="491609"/>
            <a:chOff x="5560965" y="4993942"/>
            <a:chExt cx="1365928" cy="4916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aixaDeTexto 31">
                  <a:extLst>
                    <a:ext uri="{FF2B5EF4-FFF2-40B4-BE49-F238E27FC236}">
                      <a16:creationId xmlns:a16="http://schemas.microsoft.com/office/drawing/2014/main" id="{8CD6D523-193C-89BA-4804-87406DEF9E3E}"/>
                    </a:ext>
                  </a:extLst>
                </p:cNvPr>
                <p:cNvSpPr txBox="1"/>
                <p:nvPr/>
              </p:nvSpPr>
              <p:spPr>
                <a:xfrm>
                  <a:off x="5560965" y="5208552"/>
                  <a:ext cx="937406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 </m:t>
                            </m:r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d>
                          <m:dPr>
                            <m:ctrlP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e>
                        </m:d>
                      </m:oMath>
                    </m:oMathPara>
                  </a14:m>
                  <a:endParaRPr lang="pt-BR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CaixaDeTexto 31">
                  <a:extLst>
                    <a:ext uri="{FF2B5EF4-FFF2-40B4-BE49-F238E27FC236}">
                      <a16:creationId xmlns:a16="http://schemas.microsoft.com/office/drawing/2014/main" id="{8CD6D523-193C-89BA-4804-87406DEF9E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0965" y="5208552"/>
                  <a:ext cx="937406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C3243365-9E7F-D542-68F3-FE99C432C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9165" y="4993942"/>
              <a:ext cx="647728" cy="269239"/>
            </a:xfrm>
            <a:prstGeom prst="straightConnector1">
              <a:avLst/>
            </a:prstGeom>
            <a:ln w="127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C2BCD2F3-B5F0-32C1-89A8-F4AE4990E831}"/>
              </a:ext>
            </a:extLst>
          </p:cNvPr>
          <p:cNvGrpSpPr/>
          <p:nvPr/>
        </p:nvGrpSpPr>
        <p:grpSpPr>
          <a:xfrm>
            <a:off x="7763265" y="3430335"/>
            <a:ext cx="1208462" cy="276999"/>
            <a:chOff x="7791538" y="3242811"/>
            <a:chExt cx="1208462" cy="276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2D6A742B-98B6-311E-1C11-51876C2C0D51}"/>
                    </a:ext>
                  </a:extLst>
                </p:cNvPr>
                <p:cNvSpPr txBox="1"/>
                <p:nvPr/>
              </p:nvSpPr>
              <p:spPr>
                <a:xfrm>
                  <a:off x="7791538" y="3242811"/>
                  <a:ext cx="120846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d>
                          <m:dPr>
                            <m:ctrlP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pt-BR" sz="12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𝟖</m:t>
                            </m:r>
                          </m:e>
                        </m:d>
                      </m:oMath>
                    </m:oMathPara>
                  </a14:m>
                  <a:endParaRPr lang="pt-BR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2D6A742B-98B6-311E-1C11-51876C2C0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1538" y="3242811"/>
                  <a:ext cx="1208462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Conector de Seta Reta 40">
              <a:extLst>
                <a:ext uri="{FF2B5EF4-FFF2-40B4-BE49-F238E27FC236}">
                  <a16:creationId xmlns:a16="http://schemas.microsoft.com/office/drawing/2014/main" id="{9E88750C-6CC7-93C6-E150-33C2D2204BC7}"/>
                </a:ext>
              </a:extLst>
            </p:cNvPr>
            <p:cNvCxnSpPr/>
            <p:nvPr/>
          </p:nvCxnSpPr>
          <p:spPr>
            <a:xfrm flipH="1">
              <a:off x="7791538" y="3519444"/>
              <a:ext cx="5135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Chave Direita 42">
            <a:extLst>
              <a:ext uri="{FF2B5EF4-FFF2-40B4-BE49-F238E27FC236}">
                <a16:creationId xmlns:a16="http://schemas.microsoft.com/office/drawing/2014/main" id="{0313D83A-128D-C363-A5A9-260B543F38E5}"/>
              </a:ext>
            </a:extLst>
          </p:cNvPr>
          <p:cNvSpPr/>
          <p:nvPr/>
        </p:nvSpPr>
        <p:spPr>
          <a:xfrm rot="12390935">
            <a:off x="7146534" y="3589841"/>
            <a:ext cx="218431" cy="1306186"/>
          </a:xfrm>
          <a:prstGeom prst="rightBrace">
            <a:avLst>
              <a:gd name="adj1" fmla="val 26618"/>
              <a:gd name="adj2" fmla="val 47416"/>
            </a:avLst>
          </a:prstGeom>
          <a:ln w="19050">
            <a:solidFill>
              <a:srgbClr val="00B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DB1F9B39-6504-D375-2C01-73EE3F75C9E7}"/>
                  </a:ext>
                </a:extLst>
              </p:cNvPr>
              <p:cNvSpPr txBox="1"/>
              <p:nvPr/>
            </p:nvSpPr>
            <p:spPr>
              <a:xfrm>
                <a:off x="6702971" y="3944198"/>
                <a:ext cx="743378" cy="298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pt-B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𝟑𝟖</m:t>
                          </m:r>
                          <m:r>
                            <a:rPr lang="pt-B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rad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DB1F9B39-6504-D375-2C01-73EE3F75C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971" y="3944198"/>
                <a:ext cx="743378" cy="29873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Imagem 47">
            <a:extLst>
              <a:ext uri="{FF2B5EF4-FFF2-40B4-BE49-F238E27FC236}">
                <a16:creationId xmlns:a16="http://schemas.microsoft.com/office/drawing/2014/main" id="{6EFED2D4-35AA-75DC-1B32-039FC16ADF76}"/>
              </a:ext>
            </a:extLst>
          </p:cNvPr>
          <p:cNvPicPr preferRelativeResize="0">
            <a:picLocks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0000" y="2880000"/>
            <a:ext cx="3960000" cy="3960000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80924E9F-A306-D45F-2851-C6BC5D5B958B}"/>
              </a:ext>
            </a:extLst>
          </p:cNvPr>
          <p:cNvPicPr preferRelativeResize="0">
            <a:picLocks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0000" y="2880000"/>
            <a:ext cx="3960000" cy="39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C82C6703-26B4-96B4-80A6-DC929C2D4A1C}"/>
                  </a:ext>
                </a:extLst>
              </p:cNvPr>
              <p:cNvSpPr txBox="1"/>
              <p:nvPr/>
            </p:nvSpPr>
            <p:spPr>
              <a:xfrm>
                <a:off x="6954861" y="5124185"/>
                <a:ext cx="768688" cy="298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pt-B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  <m:r>
                            <a:rPr lang="pt-B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rad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C82C6703-26B4-96B4-80A6-DC929C2D4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861" y="5124185"/>
                <a:ext cx="768688" cy="29873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AC0CCFD1-5445-A635-EA7B-16DFF1D208AE}"/>
                  </a:ext>
                </a:extLst>
              </p:cNvPr>
              <p:cNvSpPr txBox="1"/>
              <p:nvPr/>
            </p:nvSpPr>
            <p:spPr>
              <a:xfrm>
                <a:off x="7686478" y="4414063"/>
                <a:ext cx="89557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pt-BR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pt-BR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AC0CCFD1-5445-A635-EA7B-16DFF1D20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478" y="4414063"/>
                <a:ext cx="895572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Imagem 55">
            <a:extLst>
              <a:ext uri="{FF2B5EF4-FFF2-40B4-BE49-F238E27FC236}">
                <a16:creationId xmlns:a16="http://schemas.microsoft.com/office/drawing/2014/main" id="{745275F4-0B69-6307-3BD5-A9AE71CF05C1}"/>
              </a:ext>
            </a:extLst>
          </p:cNvPr>
          <p:cNvPicPr preferRelativeResize="0">
            <a:picLocks/>
          </p:cNvPicPr>
          <p:nvPr/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0000" y="2880000"/>
            <a:ext cx="3960000" cy="3960000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9F49D53B-C0B8-0D15-4C89-D7DB031AC8BA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0000" y="2880000"/>
            <a:ext cx="3960000" cy="3960000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396EF550-A332-D657-2CE8-40B8BAA31F62}"/>
              </a:ext>
            </a:extLst>
          </p:cNvPr>
          <p:cNvPicPr preferRelativeResize="0">
            <a:picLocks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0000" y="2880000"/>
            <a:ext cx="396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repeatCount="4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0" grpId="0"/>
      <p:bldP spid="12" grpId="0"/>
      <p:bldP spid="47" grpId="0" animBg="1"/>
      <p:bldP spid="11" grpId="0"/>
      <p:bldP spid="13" grpId="0"/>
      <p:bldP spid="14" grpId="0"/>
      <p:bldP spid="43" grpId="0" animBg="1"/>
      <p:bldP spid="45" grpId="0"/>
      <p:bldP spid="52" grpId="0"/>
      <p:bldP spid="5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1737C-935D-9436-1779-60BB2F8F6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D065040E-331A-96D0-9617-B1571744E385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1CFB9FC7-E06B-CA8F-67A3-7B8F3169A537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2C7C9758-B9EB-7996-4ED0-5438C35818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8A9390AF-FD2E-A24E-A1B0-08A820E44C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5EB06D6F-85CF-6789-1963-69AEDD62CB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E51801C4-A8A3-09E6-C4FC-FE37E65A5394}"/>
              </a:ext>
            </a:extLst>
          </p:cNvPr>
          <p:cNvSpPr txBox="1"/>
          <p:nvPr/>
        </p:nvSpPr>
        <p:spPr>
          <a:xfrm>
            <a:off x="770066" y="132393"/>
            <a:ext cx="1784215" cy="39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VETORES NO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ℝ</a:t>
            </a:r>
            <a:r>
              <a:rPr lang="pt-BR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AC3408D-9046-076F-125F-7EAE2260E9B6}"/>
              </a:ext>
            </a:extLst>
          </p:cNvPr>
          <p:cNvSpPr txBox="1"/>
          <p:nvPr/>
        </p:nvSpPr>
        <p:spPr>
          <a:xfrm>
            <a:off x="4703148" y="1787666"/>
            <a:ext cx="7063382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números reais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são chamados de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componentes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ou coordenadas de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 = (x, y, z)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F9D985C9-6F13-C468-9FC3-66D099EAC7ED}"/>
                  </a:ext>
                </a:extLst>
              </p:cNvPr>
              <p:cNvSpPr txBox="1"/>
              <p:nvPr/>
            </p:nvSpPr>
            <p:spPr>
              <a:xfrm>
                <a:off x="395566" y="3737344"/>
                <a:ext cx="3981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F9D985C9-6F13-C468-9FC3-66D099EAC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66" y="3737344"/>
                <a:ext cx="3981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3732B3CA-74E9-FB1C-5D1A-0D00E47CBF91}"/>
                  </a:ext>
                </a:extLst>
              </p:cNvPr>
              <p:cNvSpPr txBox="1"/>
              <p:nvPr/>
            </p:nvSpPr>
            <p:spPr>
              <a:xfrm>
                <a:off x="3451524" y="3398770"/>
                <a:ext cx="3981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3732B3CA-74E9-FB1C-5D1A-0D00E47CB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524" y="3398770"/>
                <a:ext cx="398194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D365A7F1-29E5-D2C2-E28C-2118C0DE4B34}"/>
                  </a:ext>
                </a:extLst>
              </p:cNvPr>
              <p:cNvSpPr txBox="1"/>
              <p:nvPr/>
            </p:nvSpPr>
            <p:spPr>
              <a:xfrm>
                <a:off x="1404349" y="984456"/>
                <a:ext cx="3981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D365A7F1-29E5-D2C2-E28C-2118C0DE4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349" y="984456"/>
                <a:ext cx="3981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Imagem 35">
            <a:extLst>
              <a:ext uri="{FF2B5EF4-FFF2-40B4-BE49-F238E27FC236}">
                <a16:creationId xmlns:a16="http://schemas.microsoft.com/office/drawing/2014/main" id="{2F8AB154-EEFA-D543-BFB0-50A0CAE4F11E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26383" y="350273"/>
            <a:ext cx="4680000" cy="4680000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94E357D0-1682-9323-E19C-78B75E2B651F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26383" y="350273"/>
            <a:ext cx="4680000" cy="4680000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E98C24FA-925A-31B6-1179-5268DEB8C397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26383" y="350273"/>
            <a:ext cx="4680000" cy="4680000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2983CFBC-ACA9-DEBE-D7AD-DC33029CC1B3}"/>
              </a:ext>
            </a:extLst>
          </p:cNvPr>
          <p:cNvPicPr preferRelativeResize="0">
            <a:picLocks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26383" y="350273"/>
            <a:ext cx="4680000" cy="4680000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AB50BB01-B286-314B-11DE-D25A23D91117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26383" y="350273"/>
            <a:ext cx="4680000" cy="4680000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2E02508A-7DBE-CD93-12CE-E6BF3EDDAF0E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26383" y="350273"/>
            <a:ext cx="4680000" cy="4680000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5DC1D075-D5FC-BB71-98B9-9BB90F90AC7E}"/>
              </a:ext>
            </a:extLst>
          </p:cNvPr>
          <p:cNvPicPr preferRelativeResize="0">
            <a:picLocks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40963" y="350273"/>
            <a:ext cx="4680000" cy="46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EB4BE931-FF7B-1410-5ABD-20B81501F9C2}"/>
                  </a:ext>
                </a:extLst>
              </p:cNvPr>
              <p:cNvSpPr txBox="1"/>
              <p:nvPr/>
            </p:nvSpPr>
            <p:spPr>
              <a:xfrm>
                <a:off x="2481787" y="1942537"/>
                <a:ext cx="15978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EB4BE931-FF7B-1410-5ABD-20B81501F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787" y="1942537"/>
                <a:ext cx="1597833" cy="369332"/>
              </a:xfrm>
              <a:prstGeom prst="rect">
                <a:avLst/>
              </a:prstGeom>
              <a:blipFill>
                <a:blip r:embed="rId1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CaixaDeTexto 50">
            <a:extLst>
              <a:ext uri="{FF2B5EF4-FFF2-40B4-BE49-F238E27FC236}">
                <a16:creationId xmlns:a16="http://schemas.microsoft.com/office/drawing/2014/main" id="{81A4401A-BC54-5948-4531-5CD78C873FA4}"/>
              </a:ext>
            </a:extLst>
          </p:cNvPr>
          <p:cNvSpPr txBox="1"/>
          <p:nvPr/>
        </p:nvSpPr>
        <p:spPr>
          <a:xfrm>
            <a:off x="2384982" y="534041"/>
            <a:ext cx="8278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 vetor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1800" b="1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ℝ</a:t>
            </a:r>
            <a:r>
              <a:rPr lang="pt-BR" sz="1800" b="1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é definido por uma tripla (terno) ordenada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(x, y, z) 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números reais. </a:t>
            </a:r>
            <a:endParaRPr lang="pt-BR" dirty="0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8CD61F1-936F-8D12-F653-EEBB541AA105}"/>
              </a:ext>
            </a:extLst>
          </p:cNvPr>
          <p:cNvSpPr txBox="1"/>
          <p:nvPr/>
        </p:nvSpPr>
        <p:spPr>
          <a:xfrm>
            <a:off x="4703148" y="902312"/>
            <a:ext cx="68109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 representação desse vetor no sistema de coordenadas cartesianas fica subentendido que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sua origem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é a própria origem do sistema e sua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extremidade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é o ponto </a:t>
            </a:r>
            <a:r>
              <a:rPr lang="pt-BR" sz="1800" b="1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(x, y, z).</a:t>
            </a:r>
            <a:endParaRPr lang="pt-BR" b="1" i="1" dirty="0"/>
          </a:p>
        </p:txBody>
      </p:sp>
      <p:sp>
        <p:nvSpPr>
          <p:cNvPr id="54" name="Seta: para a Direita 53">
            <a:extLst>
              <a:ext uri="{FF2B5EF4-FFF2-40B4-BE49-F238E27FC236}">
                <a16:creationId xmlns:a16="http://schemas.microsoft.com/office/drawing/2014/main" id="{B39790B8-0655-ECA2-7F27-3D6CE0AEFA6C}"/>
              </a:ext>
            </a:extLst>
          </p:cNvPr>
          <p:cNvSpPr/>
          <p:nvPr/>
        </p:nvSpPr>
        <p:spPr>
          <a:xfrm rot="2594318">
            <a:off x="1236548" y="3033268"/>
            <a:ext cx="398194" cy="23905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Seta: para a Direita 54">
            <a:extLst>
              <a:ext uri="{FF2B5EF4-FFF2-40B4-BE49-F238E27FC236}">
                <a16:creationId xmlns:a16="http://schemas.microsoft.com/office/drawing/2014/main" id="{06EC55F8-2F91-0573-2990-51E32C40B94D}"/>
              </a:ext>
            </a:extLst>
          </p:cNvPr>
          <p:cNvSpPr/>
          <p:nvPr/>
        </p:nvSpPr>
        <p:spPr>
          <a:xfrm rot="5561952">
            <a:off x="2358106" y="1724308"/>
            <a:ext cx="398194" cy="23905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638FAE66-9198-9433-1004-B14137C0F597}"/>
              </a:ext>
            </a:extLst>
          </p:cNvPr>
          <p:cNvSpPr txBox="1"/>
          <p:nvPr/>
        </p:nvSpPr>
        <p:spPr>
          <a:xfrm>
            <a:off x="7188849" y="2563119"/>
            <a:ext cx="3954255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MÓDULO (MAGNITUDE OU NORMA)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AE6F97F9-21E2-41FA-B416-E8B3B61CEBD2}"/>
              </a:ext>
            </a:extLst>
          </p:cNvPr>
          <p:cNvSpPr txBox="1"/>
          <p:nvPr/>
        </p:nvSpPr>
        <p:spPr>
          <a:xfrm>
            <a:off x="6825977" y="2926285"/>
            <a:ext cx="468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magnitude ou módulo do vetor v, denotado |v|, é o </a:t>
            </a:r>
            <a:r>
              <a:rPr lang="pt-BR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comprimento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 segmento orientado. Logo, pelo Teorema de Pitágoras:</a:t>
            </a:r>
            <a:endParaRPr lang="pt-BR" dirty="0"/>
          </a:p>
        </p:txBody>
      </p:sp>
      <p:pic>
        <p:nvPicPr>
          <p:cNvPr id="116" name="Imagem 115">
            <a:extLst>
              <a:ext uri="{FF2B5EF4-FFF2-40B4-BE49-F238E27FC236}">
                <a16:creationId xmlns:a16="http://schemas.microsoft.com/office/drawing/2014/main" id="{46FD7A62-0D79-B261-3E77-926517C90202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75566" y="2926379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aixaDeTexto 116">
                <a:extLst>
                  <a:ext uri="{FF2B5EF4-FFF2-40B4-BE49-F238E27FC236}">
                    <a16:creationId xmlns:a16="http://schemas.microsoft.com/office/drawing/2014/main" id="{0B07B239-A038-949D-910E-FB3D38E6DE1F}"/>
                  </a:ext>
                </a:extLst>
              </p:cNvPr>
              <p:cNvSpPr txBox="1"/>
              <p:nvPr/>
            </p:nvSpPr>
            <p:spPr>
              <a:xfrm>
                <a:off x="5647389" y="5378336"/>
                <a:ext cx="351700" cy="370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117" name="CaixaDeTexto 116">
                <a:extLst>
                  <a:ext uri="{FF2B5EF4-FFF2-40B4-BE49-F238E27FC236}">
                    <a16:creationId xmlns:a16="http://schemas.microsoft.com/office/drawing/2014/main" id="{0B07B239-A038-949D-910E-FB3D38E6D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389" y="5378336"/>
                <a:ext cx="351700" cy="37010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" name="Imagem 117">
            <a:extLst>
              <a:ext uri="{FF2B5EF4-FFF2-40B4-BE49-F238E27FC236}">
                <a16:creationId xmlns:a16="http://schemas.microsoft.com/office/drawing/2014/main" id="{23A1D985-7195-E92E-A757-121693E59044}"/>
              </a:ext>
            </a:extLst>
          </p:cNvPr>
          <p:cNvPicPr preferRelativeResize="0">
            <a:picLocks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75566" y="2926332"/>
            <a:ext cx="3600000" cy="3600000"/>
          </a:xfrm>
          <a:prstGeom prst="rect">
            <a:avLst/>
          </a:prstGeom>
        </p:spPr>
      </p:pic>
      <p:pic>
        <p:nvPicPr>
          <p:cNvPr id="119" name="Imagem 118">
            <a:extLst>
              <a:ext uri="{FF2B5EF4-FFF2-40B4-BE49-F238E27FC236}">
                <a16:creationId xmlns:a16="http://schemas.microsoft.com/office/drawing/2014/main" id="{FC58BC4F-8861-D734-74D5-377A0CBF3677}"/>
              </a:ext>
            </a:extLst>
          </p:cNvPr>
          <p:cNvPicPr preferRelativeResize="0">
            <a:picLocks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75566" y="2926379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90D0557A-B3E1-549C-925A-F78F1737310A}"/>
                  </a:ext>
                </a:extLst>
              </p:cNvPr>
              <p:cNvSpPr txBox="1"/>
              <p:nvPr/>
            </p:nvSpPr>
            <p:spPr>
              <a:xfrm>
                <a:off x="5732733" y="4874126"/>
                <a:ext cx="75027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b="1" dirty="0"/>
              </a:p>
            </p:txBody>
          </p:sp>
        </mc:Choice>
        <mc:Fallback xmlns="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90D0557A-B3E1-549C-925A-F78F17373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733" y="4874126"/>
                <a:ext cx="750275" cy="276999"/>
              </a:xfrm>
              <a:prstGeom prst="rect">
                <a:avLst/>
              </a:prstGeom>
              <a:blipFill>
                <a:blip r:embed="rId2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1" name="Imagem 120">
            <a:extLst>
              <a:ext uri="{FF2B5EF4-FFF2-40B4-BE49-F238E27FC236}">
                <a16:creationId xmlns:a16="http://schemas.microsoft.com/office/drawing/2014/main" id="{EF0ED130-CF34-7F4A-C5F5-8DEB649FB5F4}"/>
              </a:ext>
            </a:extLst>
          </p:cNvPr>
          <p:cNvPicPr preferRelativeResize="0">
            <a:picLocks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75566" y="2926285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CaixaDeTexto 121">
                <a:extLst>
                  <a:ext uri="{FF2B5EF4-FFF2-40B4-BE49-F238E27FC236}">
                    <a16:creationId xmlns:a16="http://schemas.microsoft.com/office/drawing/2014/main" id="{1B71188B-B1F3-D531-099F-ADB3EF81EBCF}"/>
                  </a:ext>
                </a:extLst>
              </p:cNvPr>
              <p:cNvSpPr txBox="1"/>
              <p:nvPr/>
            </p:nvSpPr>
            <p:spPr>
              <a:xfrm rot="2540176">
                <a:off x="6512600" y="5211520"/>
                <a:ext cx="930616" cy="31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pt-BR" sz="12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pt-BR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sz="1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pt-BR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pt-BR" sz="1200" b="1" dirty="0"/>
              </a:p>
            </p:txBody>
          </p:sp>
        </mc:Choice>
        <mc:Fallback xmlns="">
          <p:sp>
            <p:nvSpPr>
              <p:cNvPr id="122" name="CaixaDeTexto 121">
                <a:extLst>
                  <a:ext uri="{FF2B5EF4-FFF2-40B4-BE49-F238E27FC236}">
                    <a16:creationId xmlns:a16="http://schemas.microsoft.com/office/drawing/2014/main" id="{1B71188B-B1F3-D531-099F-ADB3EF81E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540176">
                <a:off x="6512600" y="5211520"/>
                <a:ext cx="930616" cy="31694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CaixaDeTexto 122">
                <a:extLst>
                  <a:ext uri="{FF2B5EF4-FFF2-40B4-BE49-F238E27FC236}">
                    <a16:creationId xmlns:a16="http://schemas.microsoft.com/office/drawing/2014/main" id="{209429DA-8038-35D1-A6EF-4F307FCF1A6C}"/>
                  </a:ext>
                </a:extLst>
              </p:cNvPr>
              <p:cNvSpPr txBox="1"/>
              <p:nvPr/>
            </p:nvSpPr>
            <p:spPr>
              <a:xfrm>
                <a:off x="7293889" y="4752905"/>
                <a:ext cx="3829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123" name="CaixaDeTexto 122">
                <a:extLst>
                  <a:ext uri="{FF2B5EF4-FFF2-40B4-BE49-F238E27FC236}">
                    <a16:creationId xmlns:a16="http://schemas.microsoft.com/office/drawing/2014/main" id="{209429DA-8038-35D1-A6EF-4F307FCF1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889" y="4752905"/>
                <a:ext cx="38299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4" name="Imagem 123">
            <a:extLst>
              <a:ext uri="{FF2B5EF4-FFF2-40B4-BE49-F238E27FC236}">
                <a16:creationId xmlns:a16="http://schemas.microsoft.com/office/drawing/2014/main" id="{5C3D73CC-B540-0323-BC27-13AB5543E546}"/>
              </a:ext>
            </a:extLst>
          </p:cNvPr>
          <p:cNvPicPr preferRelativeResize="0">
            <a:picLocks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75566" y="2926285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CaixaDeTexto 124">
                <a:extLst>
                  <a:ext uri="{FF2B5EF4-FFF2-40B4-BE49-F238E27FC236}">
                    <a16:creationId xmlns:a16="http://schemas.microsoft.com/office/drawing/2014/main" id="{46800FA6-ECD5-E514-F0DA-DB575C1F56D6}"/>
                  </a:ext>
                </a:extLst>
              </p:cNvPr>
              <p:cNvSpPr txBox="1"/>
              <p:nvPr/>
            </p:nvSpPr>
            <p:spPr>
              <a:xfrm>
                <a:off x="6307147" y="4438874"/>
                <a:ext cx="93061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1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pt-BR" sz="1400" b="1" dirty="0"/>
              </a:p>
            </p:txBody>
          </p:sp>
        </mc:Choice>
        <mc:Fallback xmlns="">
          <p:sp>
            <p:nvSpPr>
              <p:cNvPr id="125" name="CaixaDeTexto 124">
                <a:extLst>
                  <a:ext uri="{FF2B5EF4-FFF2-40B4-BE49-F238E27FC236}">
                    <a16:creationId xmlns:a16="http://schemas.microsoft.com/office/drawing/2014/main" id="{46800FA6-ECD5-E514-F0DA-DB575C1F5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147" y="4438874"/>
                <a:ext cx="930616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CaixaDeTexto 125">
                <a:extLst>
                  <a:ext uri="{FF2B5EF4-FFF2-40B4-BE49-F238E27FC236}">
                    <a16:creationId xmlns:a16="http://schemas.microsoft.com/office/drawing/2014/main" id="{D1413212-1857-5457-0312-04258E8FF20D}"/>
                  </a:ext>
                </a:extLst>
              </p:cNvPr>
              <p:cNvSpPr txBox="1"/>
              <p:nvPr/>
            </p:nvSpPr>
            <p:spPr>
              <a:xfrm>
                <a:off x="8471785" y="4235393"/>
                <a:ext cx="3249015" cy="568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  <m:sup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pt-BR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pt-BR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pt-BR" b="1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pt-BR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b="1" i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</m:e>
                                    <m:sup>
                                      <m:r>
                                        <a:rPr lang="pt-BR" b="1" i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pt-BR" b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pt-BR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6" name="CaixaDeTexto 125">
                <a:extLst>
                  <a:ext uri="{FF2B5EF4-FFF2-40B4-BE49-F238E27FC236}">
                    <a16:creationId xmlns:a16="http://schemas.microsoft.com/office/drawing/2014/main" id="{D1413212-1857-5457-0312-04258E8FF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785" y="4235393"/>
                <a:ext cx="3249015" cy="56861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7" name="Imagem 126">
            <a:extLst>
              <a:ext uri="{FF2B5EF4-FFF2-40B4-BE49-F238E27FC236}">
                <a16:creationId xmlns:a16="http://schemas.microsoft.com/office/drawing/2014/main" id="{E30EBD34-0687-A588-5144-76A52DF569C3}"/>
              </a:ext>
            </a:extLst>
          </p:cNvPr>
          <p:cNvPicPr preferRelativeResize="0">
            <a:picLocks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75566" y="2926285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CaixaDeTexto 127">
                <a:extLst>
                  <a:ext uri="{FF2B5EF4-FFF2-40B4-BE49-F238E27FC236}">
                    <a16:creationId xmlns:a16="http://schemas.microsoft.com/office/drawing/2014/main" id="{3F1316E9-C7EA-6CE7-6CED-137A98DA2BB0}"/>
                  </a:ext>
                </a:extLst>
              </p:cNvPr>
              <p:cNvSpPr txBox="1"/>
              <p:nvPr/>
            </p:nvSpPr>
            <p:spPr>
              <a:xfrm>
                <a:off x="8777335" y="5380750"/>
                <a:ext cx="2337256" cy="440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  <m:sup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sup>
                      </m:sSup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pt-BR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pt-B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pt-BR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8" name="CaixaDeTexto 127">
                <a:extLst>
                  <a:ext uri="{FF2B5EF4-FFF2-40B4-BE49-F238E27FC236}">
                    <a16:creationId xmlns:a16="http://schemas.microsoft.com/office/drawing/2014/main" id="{3F1316E9-C7EA-6CE7-6CED-137A98DA2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335" y="5380750"/>
                <a:ext cx="2337256" cy="440505"/>
              </a:xfrm>
              <a:prstGeom prst="rect">
                <a:avLst/>
              </a:prstGeom>
              <a:blipFill>
                <a:blip r:embed="rId28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68800ED4-EAAC-6FDC-C1AA-94D9041ED6AD}"/>
                  </a:ext>
                </a:extLst>
              </p:cNvPr>
              <p:cNvSpPr txBox="1"/>
              <p:nvPr/>
            </p:nvSpPr>
            <p:spPr>
              <a:xfrm>
                <a:off x="8207436" y="4900543"/>
                <a:ext cx="3249015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  <m:sup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pt-B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pt-BR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pt-BR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68800ED4-EAAC-6FDC-C1AA-94D9041ED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436" y="4900543"/>
                <a:ext cx="3249015" cy="375552"/>
              </a:xfrm>
              <a:prstGeom prst="rect">
                <a:avLst/>
              </a:prstGeom>
              <a:blipFill>
                <a:blip r:embed="rId29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Retângulo: Cantos Arredondados 129">
            <a:extLst>
              <a:ext uri="{FF2B5EF4-FFF2-40B4-BE49-F238E27FC236}">
                <a16:creationId xmlns:a16="http://schemas.microsoft.com/office/drawing/2014/main" id="{FA3C378E-9E43-3F46-303D-FCCE58FA893F}"/>
              </a:ext>
            </a:extLst>
          </p:cNvPr>
          <p:cNvSpPr/>
          <p:nvPr/>
        </p:nvSpPr>
        <p:spPr>
          <a:xfrm>
            <a:off x="8891355" y="5351035"/>
            <a:ext cx="2109216" cy="5228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CaixaDeTexto 130">
                <a:extLst>
                  <a:ext uri="{FF2B5EF4-FFF2-40B4-BE49-F238E27FC236}">
                    <a16:creationId xmlns:a16="http://schemas.microsoft.com/office/drawing/2014/main" id="{B5BB4620-A36C-8CFB-0765-A436BD6648B4}"/>
                  </a:ext>
                </a:extLst>
              </p:cNvPr>
              <p:cNvSpPr txBox="1"/>
              <p:nvPr/>
            </p:nvSpPr>
            <p:spPr>
              <a:xfrm>
                <a:off x="7633732" y="4888535"/>
                <a:ext cx="409593" cy="370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131" name="CaixaDeTexto 130">
                <a:extLst>
                  <a:ext uri="{FF2B5EF4-FFF2-40B4-BE49-F238E27FC236}">
                    <a16:creationId xmlns:a16="http://schemas.microsoft.com/office/drawing/2014/main" id="{B5BB4620-A36C-8CFB-0765-A436BD664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3732" y="4888535"/>
                <a:ext cx="409593" cy="370101"/>
              </a:xfrm>
              <a:prstGeom prst="rect">
                <a:avLst/>
              </a:prstGeom>
              <a:blipFill>
                <a:blip r:embed="rId30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Conector reto 132">
            <a:extLst>
              <a:ext uri="{FF2B5EF4-FFF2-40B4-BE49-F238E27FC236}">
                <a16:creationId xmlns:a16="http://schemas.microsoft.com/office/drawing/2014/main" id="{B83BDFC4-AFF7-2F42-DD9A-E3E6605CE77C}"/>
              </a:ext>
            </a:extLst>
          </p:cNvPr>
          <p:cNvCxnSpPr>
            <a:cxnSpLocks/>
          </p:cNvCxnSpPr>
          <p:nvPr/>
        </p:nvCxnSpPr>
        <p:spPr>
          <a:xfrm flipH="1">
            <a:off x="5099950" y="2498373"/>
            <a:ext cx="0" cy="4117462"/>
          </a:xfrm>
          <a:prstGeom prst="line">
            <a:avLst/>
          </a:prstGeom>
          <a:ln w="28575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to 135">
            <a:extLst>
              <a:ext uri="{FF2B5EF4-FFF2-40B4-BE49-F238E27FC236}">
                <a16:creationId xmlns:a16="http://schemas.microsoft.com/office/drawing/2014/main" id="{25EAD114-83CC-EDB5-E1D8-92B4A919062F}"/>
              </a:ext>
            </a:extLst>
          </p:cNvPr>
          <p:cNvCxnSpPr>
            <a:cxnSpLocks/>
          </p:cNvCxnSpPr>
          <p:nvPr/>
        </p:nvCxnSpPr>
        <p:spPr>
          <a:xfrm flipV="1">
            <a:off x="5087758" y="2499600"/>
            <a:ext cx="6633042" cy="0"/>
          </a:xfrm>
          <a:prstGeom prst="line">
            <a:avLst/>
          </a:prstGeom>
          <a:ln w="28575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CaixaDeTexto 142">
                <a:extLst>
                  <a:ext uri="{FF2B5EF4-FFF2-40B4-BE49-F238E27FC236}">
                    <a16:creationId xmlns:a16="http://schemas.microsoft.com/office/drawing/2014/main" id="{463273CA-D5C6-ECB7-E3F1-503C56D74788}"/>
                  </a:ext>
                </a:extLst>
              </p:cNvPr>
              <p:cNvSpPr txBox="1"/>
              <p:nvPr/>
            </p:nvSpPr>
            <p:spPr>
              <a:xfrm>
                <a:off x="5427380" y="6146205"/>
                <a:ext cx="5362530" cy="3581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6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Em particular, 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pt-B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pt-B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pt-BR" sz="16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dizemos que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pt-BR" sz="16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é um vetor unitário.</a:t>
                </a:r>
                <a:endParaRPr lang="pt-BR" sz="16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" name="CaixaDeTexto 142">
                <a:extLst>
                  <a:ext uri="{FF2B5EF4-FFF2-40B4-BE49-F238E27FC236}">
                    <a16:creationId xmlns:a16="http://schemas.microsoft.com/office/drawing/2014/main" id="{463273CA-D5C6-ECB7-E3F1-503C56D7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380" y="6146205"/>
                <a:ext cx="5362530" cy="358175"/>
              </a:xfrm>
              <a:prstGeom prst="rect">
                <a:avLst/>
              </a:prstGeom>
              <a:blipFill>
                <a:blip r:embed="rId31"/>
                <a:stretch>
                  <a:fillRect l="-568" b="-220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451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repeatCount="400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repeatCount="4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25" grpId="0"/>
      <p:bldP spid="28" grpId="0"/>
      <p:bldP spid="33" grpId="0"/>
      <p:bldP spid="49" grpId="0"/>
      <p:bldP spid="51" grpId="0"/>
      <p:bldP spid="53" grpId="0"/>
      <p:bldP spid="54" grpId="0" animBg="1"/>
      <p:bldP spid="55" grpId="0" animBg="1"/>
      <p:bldP spid="75" grpId="0"/>
      <p:bldP spid="79" grpId="0"/>
      <p:bldP spid="117" grpId="0"/>
      <p:bldP spid="120" grpId="0"/>
      <p:bldP spid="122" grpId="0"/>
      <p:bldP spid="123" grpId="0"/>
      <p:bldP spid="125" grpId="0"/>
      <p:bldP spid="126" grpId="0"/>
      <p:bldP spid="128" grpId="0"/>
      <p:bldP spid="129" grpId="0"/>
      <p:bldP spid="130" grpId="0" animBg="1"/>
      <p:bldP spid="131" grpId="0"/>
      <p:bldP spid="14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436C9-440C-F6C6-D6D4-7EC0CE7B7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24499B63-E75B-1550-F02D-FC3267D25101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B781D70B-5303-8FAB-8FF4-385563C9AC8B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E7A160C2-E6F6-D361-8AEF-A4EC2F5217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971FB0E0-2EF6-7041-47E8-CDB3954EE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334905"/>
              </p:ext>
            </p:extLst>
          </p:nvPr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8A9390AF-FD2E-A24E-A1B0-08A820E44C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CaixaDeTexto 29">
            <a:extLst>
              <a:ext uri="{FF2B5EF4-FFF2-40B4-BE49-F238E27FC236}">
                <a16:creationId xmlns:a16="http://schemas.microsoft.com/office/drawing/2014/main" id="{BE8F26D7-857E-0FC9-4A28-B6A51D39B575}"/>
              </a:ext>
            </a:extLst>
          </p:cNvPr>
          <p:cNvSpPr txBox="1"/>
          <p:nvPr/>
        </p:nvSpPr>
        <p:spPr>
          <a:xfrm>
            <a:off x="651549" y="104021"/>
            <a:ext cx="3149600" cy="39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OPERAÇÕES COM VETORES </a:t>
            </a:r>
            <a:r>
              <a:rPr lang="pt-BR" sz="1800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ℝ</a:t>
            </a:r>
            <a:r>
              <a:rPr lang="pt-BR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3ED7608-FCC3-3078-9B3E-3945040119DA}"/>
              </a:ext>
            </a:extLst>
          </p:cNvPr>
          <p:cNvSpPr txBox="1"/>
          <p:nvPr/>
        </p:nvSpPr>
        <p:spPr>
          <a:xfrm>
            <a:off x="3801149" y="387982"/>
            <a:ext cx="4349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u="sng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MODO </a:t>
            </a:r>
            <a:r>
              <a:rPr lang="pt-BR" sz="2400" b="1" u="sng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SEMELHANTE</a:t>
            </a:r>
            <a:r>
              <a:rPr lang="pt-BR" sz="2400" u="sng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pt-BR" sz="2400" b="1" u="sng" dirty="0">
                <a:solidFill>
                  <a:srgbClr val="FF0000"/>
                </a:solidFill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ℝ</a:t>
            </a:r>
            <a:r>
              <a:rPr lang="pt-BR" sz="2400" b="1" u="sng" baseline="30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932AB26B-73CF-C384-8006-69C9B9255833}"/>
                  </a:ext>
                </a:extLst>
              </p:cNvPr>
              <p:cNvSpPr txBox="1"/>
              <p:nvPr/>
            </p:nvSpPr>
            <p:spPr>
              <a:xfrm>
                <a:off x="4071184" y="892726"/>
                <a:ext cx="35221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pt-BR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932AB26B-73CF-C384-8006-69C9B9255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184" y="892726"/>
                <a:ext cx="3522133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CaixaDeTexto 38">
            <a:extLst>
              <a:ext uri="{FF2B5EF4-FFF2-40B4-BE49-F238E27FC236}">
                <a16:creationId xmlns:a16="http://schemas.microsoft.com/office/drawing/2014/main" id="{8276696D-9CB9-4562-E1C8-6128FA4F96BE}"/>
              </a:ext>
            </a:extLst>
          </p:cNvPr>
          <p:cNvSpPr txBox="1"/>
          <p:nvPr/>
        </p:nvSpPr>
        <p:spPr>
          <a:xfrm>
            <a:off x="410247" y="1301794"/>
            <a:ext cx="1750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⇒ 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são iguais:</a:t>
            </a:r>
            <a:endParaRPr lang="pt-BR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4ADA226-CC67-4FE5-FC4F-0F7A5CDF5294}"/>
              </a:ext>
            </a:extLst>
          </p:cNvPr>
          <p:cNvSpPr txBox="1"/>
          <p:nvPr/>
        </p:nvSpPr>
        <p:spPr>
          <a:xfrm>
            <a:off x="3453567" y="892726"/>
            <a:ext cx="94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Sejam: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3E9078CD-5A50-B967-790A-3B7D40033F07}"/>
                  </a:ext>
                </a:extLst>
              </p:cNvPr>
              <p:cNvSpPr txBox="1"/>
              <p:nvPr/>
            </p:nvSpPr>
            <p:spPr>
              <a:xfrm>
                <a:off x="1815607" y="1301794"/>
                <a:ext cx="29012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3E9078CD-5A50-B967-790A-3B7D40033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607" y="1301794"/>
                <a:ext cx="2901244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CaixaDeTexto 49">
            <a:extLst>
              <a:ext uri="{FF2B5EF4-FFF2-40B4-BE49-F238E27FC236}">
                <a16:creationId xmlns:a16="http://schemas.microsoft.com/office/drawing/2014/main" id="{3BC3D862-33AB-775D-15ED-E31D252D2134}"/>
              </a:ext>
            </a:extLst>
          </p:cNvPr>
          <p:cNvSpPr txBox="1"/>
          <p:nvPr/>
        </p:nvSpPr>
        <p:spPr>
          <a:xfrm>
            <a:off x="410247" y="1795620"/>
            <a:ext cx="1196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⇒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Adição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22C7685F-97D3-6FBB-4887-B1C1E31ACEDA}"/>
                  </a:ext>
                </a:extLst>
              </p:cNvPr>
              <p:cNvSpPr txBox="1"/>
              <p:nvPr/>
            </p:nvSpPr>
            <p:spPr>
              <a:xfrm>
                <a:off x="1461012" y="1795620"/>
                <a:ext cx="35221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pt-BR" dirty="0"/>
              </a:p>
            </p:txBody>
          </p:sp>
        </mc:Choice>
        <mc:Fallback xmlns="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22C7685F-97D3-6FBB-4887-B1C1E31AC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012" y="1795620"/>
                <a:ext cx="3522133" cy="369332"/>
              </a:xfrm>
              <a:prstGeom prst="rect">
                <a:avLst/>
              </a:prstGeom>
              <a:blipFill>
                <a:blip r:embed="rId7"/>
                <a:stretch>
                  <a:fillRect l="-1560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aixaDeTexto 57">
            <a:extLst>
              <a:ext uri="{FF2B5EF4-FFF2-40B4-BE49-F238E27FC236}">
                <a16:creationId xmlns:a16="http://schemas.microsoft.com/office/drawing/2014/main" id="{4FC41572-E6E7-D0DE-9CC3-0C3998CA9571}"/>
              </a:ext>
            </a:extLst>
          </p:cNvPr>
          <p:cNvSpPr txBox="1"/>
          <p:nvPr/>
        </p:nvSpPr>
        <p:spPr>
          <a:xfrm>
            <a:off x="410247" y="2402154"/>
            <a:ext cx="2788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⇒ 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Multiplicação por escalar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DFAB05EE-A898-9ECD-F977-854870E705DF}"/>
                  </a:ext>
                </a:extLst>
              </p:cNvPr>
              <p:cNvSpPr txBox="1"/>
              <p:nvPr/>
            </p:nvSpPr>
            <p:spPr>
              <a:xfrm>
                <a:off x="2952685" y="2402154"/>
                <a:ext cx="24271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DFAB05EE-A898-9ECD-F977-854870E70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685" y="2402154"/>
                <a:ext cx="2427111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CaixaDeTexto 61">
            <a:extLst>
              <a:ext uri="{FF2B5EF4-FFF2-40B4-BE49-F238E27FC236}">
                <a16:creationId xmlns:a16="http://schemas.microsoft.com/office/drawing/2014/main" id="{9E32156C-4405-A646-F809-E4161FB4E9F9}"/>
              </a:ext>
            </a:extLst>
          </p:cNvPr>
          <p:cNvSpPr txBox="1"/>
          <p:nvPr/>
        </p:nvSpPr>
        <p:spPr>
          <a:xfrm>
            <a:off x="315190" y="3008688"/>
            <a:ext cx="1140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VERSOR: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D0304176-4F47-464A-CB23-0B338AC0F963}"/>
                  </a:ext>
                </a:extLst>
              </p:cNvPr>
              <p:cNvSpPr txBox="1"/>
              <p:nvPr/>
            </p:nvSpPr>
            <p:spPr>
              <a:xfrm>
                <a:off x="1285585" y="2879030"/>
                <a:ext cx="7655100" cy="675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pt-BR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den>
                      </m:f>
                      <m:r>
                        <a:rPr lang="pt-BR" sz="1600" i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pt-BR" sz="16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BR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pt-BR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pt-BR" sz="1600" i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pt-BR" sz="16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1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16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pt-BR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16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pt-BR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pt-BR" sz="1600" i="0"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16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pt-BR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16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pt-BR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pt-BR" sz="1600" i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16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pt-BR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16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pt-BR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  <m:r>
                        <a:rPr lang="pt-BR" sz="16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D0304176-4F47-464A-CB23-0B338AC0F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585" y="2879030"/>
                <a:ext cx="7655100" cy="6753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CaixaDeTexto 71">
            <a:extLst>
              <a:ext uri="{FF2B5EF4-FFF2-40B4-BE49-F238E27FC236}">
                <a16:creationId xmlns:a16="http://schemas.microsoft.com/office/drawing/2014/main" id="{0DFA3B06-CE9B-FD11-7BEE-06C872A54F2E}"/>
              </a:ext>
            </a:extLst>
          </p:cNvPr>
          <p:cNvSpPr txBox="1"/>
          <p:nvPr/>
        </p:nvSpPr>
        <p:spPr>
          <a:xfrm>
            <a:off x="315190" y="3671916"/>
            <a:ext cx="60960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VETOR DEFINIDO POR DOIS PONTOS</a:t>
            </a:r>
            <a:r>
              <a:rPr lang="pt-BR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210377C0-D0ED-0D2D-5472-261330E8571F}"/>
                  </a:ext>
                </a:extLst>
              </p:cNvPr>
              <p:cNvSpPr txBox="1"/>
              <p:nvPr/>
            </p:nvSpPr>
            <p:spPr>
              <a:xfrm>
                <a:off x="3896206" y="3684066"/>
                <a:ext cx="6663650" cy="390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Dois pontos 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pt-BR" sz="1800" dirty="0">
                    <a:effectLst/>
                    <a:latin typeface="Segoe UI Symbol" panose="020B0502040204020203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ℝ</a:t>
                </a:r>
                <a:r>
                  <a:rPr lang="pt-BR" sz="1800" baseline="30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definem dois vetores: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210377C0-D0ED-0D2D-5472-261330E85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206" y="3684066"/>
                <a:ext cx="6663650" cy="390300"/>
              </a:xfrm>
              <a:prstGeom prst="rect">
                <a:avLst/>
              </a:prstGeom>
              <a:blipFill>
                <a:blip r:embed="rId10"/>
                <a:stretch>
                  <a:fillRect l="-732" t="-3125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aixaDeTexto 75">
                <a:extLst>
                  <a:ext uri="{FF2B5EF4-FFF2-40B4-BE49-F238E27FC236}">
                    <a16:creationId xmlns:a16="http://schemas.microsoft.com/office/drawing/2014/main" id="{9D3E6647-7EAC-4C16-B302-626179926D16}"/>
                  </a:ext>
                </a:extLst>
              </p:cNvPr>
              <p:cNvSpPr txBox="1"/>
              <p:nvPr/>
            </p:nvSpPr>
            <p:spPr>
              <a:xfrm>
                <a:off x="410247" y="4139112"/>
                <a:ext cx="3236064" cy="5389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16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𝑨𝑩</m:t>
                          </m:r>
                        </m:e>
                      </m:acc>
                      <m:r>
                        <a:rPr lang="pt-BR" sz="16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pt-BR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pt-BR" sz="16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pt-BR" sz="16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pt-BR" sz="16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CaixaDeTexto 75">
                <a:extLst>
                  <a:ext uri="{FF2B5EF4-FFF2-40B4-BE49-F238E27FC236}">
                    <a16:creationId xmlns:a16="http://schemas.microsoft.com/office/drawing/2014/main" id="{9D3E6647-7EAC-4C16-B302-626179926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47" y="4139112"/>
                <a:ext cx="3236064" cy="5389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3F09EEF5-4EC0-2070-27C0-94BB4D8C15D8}"/>
                  </a:ext>
                </a:extLst>
              </p:cNvPr>
              <p:cNvSpPr txBox="1"/>
              <p:nvPr/>
            </p:nvSpPr>
            <p:spPr>
              <a:xfrm>
                <a:off x="3495102" y="4139112"/>
                <a:ext cx="3236065" cy="384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pt-BR" sz="16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𝑩𝑨</m:t>
                        </m:r>
                      </m:e>
                    </m:acc>
                    <m:r>
                      <a:rPr lang="pt-B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pt-BR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pt-BR" sz="16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pt-BR" sz="16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pt-BR" sz="16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3F09EEF5-4EC0-2070-27C0-94BB4D8C1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102" y="4139112"/>
                <a:ext cx="3236065" cy="384464"/>
              </a:xfrm>
              <a:prstGeom prst="rect">
                <a:avLst/>
              </a:prstGeom>
              <a:blipFill>
                <a:blip r:embed="rId12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CaixaDeTexto 79">
            <a:extLst>
              <a:ext uri="{FF2B5EF4-FFF2-40B4-BE49-F238E27FC236}">
                <a16:creationId xmlns:a16="http://schemas.microsoft.com/office/drawing/2014/main" id="{EC7C2B70-A895-1D65-5C55-42ED72262E82}"/>
              </a:ext>
            </a:extLst>
          </p:cNvPr>
          <p:cNvSpPr txBox="1"/>
          <p:nvPr/>
        </p:nvSpPr>
        <p:spPr>
          <a:xfrm>
            <a:off x="315190" y="4588322"/>
            <a:ext cx="2394143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COMBINAÇÃO LINEAR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69B77D5E-D94D-B87F-217D-35C2ADC288A9}"/>
              </a:ext>
            </a:extLst>
          </p:cNvPr>
          <p:cNvSpPr txBox="1"/>
          <p:nvPr/>
        </p:nvSpPr>
        <p:spPr>
          <a:xfrm>
            <a:off x="5203654" y="4932503"/>
            <a:ext cx="5141713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 que α</a:t>
            </a:r>
            <a:r>
              <a:rPr lang="pt-BR" sz="18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α</a:t>
            </a:r>
            <a:r>
              <a:rPr lang="pt-BR" sz="18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...α</a:t>
            </a:r>
            <a:r>
              <a:rPr lang="pt-BR" sz="1800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são escalares (constantes) reais.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E4E2D4D-4B0D-B89D-9DAB-0E23E23B0E28}"/>
              </a:ext>
            </a:extLst>
          </p:cNvPr>
          <p:cNvSpPr txBox="1"/>
          <p:nvPr/>
        </p:nvSpPr>
        <p:spPr>
          <a:xfrm>
            <a:off x="2530635" y="4582999"/>
            <a:ext cx="7130730" cy="389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Uma combinação linear dos vetores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sz="1800" b="1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pt-BR" sz="1800" b="1" baseline="-25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...</a:t>
            </a:r>
            <a:r>
              <a:rPr lang="pt-BR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sz="1800" b="1" baseline="-25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ℝ</a:t>
            </a:r>
            <a:r>
              <a:rPr lang="pt-BR" sz="1800" baseline="30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é um vetor da forma: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6B9EAE58-66E6-5DAD-6EC2-144E5113552F}"/>
                  </a:ext>
                </a:extLst>
              </p:cNvPr>
              <p:cNvSpPr txBox="1"/>
              <p:nvPr/>
            </p:nvSpPr>
            <p:spPr>
              <a:xfrm>
                <a:off x="2524552" y="4934875"/>
                <a:ext cx="2801549" cy="503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pt-BR" sz="16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,</m:t>
                      </m:r>
                    </m:oMath>
                  </m:oMathPara>
                </a14:m>
                <a:endParaRPr lang="pt-BR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6B9EAE58-66E6-5DAD-6EC2-144E51135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552" y="4934875"/>
                <a:ext cx="2801549" cy="50372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E48C0D97-48DB-D827-DA3A-7D974C98A3F2}"/>
              </a:ext>
            </a:extLst>
          </p:cNvPr>
          <p:cNvPicPr preferRelativeResize="0">
            <a:picLocks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20000" y="3240000"/>
            <a:ext cx="2160000" cy="2160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8494718-0411-D9AF-0D6C-6B775C752556}"/>
              </a:ext>
            </a:extLst>
          </p:cNvPr>
          <p:cNvPicPr preferRelativeResize="0">
            <a:picLocks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20000" y="3240000"/>
            <a:ext cx="2160000" cy="216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058715E-6017-27D4-E4F3-BF03D2DC5B92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20000" y="3240000"/>
            <a:ext cx="2160000" cy="216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97D6733-105A-4318-F618-39148E524879}"/>
              </a:ext>
            </a:extLst>
          </p:cNvPr>
          <p:cNvPicPr preferRelativeResize="0">
            <a:picLocks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05399" y="827923"/>
            <a:ext cx="2160000" cy="21600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952C8F88-CA21-DDE1-2D29-95D066FE114D}"/>
              </a:ext>
            </a:extLst>
          </p:cNvPr>
          <p:cNvPicPr preferRelativeResize="0">
            <a:picLocks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05399" y="827923"/>
            <a:ext cx="2160000" cy="216000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4CD779F5-1E37-49AC-9E4D-EBA2CF4BB997}"/>
              </a:ext>
            </a:extLst>
          </p:cNvPr>
          <p:cNvPicPr preferRelativeResize="0">
            <a:picLocks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05399" y="827923"/>
            <a:ext cx="2160000" cy="21600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83145F8-4888-D95B-4C66-759FEAEC4A97}"/>
              </a:ext>
            </a:extLst>
          </p:cNvPr>
          <p:cNvPicPr preferRelativeResize="0">
            <a:picLocks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91002" y="1237660"/>
            <a:ext cx="2160000" cy="216000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2971981-405E-19EA-4A81-BA66E4A4759F}"/>
              </a:ext>
            </a:extLst>
          </p:cNvPr>
          <p:cNvPicPr preferRelativeResize="0">
            <a:picLocks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91002" y="1237660"/>
            <a:ext cx="2160000" cy="21600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19A383AB-655B-E4FE-F9CE-BD1C8DF3A0BD}"/>
              </a:ext>
            </a:extLst>
          </p:cNvPr>
          <p:cNvPicPr preferRelativeResize="0">
            <a:picLocks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91002" y="1237660"/>
            <a:ext cx="2160000" cy="21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BC89411-1F31-C598-767C-0F94583C4B63}"/>
                  </a:ext>
                </a:extLst>
              </p:cNvPr>
              <p:cNvSpPr txBox="1"/>
              <p:nvPr/>
            </p:nvSpPr>
            <p:spPr>
              <a:xfrm>
                <a:off x="410247" y="5371826"/>
                <a:ext cx="9220696" cy="39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Exemplo 1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Dados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1, 2, 3</m:t>
                        </m:r>
                      </m:e>
                    </m:d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−1, 0, 4</m:t>
                        </m:r>
                      </m:e>
                    </m:d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=(0, 2, 3)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determine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+4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BC89411-1F31-C598-767C-0F94583C4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47" y="5371826"/>
                <a:ext cx="9220696" cy="391454"/>
              </a:xfrm>
              <a:prstGeom prst="rect">
                <a:avLst/>
              </a:prstGeom>
              <a:blipFill>
                <a:blip r:embed="rId23"/>
                <a:stretch>
                  <a:fillRect l="-529" t="-1563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46BE5F54-BB04-39C3-431D-901845AA7561}"/>
                  </a:ext>
                </a:extLst>
              </p:cNvPr>
              <p:cNvSpPr txBox="1"/>
              <p:nvPr/>
            </p:nvSpPr>
            <p:spPr>
              <a:xfrm>
                <a:off x="651549" y="5961120"/>
                <a:ext cx="73219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1,2,3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−1, 0, 4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0, 2, 3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2, 4, 6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−3, 0, 12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0">
                              <a:latin typeface="Cambria Math" panose="02040503050406030204" pitchFamily="18" charset="0"/>
                            </a:rPr>
                            <m:t>0, 8, 12</m:t>
                          </m:r>
                        </m:e>
                      </m:d>
                      <m:r>
                        <a:rPr lang="pt-BR" i="0"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46BE5F54-BB04-39C3-431D-901845AA7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49" y="5961120"/>
                <a:ext cx="7321943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D3453F9F-346D-1ECB-FD46-B0195800656E}"/>
                  </a:ext>
                </a:extLst>
              </p:cNvPr>
              <p:cNvSpPr txBox="1"/>
              <p:nvPr/>
            </p:nvSpPr>
            <p:spPr>
              <a:xfrm>
                <a:off x="7702461" y="5958927"/>
                <a:ext cx="15814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−1, 12, 30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D3453F9F-346D-1ECB-FD46-B01958006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461" y="5958927"/>
                <a:ext cx="1581497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A602016-119A-1DA8-D303-72A0D8A16CD4}"/>
              </a:ext>
            </a:extLst>
          </p:cNvPr>
          <p:cNvSpPr/>
          <p:nvPr/>
        </p:nvSpPr>
        <p:spPr>
          <a:xfrm>
            <a:off x="7875036" y="5958927"/>
            <a:ext cx="1257304" cy="346374"/>
          </a:xfrm>
          <a:prstGeom prst="round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29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repeatCount="400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5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75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75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175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1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6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1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5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4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35" grpId="0"/>
      <p:bldP spid="39" grpId="0"/>
      <p:bldP spid="41" grpId="0"/>
      <p:bldP spid="45" grpId="0"/>
      <p:bldP spid="50" grpId="0"/>
      <p:bldP spid="56" grpId="0"/>
      <p:bldP spid="58" grpId="0"/>
      <p:bldP spid="60" grpId="0"/>
      <p:bldP spid="62" grpId="0"/>
      <p:bldP spid="64" grpId="0"/>
      <p:bldP spid="72" grpId="0"/>
      <p:bldP spid="74" grpId="0"/>
      <p:bldP spid="76" grpId="0"/>
      <p:bldP spid="78" grpId="0"/>
      <p:bldP spid="80" grpId="0"/>
      <p:bldP spid="82" grpId="0"/>
      <p:bldP spid="84" grpId="0"/>
      <p:bldP spid="86" grpId="0"/>
      <p:bldP spid="8" grpId="0"/>
      <p:bldP spid="12" grpId="0"/>
      <p:bldP spid="16" grpId="0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31BD-CD23-8596-1B39-043088F74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C04EDDE9-7123-BB80-62AC-5184CC77EC33}"/>
              </a:ext>
            </a:extLst>
          </p:cNvPr>
          <p:cNvGrpSpPr/>
          <p:nvPr/>
        </p:nvGrpSpPr>
        <p:grpSpPr>
          <a:xfrm>
            <a:off x="10950145" y="6375732"/>
            <a:ext cx="1127997" cy="360124"/>
            <a:chOff x="8072467" y="5575416"/>
            <a:chExt cx="1548761" cy="470536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FBB80D20-AEF0-EDD6-E0BC-3350ACBBDCBB}"/>
                </a:ext>
              </a:extLst>
            </p:cNvPr>
            <p:cNvSpPr/>
            <p:nvPr/>
          </p:nvSpPr>
          <p:spPr>
            <a:xfrm>
              <a:off x="8072467" y="5619814"/>
              <a:ext cx="1548761" cy="42613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  Professor </a:t>
              </a:r>
            </a:p>
            <a:p>
              <a:pPr algn="ctr"/>
              <a:r>
                <a:rPr lang="pt-BR" sz="8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Júlio Corgozinho </a:t>
              </a:r>
              <a:r>
                <a:rPr lang="pt-BR" sz="11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 </a:t>
              </a:r>
            </a:p>
          </p:txBody>
        </p:sp>
        <p:pic>
          <p:nvPicPr>
            <p:cNvPr id="6" name="Picture 2" descr="Pythagorean theorem shown with colorful wooden cubes, side view. Pythagoras theorem. Relation of sides of a right triangle. The two smaller squares together have the same area than the big one. Photo.">
              <a:extLst>
                <a:ext uri="{FF2B5EF4-FFF2-40B4-BE49-F238E27FC236}">
                  <a16:creationId xmlns:a16="http://schemas.microsoft.com/office/drawing/2014/main" id="{31ABF1F4-1B9C-8CF8-BB70-FCA008EFE8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52" t="3460" r="14169" b="3805"/>
            <a:stretch/>
          </p:blipFill>
          <p:spPr bwMode="auto">
            <a:xfrm rot="20045047">
              <a:off x="8390955" y="5575416"/>
              <a:ext cx="259434" cy="273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793A68A9-924C-D7A1-2D26-6C7A2CD3FF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57562" imgH="316504" progId="Word.Picture.8">
                  <p:embed/>
                </p:oleObj>
              </mc:Choice>
              <mc:Fallback>
                <p:oleObj name="Picture" r:id="rId3" imgW="357562" imgH="316504" progId="Word.Picture.8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971FB0E0-2EF6-7041-47E8-CDB3954EE8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B2BE4AF-6DAD-94C2-4D33-1DE5B724C38C}"/>
                  </a:ext>
                </a:extLst>
              </p:cNvPr>
              <p:cNvSpPr txBox="1"/>
              <p:nvPr/>
            </p:nvSpPr>
            <p:spPr>
              <a:xfrm>
                <a:off x="740987" y="104956"/>
                <a:ext cx="10786290" cy="39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Exemplo 2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Dados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1, </m:t>
                        </m:r>
                        <m:r>
                          <a:rPr lang="pt-BR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pt-BR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e>
                    </m:d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1, 0, </m:t>
                        </m:r>
                        <m:r>
                          <a:rPr lang="pt-BR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pt-BR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pt-BR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pt-BR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determine os escalares C</a:t>
                </a:r>
                <a:r>
                  <a:rPr lang="pt-BR" sz="1800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pt-BR" sz="1800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C</a:t>
                </a:r>
                <a:r>
                  <a:rPr lang="pt-BR" sz="1800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tais q</a:t>
                </a:r>
                <a:r>
                  <a:rPr lang="pt-BR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ue: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B2BE4AF-6DAD-94C2-4D33-1DE5B724C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87" y="104956"/>
                <a:ext cx="10786290" cy="391454"/>
              </a:xfrm>
              <a:prstGeom prst="rect">
                <a:avLst/>
              </a:prstGeom>
              <a:blipFill>
                <a:blip r:embed="rId5"/>
                <a:stretch>
                  <a:fillRect l="-509" t="-1563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840E746A-11DA-FEE9-318F-BAB6A952C1F6}"/>
                  </a:ext>
                </a:extLst>
              </p:cNvPr>
              <p:cNvSpPr txBox="1"/>
              <p:nvPr/>
            </p:nvSpPr>
            <p:spPr>
              <a:xfrm>
                <a:off x="3944566" y="656618"/>
                <a:ext cx="36296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840E746A-11DA-FEE9-318F-BAB6A952C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566" y="656618"/>
                <a:ext cx="3629648" cy="276999"/>
              </a:xfrm>
              <a:prstGeom prst="rect">
                <a:avLst/>
              </a:prstGeom>
              <a:blipFill>
                <a:blip r:embed="rId6"/>
                <a:stretch>
                  <a:fillRect l="-504" b="-1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2EF9F365-E8D1-92DD-96CE-D163D946D5F9}"/>
                  </a:ext>
                </a:extLst>
              </p:cNvPr>
              <p:cNvSpPr txBox="1"/>
              <p:nvPr/>
            </p:nvSpPr>
            <p:spPr>
              <a:xfrm>
                <a:off x="4135877" y="1093826"/>
                <a:ext cx="7196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t-B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pt-B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2EF9F365-E8D1-92DD-96CE-D163D946D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877" y="1093826"/>
                <a:ext cx="719684" cy="276999"/>
              </a:xfrm>
              <a:prstGeom prst="rect">
                <a:avLst/>
              </a:prstGeom>
              <a:blipFill>
                <a:blip r:embed="rId7"/>
                <a:stretch>
                  <a:fillRect l="-4202" r="-7563" b="-15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DAF496DB-B0B3-2881-E7E2-E3557E7664B7}"/>
                  </a:ext>
                </a:extLst>
              </p:cNvPr>
              <p:cNvSpPr txBox="1"/>
              <p:nvPr/>
            </p:nvSpPr>
            <p:spPr>
              <a:xfrm>
                <a:off x="5058610" y="1093826"/>
                <a:ext cx="8575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pt-B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DAF496DB-B0B3-2881-E7E2-E3557E76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610" y="1093826"/>
                <a:ext cx="857542" cy="276999"/>
              </a:xfrm>
              <a:prstGeom prst="rect">
                <a:avLst/>
              </a:prstGeom>
              <a:blipFill>
                <a:blip r:embed="rId8"/>
                <a:stretch>
                  <a:fillRect l="-3571" r="-7143" b="-15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D9C9611-7E5D-313A-E9AD-7E1E6083D2D0}"/>
                  </a:ext>
                </a:extLst>
              </p:cNvPr>
              <p:cNvSpPr txBox="1"/>
              <p:nvPr/>
            </p:nvSpPr>
            <p:spPr>
              <a:xfrm>
                <a:off x="6134132" y="1093825"/>
                <a:ext cx="8928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pt-B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pt-B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D9C9611-7E5D-313A-E9AD-7E1E6083D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132" y="1093825"/>
                <a:ext cx="892809" cy="276999"/>
              </a:xfrm>
              <a:prstGeom prst="rect">
                <a:avLst/>
              </a:prstGeom>
              <a:blipFill>
                <a:blip r:embed="rId9"/>
                <a:stretch>
                  <a:fillRect l="-3401" r="-6122" b="-15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aixaDeTexto 21">
            <a:extLst>
              <a:ext uri="{FF2B5EF4-FFF2-40B4-BE49-F238E27FC236}">
                <a16:creationId xmlns:a16="http://schemas.microsoft.com/office/drawing/2014/main" id="{94AF596F-8DE4-1E65-DE65-8E764D88E534}"/>
              </a:ext>
            </a:extLst>
          </p:cNvPr>
          <p:cNvSpPr txBox="1"/>
          <p:nvPr/>
        </p:nvSpPr>
        <p:spPr>
          <a:xfrm>
            <a:off x="222276" y="1370824"/>
            <a:ext cx="3274315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VETORES UNITÁRIOS i, j e k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0162DF12-9017-60E3-EAC2-82242581334A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276" y="2385987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79332310-B12C-DC4B-6360-8F59311F8031}"/>
                  </a:ext>
                </a:extLst>
              </p:cNvPr>
              <p:cNvSpPr txBox="1"/>
              <p:nvPr/>
            </p:nvSpPr>
            <p:spPr>
              <a:xfrm>
                <a:off x="315191" y="1839485"/>
                <a:ext cx="273280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vetores 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pt-BR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pt-BR" sz="20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unitários </a:t>
                </a:r>
                <a:endParaRPr lang="pt-BR" sz="16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79332310-B12C-DC4B-6360-8F59311F8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91" y="1839485"/>
                <a:ext cx="2732809" cy="407099"/>
              </a:xfrm>
              <a:prstGeom prst="rect">
                <a:avLst/>
              </a:prstGeom>
              <a:blipFill>
                <a:blip r:embed="rId11"/>
                <a:stretch>
                  <a:fillRect l="-2455" t="-5970" b="-268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E73C23C3-9317-708F-0EBD-36C5449F3A10}"/>
                  </a:ext>
                </a:extLst>
              </p:cNvPr>
              <p:cNvSpPr txBox="1"/>
              <p:nvPr/>
            </p:nvSpPr>
            <p:spPr>
              <a:xfrm>
                <a:off x="2339197" y="2299519"/>
                <a:ext cx="13655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pt-B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E73C23C3-9317-708F-0EBD-36C5449F3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97" y="2299519"/>
                <a:ext cx="136550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C7DC444-9B00-78B2-1ABE-927C4A923AFD}"/>
                  </a:ext>
                </a:extLst>
              </p:cNvPr>
              <p:cNvSpPr txBox="1"/>
              <p:nvPr/>
            </p:nvSpPr>
            <p:spPr>
              <a:xfrm>
                <a:off x="2339197" y="2629106"/>
                <a:ext cx="13655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𝒋</m:t>
                      </m:r>
                      <m:r>
                        <a:rPr lang="pt-B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𝟎</m:t>
                          </m:r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pt-BR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BC7DC444-9B00-78B2-1ABE-927C4A923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197" y="2629106"/>
                <a:ext cx="1365504" cy="369332"/>
              </a:xfrm>
              <a:prstGeom prst="rect">
                <a:avLst/>
              </a:prstGeom>
              <a:blipFill>
                <a:blip r:embed="rId13"/>
                <a:stretch>
                  <a:fillRect l="-446" b="-11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EAF57736-6CE0-E37E-69AB-AC3A2A637EC8}"/>
                  </a:ext>
                </a:extLst>
              </p:cNvPr>
              <p:cNvSpPr txBox="1"/>
              <p:nvPr/>
            </p:nvSpPr>
            <p:spPr>
              <a:xfrm>
                <a:off x="2197566" y="2998438"/>
                <a:ext cx="1597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pt-B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𝟎</m:t>
                          </m:r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pt-BR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pt-BR" sz="18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EAF57736-6CE0-E37E-69AB-AC3A2A637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566" y="2998438"/>
                <a:ext cx="159715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FCC09396-FF7F-0033-AFB8-F436369CB70A}"/>
                  </a:ext>
                </a:extLst>
              </p:cNvPr>
              <p:cNvSpPr txBox="1"/>
              <p:nvPr/>
            </p:nvSpPr>
            <p:spPr>
              <a:xfrm>
                <a:off x="1272734" y="4333072"/>
                <a:ext cx="37318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FCC09396-FF7F-0033-AFB8-F436369CB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734" y="4333072"/>
                <a:ext cx="373186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030A8B1-D54B-C2DC-2C78-AE5454DD1FE1}"/>
                  </a:ext>
                </a:extLst>
              </p:cNvPr>
              <p:cNvSpPr txBox="1"/>
              <p:nvPr/>
            </p:nvSpPr>
            <p:spPr>
              <a:xfrm>
                <a:off x="2197566" y="4198179"/>
                <a:ext cx="4145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𝒋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030A8B1-D54B-C2DC-2C78-AE5454DD1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566" y="4198179"/>
                <a:ext cx="414528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697F579C-7CD0-3E38-7595-C29634437D65}"/>
                  </a:ext>
                </a:extLst>
              </p:cNvPr>
              <p:cNvSpPr txBox="1"/>
              <p:nvPr/>
            </p:nvSpPr>
            <p:spPr>
              <a:xfrm>
                <a:off x="1452331" y="3575956"/>
                <a:ext cx="4680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697F579C-7CD0-3E38-7595-C29634437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331" y="3575956"/>
                <a:ext cx="46806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4506BBED-BA47-9E7F-9F42-7273D19966CE}"/>
                  </a:ext>
                </a:extLst>
              </p:cNvPr>
              <p:cNvSpPr txBox="1"/>
              <p:nvPr/>
            </p:nvSpPr>
            <p:spPr>
              <a:xfrm>
                <a:off x="4517302" y="1566903"/>
                <a:ext cx="7560840" cy="717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Qualquer vetor </a:t>
                </a:r>
                <a14:m>
                  <m:oMath xmlns:m="http://schemas.openxmlformats.org/officeDocument/2006/math"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pt-BR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t-BR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pt-BR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pode ser escrito como uma combinação linear de </a:t>
                </a:r>
                <a:r>
                  <a:rPr lang="pt-BR" sz="1800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i, j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pt-BR" sz="1800" b="1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 </a:t>
                </a: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pois:</a:t>
                </a:r>
                <a:endParaRPr lang="pt-B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4506BBED-BA47-9E7F-9F42-7273D1996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302" y="1566903"/>
                <a:ext cx="7560840" cy="717889"/>
              </a:xfrm>
              <a:prstGeom prst="rect">
                <a:avLst/>
              </a:prstGeom>
              <a:blipFill>
                <a:blip r:embed="rId18"/>
                <a:stretch>
                  <a:fillRect l="-645" r="-726" b="-127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4444555D-2930-2BFB-EE88-79885F26845F}"/>
                  </a:ext>
                </a:extLst>
              </p:cNvPr>
              <p:cNvSpPr txBox="1"/>
              <p:nvPr/>
            </p:nvSpPr>
            <p:spPr>
              <a:xfrm>
                <a:off x="4495719" y="2342289"/>
                <a:ext cx="57089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pt-BR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BR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, 0, 0</m:t>
                          </m:r>
                        </m:e>
                      </m:d>
                      <m:r>
                        <a:rPr lang="pt-BR" b="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0,</m:t>
                          </m:r>
                          <m:sSub>
                            <m:sSub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pt-BR" b="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0, 0,</m:t>
                          </m:r>
                          <m:sSub>
                            <m:sSubPr>
                              <m:ctrlPr>
                                <a:rPr lang="pt-B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pt-BR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4444555D-2930-2BFB-EE88-79885F268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719" y="2342289"/>
                <a:ext cx="5708985" cy="369332"/>
              </a:xfrm>
              <a:prstGeom prst="rect">
                <a:avLst/>
              </a:prstGeom>
              <a:blipFill>
                <a:blip r:embed="rId1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2C9F8BB3-BB4F-5C0F-E68E-E82C012BBB10}"/>
                  </a:ext>
                </a:extLst>
              </p:cNvPr>
              <p:cNvSpPr txBox="1"/>
              <p:nvPr/>
            </p:nvSpPr>
            <p:spPr>
              <a:xfrm>
                <a:off x="4394500" y="2779038"/>
                <a:ext cx="48470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pt-BR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1, 0, 0</m:t>
                          </m:r>
                        </m:e>
                      </m:d>
                      <m:r>
                        <a:rPr lang="pt-BR" b="0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pt-BR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pt-BR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0, 1,0</m:t>
                          </m:r>
                        </m:e>
                      </m:d>
                      <m:r>
                        <a:rPr lang="pt-BR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pt-BR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0">
                              <a:latin typeface="Cambria Math" panose="02040503050406030204" pitchFamily="18" charset="0"/>
                            </a:rPr>
                            <m:t>0, 0,1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2C9F8BB3-BB4F-5C0F-E68E-E82C012BB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00" y="2779038"/>
                <a:ext cx="4847035" cy="369332"/>
              </a:xfrm>
              <a:prstGeom prst="rect">
                <a:avLst/>
              </a:prstGeom>
              <a:blipFill>
                <a:blip r:embed="rId2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DAD6022-8FEB-4CA2-9B6B-DC62CE7FF804}"/>
                  </a:ext>
                </a:extLst>
              </p:cNvPr>
              <p:cNvSpPr txBox="1"/>
              <p:nvPr/>
            </p:nvSpPr>
            <p:spPr>
              <a:xfrm>
                <a:off x="4584256" y="3206624"/>
                <a:ext cx="23502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pt-BR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pt-BR" b="0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pt-BR" b="0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pt-BR" b="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pt-BR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DDAD6022-8FEB-4CA2-9B6B-DC62CE7FF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256" y="3206624"/>
                <a:ext cx="2350267" cy="369332"/>
              </a:xfrm>
              <a:prstGeom prst="rect">
                <a:avLst/>
              </a:prstGeom>
              <a:blipFill>
                <a:blip r:embed="rId2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" name="Imagem 48">
            <a:extLst>
              <a:ext uri="{FF2B5EF4-FFF2-40B4-BE49-F238E27FC236}">
                <a16:creationId xmlns:a16="http://schemas.microsoft.com/office/drawing/2014/main" id="{FD96B3DF-18A5-9711-1400-3DBE8C4E2D67}"/>
              </a:ext>
            </a:extLst>
          </p:cNvPr>
          <p:cNvPicPr preferRelativeResize="0">
            <a:picLocks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16152" y="3215787"/>
            <a:ext cx="3600000" cy="36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AF3DEE2D-6603-7A54-3492-86FE34249A82}"/>
                  </a:ext>
                </a:extLst>
              </p:cNvPr>
              <p:cNvSpPr txBox="1"/>
              <p:nvPr/>
            </p:nvSpPr>
            <p:spPr>
              <a:xfrm>
                <a:off x="6216705" y="5590308"/>
                <a:ext cx="6186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b="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pt-BR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AF3DEE2D-6603-7A54-3492-86FE34249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705" y="5590308"/>
                <a:ext cx="618647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24FEE3FC-2854-8D09-7F2E-9AABE1EE790F}"/>
                  </a:ext>
                </a:extLst>
              </p:cNvPr>
              <p:cNvSpPr txBox="1"/>
              <p:nvPr/>
            </p:nvSpPr>
            <p:spPr>
              <a:xfrm>
                <a:off x="8567320" y="5393450"/>
                <a:ext cx="6112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b="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pt-BR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24FEE3FC-2854-8D09-7F2E-9AABE1EE7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320" y="5393450"/>
                <a:ext cx="611270" cy="369332"/>
              </a:xfrm>
              <a:prstGeom prst="rect">
                <a:avLst/>
              </a:prstGeom>
              <a:blipFill>
                <a:blip r:embed="rId2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E78F57EE-3CDD-DC88-718F-F1BB7C850312}"/>
                  </a:ext>
                </a:extLst>
              </p:cNvPr>
              <p:cNvSpPr txBox="1"/>
              <p:nvPr/>
            </p:nvSpPr>
            <p:spPr>
              <a:xfrm>
                <a:off x="6850689" y="3673804"/>
                <a:ext cx="587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pt-BR" b="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pt-BR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E78F57EE-3CDD-DC88-718F-F1BB7C850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689" y="3673804"/>
                <a:ext cx="587164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92A6EFFA-3A9E-30D2-D084-D2610793738E}"/>
                  </a:ext>
                </a:extLst>
              </p:cNvPr>
              <p:cNvSpPr txBox="1"/>
              <p:nvPr/>
            </p:nvSpPr>
            <p:spPr>
              <a:xfrm>
                <a:off x="7837885" y="4124905"/>
                <a:ext cx="197231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pt-BR" sz="16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pt-BR" sz="1600" b="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pt-BR" sz="1600" b="0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sz="1600" b="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pt-BR" sz="1600" b="0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b="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pt-BR" sz="1600" b="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16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pt-BR" sz="16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92A6EFFA-3A9E-30D2-D084-D26107937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885" y="4124905"/>
                <a:ext cx="1972315" cy="338554"/>
              </a:xfrm>
              <a:prstGeom prst="rect">
                <a:avLst/>
              </a:prstGeom>
              <a:blipFill>
                <a:blip r:embed="rId2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606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/>
      <p:bldP spid="18" grpId="0"/>
      <p:bldP spid="22" grpId="0"/>
      <p:bldP spid="27" grpId="0"/>
      <p:bldP spid="29" grpId="0"/>
      <p:bldP spid="31" grpId="0"/>
      <p:bldP spid="33" grpId="0"/>
      <p:bldP spid="34" grpId="0"/>
      <p:bldP spid="36" grpId="0"/>
      <p:bldP spid="37" grpId="0"/>
      <p:bldP spid="40" grpId="0"/>
      <p:bldP spid="43" grpId="0"/>
      <p:bldP spid="44" grpId="0"/>
      <p:bldP spid="47" grpId="0"/>
      <p:bldP spid="51" grpId="0"/>
      <p:bldP spid="52" grpId="0"/>
      <p:bldP spid="53" grpId="0"/>
      <p:bldP spid="5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6171643A-83FE-4049-9ACF-67F784215318}"/>
              </a:ext>
            </a:extLst>
          </p:cNvPr>
          <p:cNvSpPr/>
          <p:nvPr/>
        </p:nvSpPr>
        <p:spPr>
          <a:xfrm>
            <a:off x="2004615" y="1320138"/>
            <a:ext cx="8182770" cy="76944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4400" dirty="0"/>
              <a:t>Desejo ótimos estudos a todos!!  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90175C3-7D04-41FC-A4C2-DDA536284628}"/>
              </a:ext>
            </a:extLst>
          </p:cNvPr>
          <p:cNvSpPr/>
          <p:nvPr/>
        </p:nvSpPr>
        <p:spPr>
          <a:xfrm>
            <a:off x="5015609" y="4736344"/>
            <a:ext cx="4677423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36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Júlio Corgozinho  </a:t>
            </a:r>
          </a:p>
        </p:txBody>
      </p:sp>
      <p:pic>
        <p:nvPicPr>
          <p:cNvPr id="6" name="Picture 2" descr="Walk this way | Cool animations, Motion graphics, Animated icons">
            <a:extLst>
              <a:ext uri="{FF2B5EF4-FFF2-40B4-BE49-F238E27FC236}">
                <a16:creationId xmlns:a16="http://schemas.microsoft.com/office/drawing/2014/main" id="{9912E918-DB20-DC4F-1C53-9A2DBC7FFCF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048" y="2315042"/>
            <a:ext cx="32766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1558C52-BA28-B962-BDEF-E06BB8D9F06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595A9"/>
              </a:clrFrom>
              <a:clrTo>
                <a:srgbClr val="F595A9">
                  <a:alpha val="0"/>
                </a:srgbClr>
              </a:clrTo>
            </a:clrChange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64899" y="2315042"/>
            <a:ext cx="3276600" cy="2457450"/>
          </a:xfrm>
          <a:prstGeom prst="rect">
            <a:avLst/>
          </a:prstGeom>
        </p:spPr>
      </p:pic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95826243-8BB0-E916-F498-AAFDA25325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700896"/>
              </p:ext>
            </p:extLst>
          </p:nvPr>
        </p:nvGraphicFramePr>
        <p:xfrm>
          <a:off x="111713" y="104956"/>
          <a:ext cx="40695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357562" imgH="316504" progId="Word.Picture.8">
                  <p:embed/>
                </p:oleObj>
              </mc:Choice>
              <mc:Fallback>
                <p:oleObj name="Picture" r:id="rId5" imgW="357562" imgH="316504" progId="Word.Picture.8">
                  <p:embed/>
                  <p:pic>
                    <p:nvPicPr>
                      <p:cNvPr id="35" name="Objeto 34">
                        <a:extLst>
                          <a:ext uri="{FF2B5EF4-FFF2-40B4-BE49-F238E27FC236}">
                            <a16:creationId xmlns:a16="http://schemas.microsoft.com/office/drawing/2014/main" id="{C67CC495-6D65-6CDF-606D-9ECE3ABB6F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13" y="104956"/>
                        <a:ext cx="406956" cy="36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1146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3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8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15718</TotalTime>
  <Words>3382</Words>
  <Application>Microsoft Office PowerPoint</Application>
  <PresentationFormat>Widescreen</PresentationFormat>
  <Paragraphs>370</Paragraphs>
  <Slides>26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6" baseType="lpstr">
      <vt:lpstr>Arial</vt:lpstr>
      <vt:lpstr>Bookman Old Style</vt:lpstr>
      <vt:lpstr>Calibri</vt:lpstr>
      <vt:lpstr>Calibri Light</vt:lpstr>
      <vt:lpstr>Cambria Math</vt:lpstr>
      <vt:lpstr>Comic Sans MS</vt:lpstr>
      <vt:lpstr>Google Sans</vt:lpstr>
      <vt:lpstr>Segoe UI Symbol</vt:lpstr>
      <vt:lpstr>Tema do Office</vt:lpstr>
      <vt:lpstr>Picture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julio corgozinho</dc:creator>
  <cp:lastModifiedBy>Regina Corgozinho</cp:lastModifiedBy>
  <cp:revision>337</cp:revision>
  <dcterms:created xsi:type="dcterms:W3CDTF">2020-07-09T21:54:19Z</dcterms:created>
  <dcterms:modified xsi:type="dcterms:W3CDTF">2026-08-25T18:32:09Z</dcterms:modified>
</cp:coreProperties>
</file>